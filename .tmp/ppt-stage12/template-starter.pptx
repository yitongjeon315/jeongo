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  <Override PartName="/ppt/slides/slide31.xml" ContentType="application/vnd.openxmlformats-officedocument.presentationml.slide+xml"/>
  <Override PartName="/ppt/notesSlides/notesSlide31.xml" ContentType="application/vnd.openxmlformats-officedocument.presentationml.notesSlide+xml"/>
  <Override PartName="/ppt/slides/slide32.xml" ContentType="application/vnd.openxmlformats-officedocument.presentationml.slide+xml"/>
  <Override PartName="/ppt/notesSlides/notesSlide32.xml" ContentType="application/vnd.openxmlformats-officedocument.presentationml.notesSlide+xml"/>
  <Override PartName="/ppt/slides/slide33.xml" ContentType="application/vnd.openxmlformats-officedocument.presentationml.slide+xml"/>
  <Override PartName="/ppt/notesSlides/notesSlide33.xml" ContentType="application/vnd.openxmlformats-officedocument.presentationml.notesSlide+xml"/>
  <Override PartName="/ppt/slides/slide34.xml" ContentType="application/vnd.openxmlformats-officedocument.presentationml.slide+xml"/>
  <Override PartName="/ppt/notesSlides/notesSlide34.xml" ContentType="application/vnd.openxmlformats-officedocument.presentationml.notesSlide+xml"/>
  <Override PartName="/ppt/slides/slide35.xml" ContentType="application/vnd.openxmlformats-officedocument.presentationml.slide+xml"/>
  <Override PartName="/ppt/notesSlides/notesSlide35.xml" ContentType="application/vnd.openxmlformats-officedocument.presentationml.notesSlide+xml"/>
  <Override PartName="/ppt/slides/slide36.xml" ContentType="application/vnd.openxmlformats-officedocument.presentationml.slide+xml"/>
  <Override PartName="/ppt/notesSlides/notesSlide36.xml" ContentType="application/vnd.openxmlformats-officedocument.presentationml.notesSlide+xml"/>
  <Override PartName="/ppt/slides/slide37.xml" ContentType="application/vnd.openxmlformats-officedocument.presentationml.slide+xml"/>
  <Override PartName="/ppt/notesSlides/notesSlide37.xml" ContentType="application/vnd.openxmlformats-officedocument.presentationml.notesSlide+xml"/>
  <Override PartName="/ppt/slides/slide38.xml" ContentType="application/vnd.openxmlformats-officedocument.presentationml.slide+xml"/>
  <Override PartName="/ppt/notesSlides/notesSlide38.xml" ContentType="application/vnd.openxmlformats-officedocument.presentationml.notesSlide+xml"/>
  <Override PartName="/ppt/slides/slide39.xml" ContentType="application/vnd.openxmlformats-officedocument.presentationml.slide+xml"/>
  <Override PartName="/ppt/notesSlides/notesSlide39.xml" ContentType="application/vnd.openxmlformats-officedocument.presentationml.notesSlide+xml"/>
  <Override PartName="/ppt/slides/slide40.xml" ContentType="application/vnd.openxmlformats-officedocument.presentationml.slide+xml"/>
  <Override PartName="/ppt/notesSlides/notesSlide40.xml" ContentType="application/vnd.openxmlformats-officedocument.presentationml.notesSlide+xml"/>
  <Override PartName="/ppt/slides/slide41.xml" ContentType="application/vnd.openxmlformats-officedocument.presentationml.slide+xml"/>
  <Override PartName="/ppt/notesSlides/notesSlide41.xml" ContentType="application/vnd.openxmlformats-officedocument.presentationml.notesSlide+xml"/>
  <Override PartName="/ppt/slides/slide42.xml" ContentType="application/vnd.openxmlformats-officedocument.presentationml.slide+xml"/>
  <Override PartName="/ppt/notesSlides/notesSlide42.xml" ContentType="application/vnd.openxmlformats-officedocument.presentationml.notesSlide+xml"/>
  <Override PartName="/ppt/slides/slide43.xml" ContentType="application/vnd.openxmlformats-officedocument.presentationml.slide+xml"/>
  <Override PartName="/ppt/notesSlides/notesSlide43.xml" ContentType="application/vnd.openxmlformats-officedocument.presentationml.notesSlide+xml"/>
  <Override PartName="/ppt/slides/slide44.xml" ContentType="application/vnd.openxmlformats-officedocument.presentationml.slide+xml"/>
  <Override PartName="/ppt/notesSlides/notesSlide44.xml" ContentType="application/vnd.openxmlformats-officedocument.presentationml.notesSlide+xml"/>
  <Override PartName="/ppt/slides/slide45.xml" ContentType="application/vnd.openxmlformats-officedocument.presentationml.slide+xml"/>
  <Override PartName="/ppt/notesSlides/notesSlide45.xml" ContentType="application/vnd.openxmlformats-officedocument.presentationml.notesSlide+xml"/>
  <Override PartName="/ppt/slides/slide46.xml" ContentType="application/vnd.openxmlformats-officedocument.presentationml.slide+xml"/>
  <Override PartName="/ppt/notesSlides/notesSlide46.xml" ContentType="application/vnd.openxmlformats-officedocument.presentationml.notesSlide+xml"/>
  <Override PartName="/ppt/slides/slide47.xml" ContentType="application/vnd.openxmlformats-officedocument.presentationml.slide+xml"/>
  <Override PartName="/ppt/notesSlides/notesSlide47.xml" ContentType="application/vnd.openxmlformats-officedocument.presentationml.notesSlide+xml"/>
  <Override PartName="/ppt/slides/slide48.xml" ContentType="application/vnd.openxmlformats-officedocument.presentationml.slide+xml"/>
  <Override PartName="/ppt/notesSlides/notesSlide48.xml" ContentType="application/vnd.openxmlformats-officedocument.presentationml.notesSlide+xml"/>
  <Override PartName="/ppt/slides/slide49.xml" ContentType="application/vnd.openxmlformats-officedocument.presentationml.slide+xml"/>
  <Override PartName="/ppt/notesSlides/notesSlide49.xml" ContentType="application/vnd.openxmlformats-officedocument.presentationml.notesSlide+xml"/>
  <Override PartName="/ppt/slides/slide50.xml" ContentType="application/vnd.openxmlformats-officedocument.presentationml.slide+xml"/>
  <Override PartName="/ppt/notesSlides/notesSlide5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c682280bab504904" /><Relationship Type="http://schemas.openxmlformats.org/officeDocument/2006/relationships/extended-properties" Target="/docProps/app.xml" Id="Rf2b44fd6009e4c18" /><Relationship Type="http://schemas.openxmlformats.org/officeDocument/2006/relationships/officeDocument" Target="/ppt/presentation.xml" Id="R2d57ca1285a34f6a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4e64a72c7ae64214"/>
  </p:sldMasterIdLst>
  <p:notesMasterIdLst>
    <p:notesMasterId xmlns:r="http://schemas.openxmlformats.org/officeDocument/2006/relationships" r:id="R08a8a1d2242c415e"/>
  </p:notesMasterIdLst>
  <p:sldIdLst>
    <p:sldId xmlns:r="http://schemas.openxmlformats.org/officeDocument/2006/relationships" id="256" r:id="R6cdbe254273c460a"/>
    <p:sldId xmlns:r="http://schemas.openxmlformats.org/officeDocument/2006/relationships" id="257" r:id="R45c80a59e4ab44d6"/>
    <p:sldId xmlns:r="http://schemas.openxmlformats.org/officeDocument/2006/relationships" id="258" r:id="Ra9e105744f6d4606"/>
    <p:sldId xmlns:r="http://schemas.openxmlformats.org/officeDocument/2006/relationships" id="259" r:id="Rce8d3da1810642ed"/>
    <p:sldId xmlns:r="http://schemas.openxmlformats.org/officeDocument/2006/relationships" id="260" r:id="R799193f8e80c4142"/>
    <p:sldId xmlns:r="http://schemas.openxmlformats.org/officeDocument/2006/relationships" id="261" r:id="Rd9447d6218d04cad"/>
    <p:sldId xmlns:r="http://schemas.openxmlformats.org/officeDocument/2006/relationships" id="262" r:id="Rea63df924c5f4464"/>
    <p:sldId xmlns:r="http://schemas.openxmlformats.org/officeDocument/2006/relationships" id="263" r:id="R8f44181a5ca84d7e"/>
    <p:sldId xmlns:r="http://schemas.openxmlformats.org/officeDocument/2006/relationships" id="264" r:id="Rbfdeaa79c42e420c"/>
    <p:sldId xmlns:r="http://schemas.openxmlformats.org/officeDocument/2006/relationships" id="265" r:id="Ra198dab3502746cb"/>
    <p:sldId xmlns:r="http://schemas.openxmlformats.org/officeDocument/2006/relationships" id="266" r:id="Rf9a02da320c8460e"/>
    <p:sldId xmlns:r="http://schemas.openxmlformats.org/officeDocument/2006/relationships" id="267" r:id="R8b12171e70d34d77"/>
    <p:sldId xmlns:r="http://schemas.openxmlformats.org/officeDocument/2006/relationships" id="268" r:id="Rad7954cdddb2449a"/>
    <p:sldId xmlns:r="http://schemas.openxmlformats.org/officeDocument/2006/relationships" id="269" r:id="Ra790e51c12d6412c"/>
    <p:sldId xmlns:r="http://schemas.openxmlformats.org/officeDocument/2006/relationships" id="270" r:id="Rf8f17c9e76b94735"/>
    <p:sldId xmlns:r="http://schemas.openxmlformats.org/officeDocument/2006/relationships" id="271" r:id="R40fcf161d1404fba"/>
    <p:sldId xmlns:r="http://schemas.openxmlformats.org/officeDocument/2006/relationships" id="272" r:id="R1394dc4897134ae9"/>
    <p:sldId xmlns:r="http://schemas.openxmlformats.org/officeDocument/2006/relationships" id="273" r:id="R82a0b20368ed4cfa"/>
    <p:sldId xmlns:r="http://schemas.openxmlformats.org/officeDocument/2006/relationships" id="274" r:id="Rbd42445d16644fab"/>
    <p:sldId xmlns:r="http://schemas.openxmlformats.org/officeDocument/2006/relationships" id="275" r:id="R626f29c4c95547eb"/>
    <p:sldId xmlns:r="http://schemas.openxmlformats.org/officeDocument/2006/relationships" id="276" r:id="R11569bfb38994b16"/>
    <p:sldId xmlns:r="http://schemas.openxmlformats.org/officeDocument/2006/relationships" id="277" r:id="R405514463d6347e3"/>
    <p:sldId xmlns:r="http://schemas.openxmlformats.org/officeDocument/2006/relationships" id="278" r:id="R422a463ea8be4e78"/>
    <p:sldId xmlns:r="http://schemas.openxmlformats.org/officeDocument/2006/relationships" id="279" r:id="Rc784286fcfe94373"/>
    <p:sldId xmlns:r="http://schemas.openxmlformats.org/officeDocument/2006/relationships" id="280" r:id="Re7086d1809c34a0a"/>
    <p:sldId xmlns:r="http://schemas.openxmlformats.org/officeDocument/2006/relationships" id="281" r:id="R95ae0062d998466f"/>
    <p:sldId xmlns:r="http://schemas.openxmlformats.org/officeDocument/2006/relationships" id="282" r:id="R572d050414ea46e4"/>
    <p:sldId xmlns:r="http://schemas.openxmlformats.org/officeDocument/2006/relationships" id="283" r:id="Red79f1936e694675"/>
    <p:sldId xmlns:r="http://schemas.openxmlformats.org/officeDocument/2006/relationships" id="284" r:id="Raadaf2cebcb4419f"/>
    <p:sldId xmlns:r="http://schemas.openxmlformats.org/officeDocument/2006/relationships" id="285" r:id="Rd27a80c9d8644f3f"/>
    <p:sldId xmlns:r="http://schemas.openxmlformats.org/officeDocument/2006/relationships" id="286" r:id="R5817ad4c04864a47"/>
    <p:sldId xmlns:r="http://schemas.openxmlformats.org/officeDocument/2006/relationships" id="287" r:id="R4b2fffbd6c184134"/>
    <p:sldId xmlns:r="http://schemas.openxmlformats.org/officeDocument/2006/relationships" id="288" r:id="Rf97f22b34ed74bd7"/>
    <p:sldId xmlns:r="http://schemas.openxmlformats.org/officeDocument/2006/relationships" id="289" r:id="R54ef6467119e4a20"/>
    <p:sldId xmlns:r="http://schemas.openxmlformats.org/officeDocument/2006/relationships" id="290" r:id="R4c4f765a9a8043a7"/>
    <p:sldId xmlns:r="http://schemas.openxmlformats.org/officeDocument/2006/relationships" id="291" r:id="R52f9e7787d67490d"/>
    <p:sldId xmlns:r="http://schemas.openxmlformats.org/officeDocument/2006/relationships" id="292" r:id="R15e5ae92836a4637"/>
    <p:sldId xmlns:r="http://schemas.openxmlformats.org/officeDocument/2006/relationships" id="293" r:id="R82c5e117fc2b416d"/>
    <p:sldId xmlns:r="http://schemas.openxmlformats.org/officeDocument/2006/relationships" id="294" r:id="R9495fb6be6da46ef"/>
    <p:sldId xmlns:r="http://schemas.openxmlformats.org/officeDocument/2006/relationships" id="295" r:id="Rb85e1ce12c5643d7"/>
    <p:sldId xmlns:r="http://schemas.openxmlformats.org/officeDocument/2006/relationships" id="296" r:id="R26ec60c330954cca"/>
    <p:sldId xmlns:r="http://schemas.openxmlformats.org/officeDocument/2006/relationships" id="297" r:id="R1c49e31d94ef4b2b"/>
    <p:sldId xmlns:r="http://schemas.openxmlformats.org/officeDocument/2006/relationships" id="298" r:id="R57d3ecb1911c49fe"/>
    <p:sldId xmlns:r="http://schemas.openxmlformats.org/officeDocument/2006/relationships" id="299" r:id="R8be60e05b827498b"/>
    <p:sldId xmlns:r="http://schemas.openxmlformats.org/officeDocument/2006/relationships" id="300" r:id="R9a8f8de5bc164dc4"/>
    <p:sldId xmlns:r="http://schemas.openxmlformats.org/officeDocument/2006/relationships" id="301" r:id="Rfd12fdc8622d4bf2"/>
    <p:sldId xmlns:r="http://schemas.openxmlformats.org/officeDocument/2006/relationships" id="302" r:id="R1e5a89b8cf014de9"/>
    <p:sldId xmlns:r="http://schemas.openxmlformats.org/officeDocument/2006/relationships" id="303" r:id="R7f33993ff09d4188"/>
    <p:sldId xmlns:r="http://schemas.openxmlformats.org/officeDocument/2006/relationships" id="304" r:id="R8375adfa8a954c54"/>
    <p:sldId xmlns:r="http://schemas.openxmlformats.org/officeDocument/2006/relationships" id="305" r:id="Rbabd0cdfc5fd4e69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124374b3e9b745e1" /><Relationship Type="http://schemas.openxmlformats.org/officeDocument/2006/relationships/slideMaster" Target="/ppt/slideMasters/slideMaster1.xml" Id="R4e64a72c7ae64214" /><Relationship Type="http://schemas.openxmlformats.org/officeDocument/2006/relationships/notesMaster" Target="/ppt/notesMasters/notesMaster1.xml" Id="R08a8a1d2242c415e" /><Relationship Type="http://schemas.openxmlformats.org/officeDocument/2006/relationships/presProps" Target="/ppt/presProps.xml" Id="Re429beb69eb44fb2" /><Relationship Type="http://schemas.openxmlformats.org/officeDocument/2006/relationships/tableStyles" Target="/ppt/tableStyles.xml" Id="R39904b23cc9a42e3" /><Relationship Type="http://schemas.openxmlformats.org/officeDocument/2006/relationships/slide" Target="/ppt/slides/slide1.xml" Id="R6cdbe254273c460a" /><Relationship Type="http://schemas.openxmlformats.org/officeDocument/2006/relationships/slide" Target="/ppt/slides/slide2.xml" Id="R45c80a59e4ab44d6" /><Relationship Type="http://schemas.openxmlformats.org/officeDocument/2006/relationships/slide" Target="/ppt/slides/slide3.xml" Id="Ra9e105744f6d4606" /><Relationship Type="http://schemas.openxmlformats.org/officeDocument/2006/relationships/slide" Target="/ppt/slides/slide4.xml" Id="Rce8d3da1810642ed" /><Relationship Type="http://schemas.openxmlformats.org/officeDocument/2006/relationships/slide" Target="/ppt/slides/slide5.xml" Id="R799193f8e80c4142" /><Relationship Type="http://schemas.openxmlformats.org/officeDocument/2006/relationships/slide" Target="/ppt/slides/slide6.xml" Id="Rd9447d6218d04cad" /><Relationship Type="http://schemas.openxmlformats.org/officeDocument/2006/relationships/slide" Target="/ppt/slides/slide7.xml" Id="Rea63df924c5f4464" /><Relationship Type="http://schemas.openxmlformats.org/officeDocument/2006/relationships/slide" Target="/ppt/slides/slide8.xml" Id="R8f44181a5ca84d7e" /><Relationship Type="http://schemas.openxmlformats.org/officeDocument/2006/relationships/slide" Target="/ppt/slides/slide9.xml" Id="Rbfdeaa79c42e420c" /><Relationship Type="http://schemas.openxmlformats.org/officeDocument/2006/relationships/slide" Target="/ppt/slides/slide10.xml" Id="Ra198dab3502746cb" /><Relationship Type="http://schemas.openxmlformats.org/officeDocument/2006/relationships/slide" Target="/ppt/slides/slide11.xml" Id="Rf9a02da320c8460e" /><Relationship Type="http://schemas.openxmlformats.org/officeDocument/2006/relationships/slide" Target="/ppt/slides/slide12.xml" Id="R8b12171e70d34d77" /><Relationship Type="http://schemas.openxmlformats.org/officeDocument/2006/relationships/slide" Target="/ppt/slides/slide13.xml" Id="Rad7954cdddb2449a" /><Relationship Type="http://schemas.openxmlformats.org/officeDocument/2006/relationships/slide" Target="/ppt/slides/slide14.xml" Id="Ra790e51c12d6412c" /><Relationship Type="http://schemas.openxmlformats.org/officeDocument/2006/relationships/slide" Target="/ppt/slides/slide15.xml" Id="Rf8f17c9e76b94735" /><Relationship Type="http://schemas.openxmlformats.org/officeDocument/2006/relationships/slide" Target="/ppt/slides/slide16.xml" Id="R40fcf161d1404fba" /><Relationship Type="http://schemas.openxmlformats.org/officeDocument/2006/relationships/slide" Target="/ppt/slides/slide17.xml" Id="R1394dc4897134ae9" /><Relationship Type="http://schemas.openxmlformats.org/officeDocument/2006/relationships/slide" Target="/ppt/slides/slide18.xml" Id="R82a0b20368ed4cfa" /><Relationship Type="http://schemas.openxmlformats.org/officeDocument/2006/relationships/slide" Target="/ppt/slides/slide19.xml" Id="Rbd42445d16644fab" /><Relationship Type="http://schemas.openxmlformats.org/officeDocument/2006/relationships/slide" Target="/ppt/slides/slide20.xml" Id="R626f29c4c95547eb" /><Relationship Type="http://schemas.openxmlformats.org/officeDocument/2006/relationships/slide" Target="/ppt/slides/slide21.xml" Id="R11569bfb38994b16" /><Relationship Type="http://schemas.openxmlformats.org/officeDocument/2006/relationships/slide" Target="/ppt/slides/slide22.xml" Id="R405514463d6347e3" /><Relationship Type="http://schemas.openxmlformats.org/officeDocument/2006/relationships/slide" Target="/ppt/slides/slide23.xml" Id="R422a463ea8be4e78" /><Relationship Type="http://schemas.openxmlformats.org/officeDocument/2006/relationships/slide" Target="/ppt/slides/slide24.xml" Id="Rc784286fcfe94373" /><Relationship Type="http://schemas.openxmlformats.org/officeDocument/2006/relationships/slide" Target="/ppt/slides/slide25.xml" Id="Re7086d1809c34a0a" /><Relationship Type="http://schemas.openxmlformats.org/officeDocument/2006/relationships/slide" Target="/ppt/slides/slide26.xml" Id="R95ae0062d998466f" /><Relationship Type="http://schemas.openxmlformats.org/officeDocument/2006/relationships/slide" Target="/ppt/slides/slide27.xml" Id="R572d050414ea46e4" /><Relationship Type="http://schemas.openxmlformats.org/officeDocument/2006/relationships/slide" Target="/ppt/slides/slide28.xml" Id="Red79f1936e694675" /><Relationship Type="http://schemas.openxmlformats.org/officeDocument/2006/relationships/slide" Target="/ppt/slides/slide29.xml" Id="Raadaf2cebcb4419f" /><Relationship Type="http://schemas.openxmlformats.org/officeDocument/2006/relationships/slide" Target="/ppt/slides/slide30.xml" Id="Rd27a80c9d8644f3f" /><Relationship Type="http://schemas.openxmlformats.org/officeDocument/2006/relationships/slide" Target="/ppt/slides/slide31.xml" Id="R5817ad4c04864a47" /><Relationship Type="http://schemas.openxmlformats.org/officeDocument/2006/relationships/slide" Target="/ppt/slides/slide32.xml" Id="R4b2fffbd6c184134" /><Relationship Type="http://schemas.openxmlformats.org/officeDocument/2006/relationships/slide" Target="/ppt/slides/slide33.xml" Id="Rf97f22b34ed74bd7" /><Relationship Type="http://schemas.openxmlformats.org/officeDocument/2006/relationships/slide" Target="/ppt/slides/slide34.xml" Id="R54ef6467119e4a20" /><Relationship Type="http://schemas.openxmlformats.org/officeDocument/2006/relationships/slide" Target="/ppt/slides/slide35.xml" Id="R4c4f765a9a8043a7" /><Relationship Type="http://schemas.openxmlformats.org/officeDocument/2006/relationships/slide" Target="/ppt/slides/slide36.xml" Id="R52f9e7787d67490d" /><Relationship Type="http://schemas.openxmlformats.org/officeDocument/2006/relationships/slide" Target="/ppt/slides/slide37.xml" Id="R15e5ae92836a4637" /><Relationship Type="http://schemas.openxmlformats.org/officeDocument/2006/relationships/slide" Target="/ppt/slides/slide38.xml" Id="R82c5e117fc2b416d" /><Relationship Type="http://schemas.openxmlformats.org/officeDocument/2006/relationships/slide" Target="/ppt/slides/slide39.xml" Id="R9495fb6be6da46ef" /><Relationship Type="http://schemas.openxmlformats.org/officeDocument/2006/relationships/slide" Target="/ppt/slides/slide40.xml" Id="Rb85e1ce12c5643d7" /><Relationship Type="http://schemas.openxmlformats.org/officeDocument/2006/relationships/slide" Target="/ppt/slides/slide41.xml" Id="R26ec60c330954cca" /><Relationship Type="http://schemas.openxmlformats.org/officeDocument/2006/relationships/slide" Target="/ppt/slides/slide42.xml" Id="R1c49e31d94ef4b2b" /><Relationship Type="http://schemas.openxmlformats.org/officeDocument/2006/relationships/slide" Target="/ppt/slides/slide43.xml" Id="R57d3ecb1911c49fe" /><Relationship Type="http://schemas.openxmlformats.org/officeDocument/2006/relationships/slide" Target="/ppt/slides/slide44.xml" Id="R8be60e05b827498b" /><Relationship Type="http://schemas.openxmlformats.org/officeDocument/2006/relationships/slide" Target="/ppt/slides/slide45.xml" Id="R9a8f8de5bc164dc4" /><Relationship Type="http://schemas.openxmlformats.org/officeDocument/2006/relationships/slide" Target="/ppt/slides/slide46.xml" Id="Rfd12fdc8622d4bf2" /><Relationship Type="http://schemas.openxmlformats.org/officeDocument/2006/relationships/slide" Target="/ppt/slides/slide47.xml" Id="R1e5a89b8cf014de9" /><Relationship Type="http://schemas.openxmlformats.org/officeDocument/2006/relationships/slide" Target="/ppt/slides/slide48.xml" Id="R7f33993ff09d4188" /><Relationship Type="http://schemas.openxmlformats.org/officeDocument/2006/relationships/slide" Target="/ppt/slides/slide49.xml" Id="R8375adfa8a954c54" /><Relationship Type="http://schemas.openxmlformats.org/officeDocument/2006/relationships/slide" Target="/ppt/slides/slide50.xml" Id="Rbabd0cdfc5fd4e6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87cc2979a9704f5d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74a7fbcfe5374242" /><Relationship Type="http://schemas.openxmlformats.org/officeDocument/2006/relationships/notesMaster" Target="/ppt/notesMasters/notesMaster1.xml" Id="Rb4dc3faa30eb42ed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d0057b968a0f41a6" /><Relationship Type="http://schemas.openxmlformats.org/officeDocument/2006/relationships/notesMaster" Target="/ppt/notesMasters/notesMaster1.xml" Id="Rde3a921632b94778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b9031026b7da4e25" /><Relationship Type="http://schemas.openxmlformats.org/officeDocument/2006/relationships/notesMaster" Target="/ppt/notesMasters/notesMaster1.xml" Id="R6c2c73789caa4440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06b5970da03149f4" /><Relationship Type="http://schemas.openxmlformats.org/officeDocument/2006/relationships/notesMaster" Target="/ppt/notesMasters/notesMaster1.xml" Id="R7ed5f0196e6f49d1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3508b80be48b4cd0" /><Relationship Type="http://schemas.openxmlformats.org/officeDocument/2006/relationships/notesMaster" Target="/ppt/notesMasters/notesMaster1.xml" Id="R9de6e8a0ecb340a7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a9464ea4866d44cc" /><Relationship Type="http://schemas.openxmlformats.org/officeDocument/2006/relationships/notesMaster" Target="/ppt/notesMasters/notesMaster1.xml" Id="R87ea337ddc884525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c538d951d97c4872" /><Relationship Type="http://schemas.openxmlformats.org/officeDocument/2006/relationships/notesMaster" Target="/ppt/notesMasters/notesMaster1.xml" Id="R3a77bd9ce1e647e3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45cf8b1cd6ce4776" /><Relationship Type="http://schemas.openxmlformats.org/officeDocument/2006/relationships/notesMaster" Target="/ppt/notesMasters/notesMaster1.xml" Id="R609f98ed28664770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af1b3b4e507c4eb6" /><Relationship Type="http://schemas.openxmlformats.org/officeDocument/2006/relationships/notesMaster" Target="/ppt/notesMasters/notesMaster1.xml" Id="Rd9b1b2a949b54f2c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533c6577816845c5" /><Relationship Type="http://schemas.openxmlformats.org/officeDocument/2006/relationships/notesMaster" Target="/ppt/notesMasters/notesMaster1.xml" Id="R1accc7f27ef3464f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563cef1cadf14056" /><Relationship Type="http://schemas.openxmlformats.org/officeDocument/2006/relationships/notesMaster" Target="/ppt/notesMasters/notesMaster1.xml" Id="R819f9803bc204d87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62317142c1214aab" /><Relationship Type="http://schemas.openxmlformats.org/officeDocument/2006/relationships/notesMaster" Target="/ppt/notesMasters/notesMaster1.xml" Id="R0429c99a24664fb3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5f0ee0787b1849ee" /><Relationship Type="http://schemas.openxmlformats.org/officeDocument/2006/relationships/notesMaster" Target="/ppt/notesMasters/notesMaster1.xml" Id="Ra33715dbcd1e4dd6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42c91f403aed46ad" /><Relationship Type="http://schemas.openxmlformats.org/officeDocument/2006/relationships/notesMaster" Target="/ppt/notesMasters/notesMaster1.xml" Id="R9d143b5ade6244d6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abcf102f3ea64430" /><Relationship Type="http://schemas.openxmlformats.org/officeDocument/2006/relationships/notesMaster" Target="/ppt/notesMasters/notesMaster1.xml" Id="Rffbfd5a55f704c48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1678f146ff7d4fa3" /><Relationship Type="http://schemas.openxmlformats.org/officeDocument/2006/relationships/notesMaster" Target="/ppt/notesMasters/notesMaster1.xml" Id="R1f7044b538064b84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c09fda6b2e9e4f12" /><Relationship Type="http://schemas.openxmlformats.org/officeDocument/2006/relationships/notesMaster" Target="/ppt/notesMasters/notesMaster1.xml" Id="R4205109035b747f2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2174985421904f41" /><Relationship Type="http://schemas.openxmlformats.org/officeDocument/2006/relationships/notesMaster" Target="/ppt/notesMasters/notesMaster1.xml" Id="Re76b7eb9c2db42df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cb5a86ec689b4cef" /><Relationship Type="http://schemas.openxmlformats.org/officeDocument/2006/relationships/notesMaster" Target="/ppt/notesMasters/notesMaster1.xml" Id="Rb16ef4d2218248c1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695a82bf2d4144a8" /><Relationship Type="http://schemas.openxmlformats.org/officeDocument/2006/relationships/notesMaster" Target="/ppt/notesMasters/notesMaster1.xml" Id="R26a8da54ac4c49ba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90f679e24c3b4c50" /><Relationship Type="http://schemas.openxmlformats.org/officeDocument/2006/relationships/notesMaster" Target="/ppt/notesMasters/notesMaster1.xml" Id="R5595ab967ed94bda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c337ab94aabc4a5b" /><Relationship Type="http://schemas.openxmlformats.org/officeDocument/2006/relationships/notesMaster" Target="/ppt/notesMasters/notesMaster1.xml" Id="Rb318ac63deac4012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ba2be3a438e14745" /><Relationship Type="http://schemas.openxmlformats.org/officeDocument/2006/relationships/notesMaster" Target="/ppt/notesMasters/notesMaster1.xml" Id="Rf71ede0b7567413e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40dd2b40f7de45fd" /><Relationship Type="http://schemas.openxmlformats.org/officeDocument/2006/relationships/notesMaster" Target="/ppt/notesMasters/notesMaster1.xml" Id="R63d9b2cd07a64ddf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bc98b94cf3fa48d1" /><Relationship Type="http://schemas.openxmlformats.org/officeDocument/2006/relationships/notesMaster" Target="/ppt/notesMasters/notesMaster1.xml" Id="R5e5284deb1b14084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57a367d128de4268" /><Relationship Type="http://schemas.openxmlformats.org/officeDocument/2006/relationships/notesMaster" Target="/ppt/notesMasters/notesMaster1.xml" Id="Rb64f6edfbc26425f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b56ffb3d25434fc9" /><Relationship Type="http://schemas.openxmlformats.org/officeDocument/2006/relationships/notesMaster" Target="/ppt/notesMasters/notesMaster1.xml" Id="R42fe0b031fbc4ea5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6fb83df762af43c0" /><Relationship Type="http://schemas.openxmlformats.org/officeDocument/2006/relationships/notesMaster" Target="/ppt/notesMasters/notesMaster1.xml" Id="Ra65dc247f5a949c0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58828f0301c44e9c" /><Relationship Type="http://schemas.openxmlformats.org/officeDocument/2006/relationships/notesMaster" Target="/ppt/notesMasters/notesMaster1.xml" Id="Rb9360a0d89af49ec" /></Relationships>
</file>

<file path=ppt/notesSlides/_rels/notesSlide30.xml.rels>&#65279;<?xml version="1.0" encoding="utf-8"?><Relationships xmlns="http://schemas.openxmlformats.org/package/2006/relationships"><Relationship Type="http://schemas.openxmlformats.org/officeDocument/2006/relationships/slide" Target="/ppt/slides/slide30.xml" Id="Rb0070f774ff047f2" /><Relationship Type="http://schemas.openxmlformats.org/officeDocument/2006/relationships/notesMaster" Target="/ppt/notesMasters/notesMaster1.xml" Id="R0d22cbd3918e49b7" /></Relationships>
</file>

<file path=ppt/notesSlides/_rels/notesSlide31.xml.rels>&#65279;<?xml version="1.0" encoding="utf-8"?><Relationships xmlns="http://schemas.openxmlformats.org/package/2006/relationships"><Relationship Type="http://schemas.openxmlformats.org/officeDocument/2006/relationships/slide" Target="/ppt/slides/slide31.xml" Id="R9edd52813d8b4180" /><Relationship Type="http://schemas.openxmlformats.org/officeDocument/2006/relationships/notesMaster" Target="/ppt/notesMasters/notesMaster1.xml" Id="Rf785fd35b03f4d6a" /></Relationships>
</file>

<file path=ppt/notesSlides/_rels/notesSlide32.xml.rels>&#65279;<?xml version="1.0" encoding="utf-8"?><Relationships xmlns="http://schemas.openxmlformats.org/package/2006/relationships"><Relationship Type="http://schemas.openxmlformats.org/officeDocument/2006/relationships/slide" Target="/ppt/slides/slide32.xml" Id="R1d5df8441ba44404" /><Relationship Type="http://schemas.openxmlformats.org/officeDocument/2006/relationships/notesMaster" Target="/ppt/notesMasters/notesMaster1.xml" Id="R677335ddb6eb4473" /></Relationships>
</file>

<file path=ppt/notesSlides/_rels/notesSlide33.xml.rels>&#65279;<?xml version="1.0" encoding="utf-8"?><Relationships xmlns="http://schemas.openxmlformats.org/package/2006/relationships"><Relationship Type="http://schemas.openxmlformats.org/officeDocument/2006/relationships/slide" Target="/ppt/slides/slide33.xml" Id="Rc53d59d6caa04688" /><Relationship Type="http://schemas.openxmlformats.org/officeDocument/2006/relationships/notesMaster" Target="/ppt/notesMasters/notesMaster1.xml" Id="R85e6c93afc9e4aad" /></Relationships>
</file>

<file path=ppt/notesSlides/_rels/notesSlide34.xml.rels>&#65279;<?xml version="1.0" encoding="utf-8"?><Relationships xmlns="http://schemas.openxmlformats.org/package/2006/relationships"><Relationship Type="http://schemas.openxmlformats.org/officeDocument/2006/relationships/slide" Target="/ppt/slides/slide34.xml" Id="Rb472deac864949f1" /><Relationship Type="http://schemas.openxmlformats.org/officeDocument/2006/relationships/notesMaster" Target="/ppt/notesMasters/notesMaster1.xml" Id="R0928c081e8a24823" /></Relationships>
</file>

<file path=ppt/notesSlides/_rels/notesSlide35.xml.rels>&#65279;<?xml version="1.0" encoding="utf-8"?><Relationships xmlns="http://schemas.openxmlformats.org/package/2006/relationships"><Relationship Type="http://schemas.openxmlformats.org/officeDocument/2006/relationships/slide" Target="/ppt/slides/slide35.xml" Id="R661ece0e550d4228" /><Relationship Type="http://schemas.openxmlformats.org/officeDocument/2006/relationships/notesMaster" Target="/ppt/notesMasters/notesMaster1.xml" Id="R03f41cef813846cd" /></Relationships>
</file>

<file path=ppt/notesSlides/_rels/notesSlide36.xml.rels>&#65279;<?xml version="1.0" encoding="utf-8"?><Relationships xmlns="http://schemas.openxmlformats.org/package/2006/relationships"><Relationship Type="http://schemas.openxmlformats.org/officeDocument/2006/relationships/slide" Target="/ppt/slides/slide36.xml" Id="R667545d8c5c0418e" /><Relationship Type="http://schemas.openxmlformats.org/officeDocument/2006/relationships/notesMaster" Target="/ppt/notesMasters/notesMaster1.xml" Id="R890aeafee85642db" /></Relationships>
</file>

<file path=ppt/notesSlides/_rels/notesSlide37.xml.rels>&#65279;<?xml version="1.0" encoding="utf-8"?><Relationships xmlns="http://schemas.openxmlformats.org/package/2006/relationships"><Relationship Type="http://schemas.openxmlformats.org/officeDocument/2006/relationships/slide" Target="/ppt/slides/slide37.xml" Id="Rfae7a740b5944f72" /><Relationship Type="http://schemas.openxmlformats.org/officeDocument/2006/relationships/notesMaster" Target="/ppt/notesMasters/notesMaster1.xml" Id="Rcf6119c2f7c34658" /></Relationships>
</file>

<file path=ppt/notesSlides/_rels/notesSlide38.xml.rels>&#65279;<?xml version="1.0" encoding="utf-8"?><Relationships xmlns="http://schemas.openxmlformats.org/package/2006/relationships"><Relationship Type="http://schemas.openxmlformats.org/officeDocument/2006/relationships/slide" Target="/ppt/slides/slide38.xml" Id="Rde3cff1c676d4b2a" /><Relationship Type="http://schemas.openxmlformats.org/officeDocument/2006/relationships/notesMaster" Target="/ppt/notesMasters/notesMaster1.xml" Id="Rf565794482734947" /></Relationships>
</file>

<file path=ppt/notesSlides/_rels/notesSlide39.xml.rels>&#65279;<?xml version="1.0" encoding="utf-8"?><Relationships xmlns="http://schemas.openxmlformats.org/package/2006/relationships"><Relationship Type="http://schemas.openxmlformats.org/officeDocument/2006/relationships/slide" Target="/ppt/slides/slide39.xml" Id="R8028022eb5f44ab0" /><Relationship Type="http://schemas.openxmlformats.org/officeDocument/2006/relationships/notesMaster" Target="/ppt/notesMasters/notesMaster1.xml" Id="R5ecc8f3f4e2d4a96" /></Relationships>
</file>

<file path=ppt/notesSlides/_rels/notesSlide40.xml.rels>&#65279;<?xml version="1.0" encoding="utf-8"?><Relationships xmlns="http://schemas.openxmlformats.org/package/2006/relationships"><Relationship Type="http://schemas.openxmlformats.org/officeDocument/2006/relationships/slide" Target="/ppt/slides/slide40.xml" Id="R152ba0403dc14655" /><Relationship Type="http://schemas.openxmlformats.org/officeDocument/2006/relationships/notesMaster" Target="/ppt/notesMasters/notesMaster1.xml" Id="R32c7e87a6004480a" /></Relationships>
</file>

<file path=ppt/notesSlides/_rels/notesSlide41.xml.rels>&#65279;<?xml version="1.0" encoding="utf-8"?><Relationships xmlns="http://schemas.openxmlformats.org/package/2006/relationships"><Relationship Type="http://schemas.openxmlformats.org/officeDocument/2006/relationships/slide" Target="/ppt/slides/slide41.xml" Id="Rcd432c5da5a54028" /><Relationship Type="http://schemas.openxmlformats.org/officeDocument/2006/relationships/notesMaster" Target="/ppt/notesMasters/notesMaster1.xml" Id="Rb723f7fe8b064aa0" /></Relationships>
</file>

<file path=ppt/notesSlides/_rels/notesSlide42.xml.rels>&#65279;<?xml version="1.0" encoding="utf-8"?><Relationships xmlns="http://schemas.openxmlformats.org/package/2006/relationships"><Relationship Type="http://schemas.openxmlformats.org/officeDocument/2006/relationships/slide" Target="/ppt/slides/slide42.xml" Id="R93959c798a124301" /><Relationship Type="http://schemas.openxmlformats.org/officeDocument/2006/relationships/notesMaster" Target="/ppt/notesMasters/notesMaster1.xml" Id="R99b0a1bd26354ac7" /></Relationships>
</file>

<file path=ppt/notesSlides/_rels/notesSlide43.xml.rels>&#65279;<?xml version="1.0" encoding="utf-8"?><Relationships xmlns="http://schemas.openxmlformats.org/package/2006/relationships"><Relationship Type="http://schemas.openxmlformats.org/officeDocument/2006/relationships/slide" Target="/ppt/slides/slide43.xml" Id="R06b978bac38f4baf" /><Relationship Type="http://schemas.openxmlformats.org/officeDocument/2006/relationships/notesMaster" Target="/ppt/notesMasters/notesMaster1.xml" Id="R08298fc7beb64918" /></Relationships>
</file>

<file path=ppt/notesSlides/_rels/notesSlide44.xml.rels>&#65279;<?xml version="1.0" encoding="utf-8"?><Relationships xmlns="http://schemas.openxmlformats.org/package/2006/relationships"><Relationship Type="http://schemas.openxmlformats.org/officeDocument/2006/relationships/slide" Target="/ppt/slides/slide44.xml" Id="R92b5b5f6f6ce4605" /><Relationship Type="http://schemas.openxmlformats.org/officeDocument/2006/relationships/notesMaster" Target="/ppt/notesMasters/notesMaster1.xml" Id="R0f16aedee3b44283" /></Relationships>
</file>

<file path=ppt/notesSlides/_rels/notesSlide45.xml.rels>&#65279;<?xml version="1.0" encoding="utf-8"?><Relationships xmlns="http://schemas.openxmlformats.org/package/2006/relationships"><Relationship Type="http://schemas.openxmlformats.org/officeDocument/2006/relationships/slide" Target="/ppt/slides/slide45.xml" Id="Rb7469221bc5242b1" /><Relationship Type="http://schemas.openxmlformats.org/officeDocument/2006/relationships/notesMaster" Target="/ppt/notesMasters/notesMaster1.xml" Id="Rf9ebeca9462947a2" /></Relationships>
</file>

<file path=ppt/notesSlides/_rels/notesSlide46.xml.rels>&#65279;<?xml version="1.0" encoding="utf-8"?><Relationships xmlns="http://schemas.openxmlformats.org/package/2006/relationships"><Relationship Type="http://schemas.openxmlformats.org/officeDocument/2006/relationships/slide" Target="/ppt/slides/slide46.xml" Id="R83489960662f4ebf" /><Relationship Type="http://schemas.openxmlformats.org/officeDocument/2006/relationships/notesMaster" Target="/ppt/notesMasters/notesMaster1.xml" Id="Rf611af4ce3ff47bc" /></Relationships>
</file>

<file path=ppt/notesSlides/_rels/notesSlide47.xml.rels>&#65279;<?xml version="1.0" encoding="utf-8"?><Relationships xmlns="http://schemas.openxmlformats.org/package/2006/relationships"><Relationship Type="http://schemas.openxmlformats.org/officeDocument/2006/relationships/slide" Target="/ppt/slides/slide47.xml" Id="Rc9803a8f20d842d9" /><Relationship Type="http://schemas.openxmlformats.org/officeDocument/2006/relationships/notesMaster" Target="/ppt/notesMasters/notesMaster1.xml" Id="R16292bfc41094f53" /></Relationships>
</file>

<file path=ppt/notesSlides/_rels/notesSlide48.xml.rels>&#65279;<?xml version="1.0" encoding="utf-8"?><Relationships xmlns="http://schemas.openxmlformats.org/package/2006/relationships"><Relationship Type="http://schemas.openxmlformats.org/officeDocument/2006/relationships/slide" Target="/ppt/slides/slide48.xml" Id="R04306483d6234dc0" /><Relationship Type="http://schemas.openxmlformats.org/officeDocument/2006/relationships/notesMaster" Target="/ppt/notesMasters/notesMaster1.xml" Id="Re36f4dd784af4b85" /></Relationships>
</file>

<file path=ppt/notesSlides/_rels/notesSlide49.xml.rels>&#65279;<?xml version="1.0" encoding="utf-8"?><Relationships xmlns="http://schemas.openxmlformats.org/package/2006/relationships"><Relationship Type="http://schemas.openxmlformats.org/officeDocument/2006/relationships/slide" Target="/ppt/slides/slide49.xml" Id="Raf1b7cfbd0994ef0" /><Relationship Type="http://schemas.openxmlformats.org/officeDocument/2006/relationships/notesMaster" Target="/ppt/notesMasters/notesMaster1.xml" Id="R5c544fb0e4f04ef9" /></Relationships>
</file>

<file path=ppt/notesSlides/_rels/notesSlide50.xml.rels>&#65279;<?xml version="1.0" encoding="utf-8"?><Relationships xmlns="http://schemas.openxmlformats.org/package/2006/relationships"><Relationship Type="http://schemas.openxmlformats.org/officeDocument/2006/relationships/slide" Target="/ppt/slides/slide50.xml" Id="R423be2f0cefd4889" /><Relationship Type="http://schemas.openxmlformats.org/officeDocument/2006/relationships/notesMaster" Target="/ppt/notesMasters/notesMaster1.xml" Id="R43cb59eaac334487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웹서버 연결이 어려울 때 사용할 수 있는 오프라인 수업용 PPT입니다.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 topic1 curriculum repository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 topic1 curriculum repository, session 1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정답: 2번</a:t>
            </a:r>
          </a:p>
          <a:p xmlns:a="http://schemas.openxmlformats.org/drawingml/2006/main">
            <a:r>
              <a:t>해설: 명사와 명사를 대등하게 연결하며 'and'의 의미를 지니는 접속 조사는 **와/과**입니다. 앞 명사 '사과'에 받침이 없으므로 **와**가 어울립니다.</a:t>
            </a:r>
          </a:p>
          <a:p xmlns:a="http://schemas.openxmlformats.org/drawingml/2006/main">
            <a:r>
              <a:t>보기 해설:</a:t>
            </a:r>
          </a:p>
          <a:p xmlns:a="http://schemas.openxmlformats.org/drawingml/2006/main">
            <a:r>
              <a:t>① 가 (X) - 주격을 나타내는 조사로, 사과를 문장의 주어로 만들기 때문에 어울리지 않습니다.</a:t>
            </a:r>
          </a:p>
          <a:p xmlns:a="http://schemas.openxmlformats.org/drawingml/2006/main">
            <a:r>
              <a:t>② 와 (O) - 사과와 배라는 두 대상을 대등하게 나열하는 접속 조사로, 문장의 목적어 자리에 잘 들어맞습니다.</a:t>
            </a:r>
          </a:p>
          <a:p xmlns:a="http://schemas.openxmlformats.org/drawingml/2006/main">
            <a:r>
              <a:t>③ 를 (X) - 목적격 조사로, 이미 뒤에 '배를' 목적격 조사가 결합해 있으므로 명사와 명사를 대등하게 이어줄 수 없습니다.</a:t>
            </a:r>
          </a:p>
          <a:p xmlns:a="http://schemas.openxmlformats.org/drawingml/2006/main">
            <a:r>
              <a:t>④ 로 (X) - 도구나 수단, 방향을 나타내는 부사격 조사로 '사과로 배를 산다'는 의미가 되어 어색합니다.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 topic1 curriculum repository, q1_r2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정답: 2번</a:t>
            </a:r>
          </a:p>
          <a:p xmlns:a="http://schemas.openxmlformats.org/drawingml/2006/main">
            <a:r>
              <a:t>해설: 명사와 명사를 대등하게 연결하며 'and'의 의미를 지니는 접속 조사는 **와/과**입니다. 앞 명사 '사과'에 받침이 없으므로 **와**가 어울립니다.</a:t>
            </a:r>
          </a:p>
          <a:p xmlns:a="http://schemas.openxmlformats.org/drawingml/2006/main">
            <a:r>
              <a:t>보기 해설:</a:t>
            </a:r>
          </a:p>
          <a:p xmlns:a="http://schemas.openxmlformats.org/drawingml/2006/main">
            <a:r>
              <a:t>① 가 (X) - 주격을 나타내는 조사로, 사과를 문장의 주어로 만들기 때문에 어울리지 않습니다.</a:t>
            </a:r>
          </a:p>
          <a:p xmlns:a="http://schemas.openxmlformats.org/drawingml/2006/main">
            <a:r>
              <a:t>② 와 (O) - 사과와 배라는 두 대상을 대등하게 나열하는 접속 조사로, 문장의 목적어 자리에 잘 들어맞습니다.</a:t>
            </a:r>
          </a:p>
          <a:p xmlns:a="http://schemas.openxmlformats.org/drawingml/2006/main">
            <a:r>
              <a:t>③ 를 (X) - 목적격 조사로, 이미 뒤에 '배를' 목적격 조사가 결합해 있으므로 명사와 명사를 대등하게 이어줄 수 없습니다.</a:t>
            </a:r>
          </a:p>
          <a:p xmlns:a="http://schemas.openxmlformats.org/drawingml/2006/main">
            <a:r>
              <a:t>④ 로 (X) - 도구나 수단, 방향을 나타내는 부사격 조사로 '사과로 배를 산다'는 의미가 되어 어색합니다.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 topic1 curriculum repository, q1_r2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정답: 3번</a:t>
            </a:r>
          </a:p>
          <a:p xmlns:a="http://schemas.openxmlformats.org/drawingml/2006/main">
            <a:r>
              <a:t>해설: 그림을 보면 많은 책이 꽂혀 있는 책장 앞에서 책을 한 권 손에 들고 보고 있습니다. 책을 고르고 파는 장소인 서점의 맥락과 일치하는 동작입니다.</a:t>
            </a:r>
          </a:p>
          <a:p xmlns:a="http://schemas.openxmlformats.org/drawingml/2006/main">
            <a:r>
              <a:t>보기 해설:</a:t>
            </a:r>
          </a:p>
          <a:p xmlns:a="http://schemas.openxmlformats.org/drawingml/2006/main">
            <a:r>
              <a:t>① 밥을 먹습니다 (X) - 음식을 식탁에서 먹고 있는 상황이 아닙니다.</a:t>
            </a:r>
          </a:p>
          <a:p xmlns:a="http://schemas.openxmlformats.org/drawingml/2006/main">
            <a:r>
              <a:t>② 노래를 부릅니다 (X) - 마이크를 쥐고 노래하는 방이 아닌 책들이 있는 공간입니다.</a:t>
            </a:r>
          </a:p>
          <a:p xmlns:a="http://schemas.openxmlformats.org/drawingml/2006/main">
            <a:r>
              <a:t>③ 책을 고릅니다 (O) - 책장 앞에서 서서 마음에 드는 책을 손에 들고 확인하는 행동이므로 그림과 완벽히 일치합니다.</a:t>
            </a:r>
          </a:p>
          <a:p xmlns:a="http://schemas.openxmlformats.org/drawingml/2006/main">
            <a:r>
              <a:t>④ 옷을 삽니다 (X) - 옷가게에서 옷을 거울에 비춰보거나 계산하고 있지 않습니다.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 topic1 curriculum repository, q1_r1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정답: 2번</a:t>
            </a:r>
          </a:p>
          <a:p xmlns:a="http://schemas.openxmlformats.org/drawingml/2006/main">
            <a:r>
              <a:t>해설: 명사와 명사를 대등하게 연결하며 'and'의 의미를 지니는 접속 조사는 **와/과**입니다. 앞 명사 '사과'에 받침이 없으므로 **와**가 어울립니다.</a:t>
            </a:r>
          </a:p>
          <a:p xmlns:a="http://schemas.openxmlformats.org/drawingml/2006/main">
            <a:r>
              <a:t>보기 해설:</a:t>
            </a:r>
          </a:p>
          <a:p xmlns:a="http://schemas.openxmlformats.org/drawingml/2006/main">
            <a:r>
              <a:t>① 가 (X) - 주격을 나타내는 조사로, 사과를 문장의 주어로 만들기 때문에 어울리지 않습니다.</a:t>
            </a:r>
          </a:p>
          <a:p xmlns:a="http://schemas.openxmlformats.org/drawingml/2006/main">
            <a:r>
              <a:t>② 와 (O) - 사과와 배라는 두 대상을 대등하게 나열하는 접속 조사로, 문장의 목적어 자리에 잘 들어맞습니다.</a:t>
            </a:r>
          </a:p>
          <a:p xmlns:a="http://schemas.openxmlformats.org/drawingml/2006/main">
            <a:r>
              <a:t>③ 를 (X) - 목적격 조사로, 이미 뒤에 '배를' 목적격 조사가 결합해 있으므로 명사와 명사를 대등하게 이어줄 수 없습니다.</a:t>
            </a:r>
          </a:p>
          <a:p xmlns:a="http://schemas.openxmlformats.org/drawingml/2006/main">
            <a:r>
              <a:t>④ 로 (X) - 도구나 수단, 방향을 나타내는 부사격 조사로 '사과로 배를 산다'는 의미가 되어 어색합니다.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 topic1 curriculum repository, q1_r2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정답: 1번</a:t>
            </a:r>
          </a:p>
          <a:p xmlns:a="http://schemas.openxmlformats.org/drawingml/2006/main">
            <a:r>
              <a:t>해설: 의사 가운을 입은 의사가 병실에서 환자를 성심껏 돌보며 대화하는 모습이므로, 병원에서 치료를 받거나 **진료를 받습니다**가 가장 정확합니다.</a:t>
            </a:r>
          </a:p>
          <a:p xmlns:a="http://schemas.openxmlformats.org/drawingml/2006/main">
            <a:r>
              <a:t>보기 해설:</a:t>
            </a:r>
          </a:p>
          <a:p xmlns:a="http://schemas.openxmlformats.org/drawingml/2006/main">
            <a:r>
              <a:t>① 진료를 받습니다 (O) - 의사에게 아픈 상태를 말하고 검사를 받는 과정과 정확히 일치합니다.</a:t>
            </a:r>
          </a:p>
          <a:p xmlns:a="http://schemas.openxmlformats.org/drawingml/2006/main">
            <a:r>
              <a:t>② 장난감을 가지고 놉니다 (X) - 어린아이가 놀이터나 방에서 노는 상황이 아닙니다.</a:t>
            </a:r>
          </a:p>
          <a:p xmlns:a="http://schemas.openxmlformats.org/drawingml/2006/main">
            <a:r>
              <a:t>③ 공부를 가르칩니다 (X) - 학교나 교실에서 선생님이 하는 행위입니다.</a:t>
            </a:r>
          </a:p>
          <a:p xmlns:a="http://schemas.openxmlformats.org/drawingml/2006/main">
            <a:r>
              <a:t>④ 요리를 시킵니다 (X) - 주방이나 식당에서 셰프가 지시하는 행위입니다.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 topic1 curriculum repository, q1_r3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정답: 3번</a:t>
            </a:r>
          </a:p>
          <a:p xmlns:a="http://schemas.openxmlformats.org/drawingml/2006/main">
            <a:r>
              <a:t>해설: 동작이 일어나는 공간적 활동 지점을 나타내는 부사격 조사는 **에서**입니다.</a:t>
            </a:r>
          </a:p>
          <a:p xmlns:a="http://schemas.openxmlformats.org/drawingml/2006/main">
            <a:r>
              <a:t>보기 해설:</a:t>
            </a:r>
          </a:p>
          <a:p xmlns:a="http://schemas.openxmlformats.org/drawingml/2006/main">
            <a:r>
              <a:t>① 이 (X) - 주격 조사이므로 어울리지 않습니다.</a:t>
            </a:r>
          </a:p>
          <a:p xmlns:a="http://schemas.openxmlformats.org/drawingml/2006/main">
            <a:r>
              <a:t>② 을 (X) - 목적격 조사이므로 장소 명사 뒤에 붙을 수 없습니다.</a:t>
            </a:r>
          </a:p>
          <a:p xmlns:a="http://schemas.openxmlformats.org/drawingml/2006/main">
            <a:r>
              <a:t>③ 에서 (O) - '읽다'라는 능동적 서술어가 있으므로 활동 지점 조사 '에서'가 정확합니다.</a:t>
            </a:r>
          </a:p>
          <a:p xmlns:a="http://schemas.openxmlformats.org/drawingml/2006/main">
            <a:r>
              <a:t>④ 의 (X) - 소유를 나타내는 관형격 조사입니다.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 topic1 curriculum repository, q1_r4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정답: 1번</a:t>
            </a:r>
          </a:p>
          <a:p xmlns:a="http://schemas.openxmlformats.org/drawingml/2006/main">
            <a:r>
              <a:t>해설: 한국 노래를 좋아하고, 특히 BTS의 팬이며, 나중에 한국에 직접 가서 가수를 만나고 싶다는 소망이 중심 생각인 ①번이 유일합니다.</a:t>
            </a:r>
          </a:p>
          <a:p xmlns:a="http://schemas.openxmlformats.org/drawingml/2006/main">
            <a:r>
              <a:t>보기 해설:</a:t>
            </a:r>
          </a:p>
          <a:p xmlns:a="http://schemas.openxmlformats.org/drawingml/2006/main">
            <a:r>
              <a:t>① 한국 가수를 좋아합니다 (O) - 글 전체가 좋아하는 노래와 가수를 언급하고 있으므로 정합합니다.</a:t>
            </a:r>
          </a:p>
          <a:p xmlns:a="http://schemas.openxmlformats.org/drawingml/2006/main">
            <a:r>
              <a:t>② 노래방에 자주 갑니다 (X) - 노래방(장소)에 관한 구체적 발언이 없습니다.</a:t>
            </a:r>
          </a:p>
          <a:p xmlns:a="http://schemas.openxmlformats.org/drawingml/2006/main">
            <a:r>
              <a:t>③ 여행을 갈 것입니다 (X) - 단지 콘서트 참관을 위한 소망이 있을 뿐 일반 여행 목적이 중심 생각이 아닙니다.</a:t>
            </a:r>
          </a:p>
          <a:p xmlns:a="http://schemas.openxmlformats.org/drawingml/2006/main">
            <a:r>
              <a:t>④ 춤을 열심히 배웁니다 (X) - 무용이나 댄스 학원에 대한 내용이 없습니다.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 topic1 curriculum repository, q1_r5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정답: 2번</a:t>
            </a:r>
          </a:p>
          <a:p xmlns:a="http://schemas.openxmlformats.org/drawingml/2006/main">
            <a:r>
              <a:t>해설: 여자가 주문을 하고 점원(남자)이 대답을 하는 장소는 카페입니다. 카페에서 두 사람이 커피를 나누고 주문하는 장면이므로 ②번이 그림 상황과 완벽히 부합합니다.</a:t>
            </a:r>
          </a:p>
          <a:p xmlns:a="http://schemas.openxmlformats.org/drawingml/2006/main">
            <a:r>
              <a:t>듣기 대본:</a:t>
            </a:r>
          </a:p>
          <a:p xmlns:a="http://schemas.openxmlformats.org/drawingml/2006/main">
            <a:r>
              <a:t>여: 여기 커피 두 잔하고 케이크 하나 주세요.</a:t>
            </a:r>
          </a:p>
          <a:p xmlns:a="http://schemas.openxmlformats.org/drawingml/2006/main">
            <a:r>
              <a:t>남: 네, 알겠습니다. 저기 테이블에서 잠시만 기다려 주세요.</a:t>
            </a:r>
          </a:p>
          <a:p xmlns:a="http://schemas.openxmlformats.org/drawingml/2006/main">
            <a:r>
              <a:t>보기 해설:</a:t>
            </a:r>
          </a:p>
          <a:p xmlns:a="http://schemas.openxmlformats.org/drawingml/2006/main">
            <a:r>
              <a:t>① 병원에서 환자를 만납니다 (X) - 대화가 진료나 주사 등 병원과 무관합니다.</a:t>
            </a:r>
          </a:p>
          <a:p xmlns:a="http://schemas.openxmlformats.org/drawingml/2006/main">
            <a:r>
              <a:t>② 카페에서 음료와 디저트를 주문합니다 (O) - 여자가 커피 두 잔과 케이크를 달라고 주문하며 남자가 서빙을 대기하라고 하는 내용이므로 카페 그림에 정확히 일치합니다.</a:t>
            </a:r>
          </a:p>
          <a:p xmlns:a="http://schemas.openxmlformats.org/drawingml/2006/main">
            <a:r>
              <a:t>③ 은행에서 돈을 찾습니다 (X) - 금융 기기나 카드, 통장에 관한 언급이 전혀 없습니다.</a:t>
            </a:r>
          </a:p>
          <a:p xmlns:a="http://schemas.openxmlformats.org/drawingml/2006/main">
            <a:r>
              <a:t>④ 서점에서 책 위치를 묻습니다 (X) - 책장이나 도서 검색 등에 대한 얘기가 아닙니다.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 topic1 curriculum repository, q1_l1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정답: 2번</a:t>
            </a:r>
          </a:p>
          <a:p xmlns:a="http://schemas.openxmlformats.org/drawingml/2006/main">
            <a:r>
              <a:t>해설: 여자가 아픈 부위를 말하며 '약'을 요구하였고, 약사가 '이 약을 드세요'라고 건네며 복약 지도를 하고 있으므로 대화 장소는 **약국**이 확실합니다.</a:t>
            </a:r>
          </a:p>
          <a:p xmlns:a="http://schemas.openxmlformats.org/drawingml/2006/main">
            <a:r>
              <a:t>듣기 대본:</a:t>
            </a:r>
          </a:p>
          <a:p xmlns:a="http://schemas.openxmlformats.org/drawingml/2006/main">
            <a:r>
              <a:t>여: 머리가 많이 아파요. 약 좀 주세요.</a:t>
            </a:r>
          </a:p>
          <a:p xmlns:a="http://schemas.openxmlformats.org/drawingml/2006/main">
            <a:r>
              <a:t>남: 네, 이 약을 드세요. 그리고 오늘은 따뜻한 물을 많이 마시고 푹 쉬세요.</a:t>
            </a:r>
          </a:p>
          <a:p xmlns:a="http://schemas.openxmlformats.org/drawingml/2006/main">
            <a:r>
              <a:t>보기 해설:</a:t>
            </a:r>
          </a:p>
          <a:p xmlns:a="http://schemas.openxmlformats.org/drawingml/2006/main">
            <a:r>
              <a:t>① 은행 (X) - 예금, 출금 등 금융 업무와 관련이 없습니다.</a:t>
            </a:r>
          </a:p>
          <a:p xmlns:a="http://schemas.openxmlformats.org/drawingml/2006/main">
            <a:r>
              <a:t>② 약국 (O) - '아파요', '약 좀 주세요', '이 약을 드세요' 등의 단어를 통해 조제약을 판매하는 약국임이 확실하게 도출됩니다.</a:t>
            </a:r>
          </a:p>
          <a:p xmlns:a="http://schemas.openxmlformats.org/drawingml/2006/main">
            <a:r>
              <a:t>③ 우체국 (X) - 편지, 소포 배달 용어가 언급되지 않았습니다.</a:t>
            </a:r>
          </a:p>
          <a:p xmlns:a="http://schemas.openxmlformats.org/drawingml/2006/main">
            <a:r>
              <a:t>④ 세탁소 (X) - 옷 수선, 세탁물 수거 등의 단어와 매칭되지 않습니다.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 topic1 curriculum repository, q1_l2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정답: 1번</a:t>
            </a:r>
          </a:p>
          <a:p xmlns:a="http://schemas.openxmlformats.org/drawingml/2006/main">
            <a:r>
              <a:t>해설: 남자가 날씨가 아주 맑고 구름도 없다고 관찰했으므로 이에 호응하며 '네, 하늘이 파랗다'고 대답하는 ①번이 적절합니다.</a:t>
            </a:r>
          </a:p>
          <a:p xmlns:a="http://schemas.openxmlformats.org/drawingml/2006/main">
            <a:r>
              <a:t>듣기 대본:</a:t>
            </a:r>
          </a:p>
          <a:p xmlns:a="http://schemas.openxmlformats.org/drawingml/2006/main">
            <a:r>
              <a:t>남: 오늘 날씨가 참 맑네요. 구름도 없어요.</a:t>
            </a:r>
          </a:p>
          <a:p xmlns:a="http://schemas.openxmlformats.org/drawingml/2006/main">
            <a:r>
              <a:t>보기 해설:</a:t>
            </a:r>
          </a:p>
          <a:p xmlns:a="http://schemas.openxmlformats.org/drawingml/2006/main">
            <a:r>
              <a:t>① 하늘에 구름이 없고 파래요 (O) - 맑은 하늘에 어울리는 최적의 대화 호응입니다.</a:t>
            </a:r>
          </a:p>
          <a:p xmlns:a="http://schemas.openxmlformats.org/drawingml/2006/main">
            <a:r>
              <a:t>② 우산을 꼭 가져가세요 (X) - 비 소식이 없으므로 오답입니다.</a:t>
            </a:r>
          </a:p>
          <a:p xmlns:a="http://schemas.openxmlformats.org/drawingml/2006/main">
            <a:r>
              <a:t>③ 비가 많이 쏟아져요 (X) - 맑은 상황과 반대되므로 어긋납니다.</a:t>
            </a:r>
          </a:p>
          <a:p xmlns:a="http://schemas.openxmlformats.org/drawingml/2006/main">
            <a:r>
              <a:t>④ 바람이 불고 추워요 (X) - 맑은 한낮의 긍정적인 평가와 모순됩니다.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 topic1 curriculum repository, q1_l3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정답: 2번</a:t>
            </a:r>
          </a:p>
          <a:p xmlns:a="http://schemas.openxmlformats.org/drawingml/2006/main">
            <a:r>
              <a:t>해설: 옷을 입어보겠다고 물어보았고, 탈의 장소(피팅룸)와 거울을 안내하며 점원이 '손님'이라고 칭하므로 **옷가게**가 정답입니다.</a:t>
            </a:r>
          </a:p>
          <a:p xmlns:a="http://schemas.openxmlformats.org/drawingml/2006/main">
            <a:r>
              <a:t>듣기 대본:</a:t>
            </a:r>
          </a:p>
          <a:p xmlns:a="http://schemas.openxmlformats.org/drawingml/2006/main">
            <a:r>
              <a:t>여: 이 파란색 옷을 한 번 입어봐도 돼요?</a:t>
            </a:r>
          </a:p>
          <a:p xmlns:a="http://schemas.openxmlformats.org/drawingml/2006/main">
            <a:r>
              <a:t>남: 네, 손님. 저기 거울이 있는 피팅룸에서 입어보세요. 아주 예쁠 거예요.</a:t>
            </a:r>
          </a:p>
          <a:p xmlns:a="http://schemas.openxmlformats.org/drawingml/2006/main">
            <a:r>
              <a:t>보기 해설:</a:t>
            </a:r>
          </a:p>
          <a:p xmlns:a="http://schemas.openxmlformats.org/drawingml/2006/main">
            <a:r>
              <a:t>① 우체국 (X) - 편지나 택배를 접수하는 곳이 아닙니다.</a:t>
            </a:r>
          </a:p>
          <a:p xmlns:a="http://schemas.openxmlformats.org/drawingml/2006/main">
            <a:r>
              <a:t>② 옷가게 (O) - '옷', '입어보다', '거울', '피팅룸' 등을 통해 옷 매장임을 정확히 파악할 수 있습니다.</a:t>
            </a:r>
          </a:p>
          <a:p xmlns:a="http://schemas.openxmlformats.org/drawingml/2006/main">
            <a:r>
              <a:t>③ 미술관 (X) - 미술 작품을 감상하는 전시실이 아닙니다.</a:t>
            </a:r>
          </a:p>
          <a:p xmlns:a="http://schemas.openxmlformats.org/drawingml/2006/main">
            <a:r>
              <a:t>④ 세탁소 (X) - 옷을 세탁하거나 수선 의뢰하는 상황이 아닙니다.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 topic1 curriculum repository, q1_l4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정답: 2번</a:t>
            </a:r>
          </a:p>
          <a:p xmlns:a="http://schemas.openxmlformats.org/drawingml/2006/main">
            <a:r>
              <a:t>해설: 남자가 오늘 오후에 아무 계획 없이 집에서 잠을 자며 쉴 것이라 했으므로, ②번 '남자는 오늘 집에서 휴식을 취할 것이다'가 가장 일치합니다.</a:t>
            </a:r>
          </a:p>
          <a:p xmlns:a="http://schemas.openxmlformats.org/drawingml/2006/main">
            <a:r>
              <a:t>듣기 대본:</a:t>
            </a:r>
          </a:p>
          <a:p xmlns:a="http://schemas.openxmlformats.org/drawingml/2006/main">
            <a:r>
              <a:t>여: 민수 씨, 오늘 오후에 특별한 일정이 있어요?</a:t>
            </a:r>
          </a:p>
          <a:p xmlns:a="http://schemas.openxmlformats.org/drawingml/2006/main">
            <a:r>
              <a:t>남: 아니요, 오늘은 아무 계획이 없어요. 그냥 집에서 밀린 잠을 자고 푹 쉴 거예요.</a:t>
            </a:r>
          </a:p>
          <a:p xmlns:a="http://schemas.openxmlformats.org/drawingml/2006/main">
            <a:r>
              <a:t>보기 해설:</a:t>
            </a:r>
          </a:p>
          <a:p xmlns:a="http://schemas.openxmlformats.org/drawingml/2006/main">
            <a:r>
              <a:t>① 오늘 오후에 아주 바쁩니다 (X) - 아무 계획이 없다고 밝혔으므로 바쁘지 않습니다.</a:t>
            </a:r>
          </a:p>
          <a:p xmlns:a="http://schemas.openxmlformats.org/drawingml/2006/main">
            <a:r>
              <a:t>② 집에서 휴식을 취할 것입니다 (O) - '집에서 잠을 자고 푹 쉴 것이다'라는 핵심 대사와 완벽하게 일치합니다.</a:t>
            </a:r>
          </a:p>
          <a:p xmlns:a="http://schemas.openxmlformats.org/drawingml/2006/main">
            <a:r>
              <a:t>③ 시장에 가서 옷을 살 것입니다 (X) - 여자의 동선 및 쇼핑 계획은 언급되지 않았습니다.</a:t>
            </a:r>
          </a:p>
          <a:p xmlns:a="http://schemas.openxmlformats.org/drawingml/2006/main">
            <a:r>
              <a:t>④ 만나서 놀기로 했습니다 (X) - 남자가 집에서 쉴 것이라 했으므로 오늘 약속은 없습니다.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 topic1 curriculum repository, q1_l5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정답: 1번</a:t>
            </a:r>
          </a:p>
          <a:p xmlns:a="http://schemas.openxmlformats.org/drawingml/2006/main">
            <a:r>
              <a:t>해설: '책을 읽다', '빌린 책', '돌려주다'는 도서관에서 사용하는 핵심 표현이므로 정답은 ①번입니다.</a:t>
            </a:r>
          </a:p>
          <a:p xmlns:a="http://schemas.openxmlformats.org/drawingml/2006/main">
            <a:r>
              <a:t>보기 해설:</a:t>
            </a:r>
          </a:p>
          <a:p xmlns:a="http://schemas.openxmlformats.org/drawingml/2006/main">
            <a:r>
              <a:t>① 도서관 (O) - 책을 읽고 빌리고 반납하는 장소입니다.</a:t>
            </a:r>
          </a:p>
          <a:p xmlns:a="http://schemas.openxmlformats.org/drawingml/2006/main">
            <a:r>
              <a:t>② 식당 (X) - 음식 주문이나 식사 관련 표현이 없습니다.</a:t>
            </a:r>
          </a:p>
          <a:p xmlns:a="http://schemas.openxmlformats.org/drawingml/2006/main">
            <a:r>
              <a:t>③ 은행 (X) - 예금, 출금, 통장 관련 표현이 없습니다.</a:t>
            </a:r>
          </a:p>
          <a:p xmlns:a="http://schemas.openxmlformats.org/drawingml/2006/main">
            <a:r>
              <a:t>④ 병원 (X) - 진료나 약과 관련된 안내가 아닙니다.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 topic1 curriculum repository, q1_r6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정답: 1번</a:t>
            </a:r>
          </a:p>
          <a:p xmlns:a="http://schemas.openxmlformats.org/drawingml/2006/main">
            <a:r>
              <a:t>해설: '선생님'이 행동의 주체이므로 받침 있는 명사 뒤에 붙는 주격 조사 '이'가 알맞습니다.</a:t>
            </a:r>
          </a:p>
          <a:p xmlns:a="http://schemas.openxmlformats.org/drawingml/2006/main">
            <a:r>
              <a:t>보기 해설:</a:t>
            </a:r>
          </a:p>
          <a:p xmlns:a="http://schemas.openxmlformats.org/drawingml/2006/main">
            <a:r>
              <a:t>① 이 (O) - 받침 있는 주어 '선생님' 뒤에 붙는 주격 조사입니다.</a:t>
            </a:r>
          </a:p>
          <a:p xmlns:a="http://schemas.openxmlformats.org/drawingml/2006/main">
            <a:r>
              <a:t>② 을 (X) - 목적어를 표시하는 조사입니다.</a:t>
            </a:r>
          </a:p>
          <a:p xmlns:a="http://schemas.openxmlformats.org/drawingml/2006/main">
            <a:r>
              <a:t>③ 에 (X) - 시간이나 도착점, 존재 장소 등에 쓰는 조사입니다.</a:t>
            </a:r>
          </a:p>
          <a:p xmlns:a="http://schemas.openxmlformats.org/drawingml/2006/main">
            <a:r>
              <a:t>④ 와 (X) - 두 명사를 연결하거나 함께하는 대상을 나타냅니다.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 topic1 curriculum repository, q1_r7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정답: 2번</a:t>
            </a:r>
          </a:p>
          <a:p xmlns:a="http://schemas.openxmlformats.org/drawingml/2006/main">
            <a:r>
              <a:t>해설: 여자는 여러 사람에게 책을 펴라고 안내하고 공부할 내용을 설명하므로 선생님입니다.</a:t>
            </a:r>
          </a:p>
          <a:p xmlns:a="http://schemas.openxmlformats.org/drawingml/2006/main">
            <a:r>
              <a:t>듣기 대본:</a:t>
            </a:r>
          </a:p>
          <a:p xmlns:a="http://schemas.openxmlformats.org/drawingml/2006/main">
            <a:r>
              <a:t>여: 여러분, 책 25쪽을 펴세요. 오늘은 장소를 나타내는 말을 공부하겠습니다.</a:t>
            </a:r>
          </a:p>
          <a:p xmlns:a="http://schemas.openxmlformats.org/drawingml/2006/main">
            <a:r>
              <a:t>보기 해설:</a:t>
            </a:r>
          </a:p>
          <a:p xmlns:a="http://schemas.openxmlformats.org/drawingml/2006/main">
            <a:r>
              <a:t>① 학생 (X) - 수업 내용을 안내하는 역할이 아닙니다.</a:t>
            </a:r>
          </a:p>
          <a:p xmlns:a="http://schemas.openxmlformats.org/drawingml/2006/main">
            <a:r>
              <a:t>② 선생님 (O) - 학생들에게 교재와 학습 내용을 안내하고 있습니다.</a:t>
            </a:r>
          </a:p>
          <a:p xmlns:a="http://schemas.openxmlformats.org/drawingml/2006/main">
            <a:r>
              <a:t>③ 의사 (X) - 환자나 진료에 관한 말이 없습니다.</a:t>
            </a:r>
          </a:p>
          <a:p xmlns:a="http://schemas.openxmlformats.org/drawingml/2006/main">
            <a:r>
              <a:t>④ 요리사 (X) - 음식이나 조리에 관한 말이 없습니다.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 topic1 curriculum repository, q1_l6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정답: 1번</a:t>
            </a:r>
          </a:p>
          <a:p xmlns:a="http://schemas.openxmlformats.org/drawingml/2006/main">
            <a:r>
              <a:t>해설: '어디에 가요?'는 목적지를 묻는 질문이므로 장소와 '에 가요'로 대답하는 ①번이 자연스럽습니다.</a:t>
            </a:r>
          </a:p>
          <a:p xmlns:a="http://schemas.openxmlformats.org/drawingml/2006/main">
            <a:r>
              <a:t>듣기 대본:</a:t>
            </a:r>
          </a:p>
          <a:p xmlns:a="http://schemas.openxmlformats.org/drawingml/2006/main">
            <a:r>
              <a:t>남: 수진 씨, 지금 어디에 가요?</a:t>
            </a:r>
          </a:p>
          <a:p xmlns:a="http://schemas.openxmlformats.org/drawingml/2006/main">
            <a:r>
              <a:t>보기 해설:</a:t>
            </a:r>
          </a:p>
          <a:p xmlns:a="http://schemas.openxmlformats.org/drawingml/2006/main">
            <a:r>
              <a:t>① 학교에 가요 (O) - 이동 목적지를 직접 대답합니다.</a:t>
            </a:r>
          </a:p>
          <a:p xmlns:a="http://schemas.openxmlformats.org/drawingml/2006/main">
            <a:r>
              <a:t>② 학교에서 공부했어요 (X) - 과거 행동을 말해 질문과 시제가 맞지 않습니다.</a:t>
            </a:r>
          </a:p>
          <a:p xmlns:a="http://schemas.openxmlformats.org/drawingml/2006/main">
            <a:r>
              <a:t>③ 학생이 많아요 (X) - 사람 수에 관한 설명입니다.</a:t>
            </a:r>
          </a:p>
          <a:p xmlns:a="http://schemas.openxmlformats.org/drawingml/2006/main">
            <a:r>
              <a:t>④ 책이 재미있어요 (X) - 책에 대한 감상으로 질문과 관련이 없습니다.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 topic1 curriculum repository, q1_l7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 topic1 curriculum repository, session 2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정답: 2번</a:t>
            </a:r>
          </a:p>
          <a:p xmlns:a="http://schemas.openxmlformats.org/drawingml/2006/main">
            <a:r>
              <a:t>해설: 명사와 명사를 대등하게 연결하며 'and'의 의미를 지니는 접속 조사는 **와/과**입니다. 앞 명사 '사과'에 받침이 없으므로 **와**가 어울립니다.</a:t>
            </a:r>
          </a:p>
          <a:p xmlns:a="http://schemas.openxmlformats.org/drawingml/2006/main">
            <a:r>
              <a:t>보기 해설:</a:t>
            </a:r>
          </a:p>
          <a:p xmlns:a="http://schemas.openxmlformats.org/drawingml/2006/main">
            <a:r>
              <a:t>① 가 (X) - 주격을 나타내는 조사로, 사과를 문장의 주어로 만들기 때문에 어울리지 않습니다.</a:t>
            </a:r>
          </a:p>
          <a:p xmlns:a="http://schemas.openxmlformats.org/drawingml/2006/main">
            <a:r>
              <a:t>② 와 (O) - 사과와 배라는 두 대상을 대등하게 나열하는 접속 조사로, 문장의 목적어 자리에 잘 들어맞습니다.</a:t>
            </a:r>
          </a:p>
          <a:p xmlns:a="http://schemas.openxmlformats.org/drawingml/2006/main">
            <a:r>
              <a:t>③ 를 (X) - 목적격 조사로, 이미 뒤에 '배를' 목적격 조사가 결합해 있으므로 명사와 명사를 대등하게 이어줄 수 없습니다.</a:t>
            </a:r>
          </a:p>
          <a:p xmlns:a="http://schemas.openxmlformats.org/drawingml/2006/main">
            <a:r>
              <a:t>④ 로 (X) - 도구나 수단, 방향을 나타내는 부사격 조사로 '사과로 배를 산다'는 의미가 되어 어색합니다.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 topic1 curriculum repository, q1_r2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정답: 2번</a:t>
            </a:r>
          </a:p>
          <a:p xmlns:a="http://schemas.openxmlformats.org/drawingml/2006/main">
            <a:r>
              <a:t>해설: 명사와 명사를 대등하게 연결하며 'and'의 의미를 지니는 접속 조사는 **와/과**입니다. 앞 명사 '사과'에 받침이 없으므로 **와**가 어울립니다.</a:t>
            </a:r>
          </a:p>
          <a:p xmlns:a="http://schemas.openxmlformats.org/drawingml/2006/main">
            <a:r>
              <a:t>보기 해설:</a:t>
            </a:r>
          </a:p>
          <a:p xmlns:a="http://schemas.openxmlformats.org/drawingml/2006/main">
            <a:r>
              <a:t>① 가 (X) - 주격을 나타내는 조사로, 사과를 문장의 주어로 만들기 때문에 어울리지 않습니다.</a:t>
            </a:r>
          </a:p>
          <a:p xmlns:a="http://schemas.openxmlformats.org/drawingml/2006/main">
            <a:r>
              <a:t>② 와 (O) - 사과와 배라는 두 대상을 대등하게 나열하는 접속 조사로, 문장의 목적어 자리에 잘 들어맞습니다.</a:t>
            </a:r>
          </a:p>
          <a:p xmlns:a="http://schemas.openxmlformats.org/drawingml/2006/main">
            <a:r>
              <a:t>③ 를 (X) - 목적격 조사로, 이미 뒤에 '배를' 목적격 조사가 결합해 있으므로 명사와 명사를 대등하게 이어줄 수 없습니다.</a:t>
            </a:r>
          </a:p>
          <a:p xmlns:a="http://schemas.openxmlformats.org/drawingml/2006/main">
            <a:r>
              <a:t>④ 로 (X) - 도구나 수단, 방향을 나타내는 부사격 조사로 '사과로 배를 산다'는 의미가 되어 어색합니다.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 topic1 curriculum repository, q1_r2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정답: 3번</a:t>
            </a:r>
          </a:p>
          <a:p xmlns:a="http://schemas.openxmlformats.org/drawingml/2006/main">
            <a:r>
              <a:t>해설: 안내문을 보면 입장 요금은 '5,000원'이라 명시되어 있습니다. 월요일은 휴관하고, 오전 10시에 열어 오후 6시에 닫으므로 다른 보기들은 오답이며 ③번이 정답입니다.</a:t>
            </a:r>
          </a:p>
          <a:p xmlns:a="http://schemas.openxmlformats.org/drawingml/2006/main">
            <a:r>
              <a:t>보기 해설:</a:t>
            </a:r>
          </a:p>
          <a:p xmlns:a="http://schemas.openxmlformats.org/drawingml/2006/main">
            <a:r>
              <a:t>① 월요일에 문을 엽니다 (X) - 안내문에 '매주 월요일은 쉽니다(휴무)'라고 나와 있습니다.</a:t>
            </a:r>
          </a:p>
          <a:p xmlns:a="http://schemas.openxmlformats.org/drawingml/2006/main">
            <a:r>
              <a:t>② 저녁 8시에 문을 닫습니다 (X) - 이용 시간이 '오후 6시'까지입니다.</a:t>
            </a:r>
          </a:p>
          <a:p xmlns:a="http://schemas.openxmlformats.org/drawingml/2006/main">
            <a:r>
              <a:t>③ 입장 요금은 오천 원입니다 (O) - 요금란에 '5,000원'으로 적혀 있는 사실과 정확히 부합합니다.</a:t>
            </a:r>
          </a:p>
          <a:p xmlns:a="http://schemas.openxmlformats.org/drawingml/2006/main">
            <a:r>
              <a:t>④ 오전 9시부터 입장할 수 있습니다 (X) - 이용 시작 시간은 오전 10시부터입니다.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 topic1 curriculum repository, q2_r1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정답: 1번</a:t>
            </a:r>
          </a:p>
          <a:p xmlns:a="http://schemas.openxmlformats.org/drawingml/2006/main">
            <a:r>
              <a:t>해설: 문장에 '어제'라는 시간 단어가 있고, 뒷문장 역시 과거형 시제 '봤습니다'가 쓰였으므로 시제를 과거형으로 일치시켜야 합니다.</a:t>
            </a:r>
          </a:p>
          <a:p xmlns:a="http://schemas.openxmlformats.org/drawingml/2006/main">
            <a:r>
              <a:t>보기 해설:</a:t>
            </a:r>
          </a:p>
          <a:p xmlns:a="http://schemas.openxmlformats.org/drawingml/2006/main">
            <a:r>
              <a:t>① 만났습니다 (O) - '어제' 일어난 과거 사실을 종결짓는 올바른 어미입니다.</a:t>
            </a:r>
          </a:p>
          <a:p xmlns:a="http://schemas.openxmlformats.org/drawingml/2006/main">
            <a:r>
              <a:t>② 만납니다 (X) - 현재 시제이므로 시간 어휘와 맞지 않습니다.</a:t>
            </a:r>
          </a:p>
          <a:p xmlns:a="http://schemas.openxmlformats.org/drawingml/2006/main">
            <a:r>
              <a:t>③ 만날 것입니다 (X) - 미래 시제이므로 어색합니다.</a:t>
            </a:r>
          </a:p>
          <a:p xmlns:a="http://schemas.openxmlformats.org/drawingml/2006/main">
            <a:r>
              <a:t>④ 만나서 (X) - 문장 종결 어미가 필요하므로 틀립니다.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 topic1 curriculum repository, q2_r2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정답: 2번</a:t>
            </a:r>
          </a:p>
          <a:p xmlns:a="http://schemas.openxmlformats.org/drawingml/2006/main">
            <a:r>
              <a:t>해설: 주방 모자를 쓰고 프라이팬에 요리를 올리고 있는 주방장 셰프의 그림이므로 **요리를 만듭니다**가 정확합니다.</a:t>
            </a:r>
          </a:p>
          <a:p xmlns:a="http://schemas.openxmlformats.org/drawingml/2006/main">
            <a:r>
              <a:t>보기 해설:</a:t>
            </a:r>
          </a:p>
          <a:p xmlns:a="http://schemas.openxmlformats.org/drawingml/2006/main">
            <a:r>
              <a:t>① 음식을 주문합니다 (X) - 손님이 카운터나 테이블에서 시키는 대화입니다.</a:t>
            </a:r>
          </a:p>
          <a:p xmlns:a="http://schemas.openxmlformats.org/drawingml/2006/main">
            <a:r>
              <a:t>② 요리를 만듭니다 (O) - 조리실에서 직접 음식을 만드는 동작입니다.</a:t>
            </a:r>
          </a:p>
          <a:p xmlns:a="http://schemas.openxmlformats.org/drawingml/2006/main">
            <a:r>
              <a:t>③ 청소를 열심히 합니다 (X) - 빗자루나 걸레로 청소하는 묘사가 아닙니다.</a:t>
            </a:r>
          </a:p>
          <a:p xmlns:a="http://schemas.openxmlformats.org/drawingml/2006/main">
            <a:r>
              <a:t>④ 그릇을 닦습니다 (X) - 개수대에서 설거지하는 상황이 아닙니다.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 topic1 curriculum repository, q2_r3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정답: 1번</a:t>
            </a:r>
          </a:p>
          <a:p xmlns:a="http://schemas.openxmlformats.org/drawingml/2006/main">
            <a:r>
              <a:t>해설: '지난 주말'이라는 과거 시간 지시어가 있으므로 시제는 과거형인 **갔습니다**가 정합합니다.</a:t>
            </a:r>
          </a:p>
          <a:p xmlns:a="http://schemas.openxmlformats.org/drawingml/2006/main">
            <a:r>
              <a:t>보기 해설:</a:t>
            </a:r>
          </a:p>
          <a:p xmlns:a="http://schemas.openxmlformats.org/drawingml/2006/main">
            <a:r>
              <a:t>① 갔습니다 (O) - 과거완료 사실을 서술하는 표현입니다.</a:t>
            </a:r>
          </a:p>
          <a:p xmlns:a="http://schemas.openxmlformats.org/drawingml/2006/main">
            <a:r>
              <a:t>② 갑니다 (X) - 현재형 시제입니다.</a:t>
            </a:r>
          </a:p>
          <a:p xmlns:a="http://schemas.openxmlformats.org/drawingml/2006/main">
            <a:r>
              <a:t>③ 갈 것입니다 (X) - 미래 계획이나 약속형 표현입니다.</a:t>
            </a:r>
          </a:p>
          <a:p xmlns:a="http://schemas.openxmlformats.org/drawingml/2006/main">
            <a:r>
              <a:t>④ 가고 싶습니다 (X) - 희망/소망을 나타내는 현재적 선호입니다.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 topic1 curriculum repository, q2_r4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정답: 2번</a:t>
            </a:r>
          </a:p>
          <a:p xmlns:a="http://schemas.openxmlformats.org/drawingml/2006/main">
            <a:r>
              <a:t>해설: 신발이 아주 편하고, 색깔과 모양이 내 취향에 맞아 마음에 든다는 글쓴이의 주관적 만족도를 설명하고 있으므로 ②번이 최적의 중심 생각입니다.</a:t>
            </a:r>
          </a:p>
          <a:p xmlns:a="http://schemas.openxmlformats.org/drawingml/2006/main">
            <a:r>
              <a:t>보기 해설:</a:t>
            </a:r>
          </a:p>
          <a:p xmlns:a="http://schemas.openxmlformats.org/drawingml/2006/main">
            <a:r>
              <a:t>① 매일 운동을 합니다 (X) - 운동 목적이 아닌 일반 보행 및 신발에 대한 만족도 서술입니다.</a:t>
            </a:r>
          </a:p>
          <a:p xmlns:a="http://schemas.openxmlformats.org/drawingml/2006/main">
            <a:r>
              <a:t>② 이 신발은 아주 마음에 듭니다 (O) - 글의 핵심 주제를 정확하게 서술하고 있습니다.</a:t>
            </a:r>
          </a:p>
          <a:p xmlns:a="http://schemas.openxmlformats.org/drawingml/2006/main">
            <a:r>
              <a:t>③ 새 신발을 사고 싶습니다 (X) - 이미 신발을 가지고 있으므로 모순됩니다.</a:t>
            </a:r>
          </a:p>
          <a:p xmlns:a="http://schemas.openxmlformats.org/drawingml/2006/main">
            <a:r>
              <a:t>④ 가격이 비쌉니다 (X) - 가격 정보는 적혀 있지 않습니다.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 topic1 curriculum repository, q2_r5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정답: 1번</a:t>
            </a:r>
          </a:p>
          <a:p xmlns:a="http://schemas.openxmlformats.org/drawingml/2006/main">
            <a:r>
              <a:t>해설: 남자가 처음 만났을 때 나누는 자기소개 인사를 건넸으므로 이에 이어질 가장 적절한 대답은 맞인사인 '반갑습니다. 저는 이수진입니다.'(①)가 가장 명확합니다.</a:t>
            </a:r>
          </a:p>
          <a:p xmlns:a="http://schemas.openxmlformats.org/drawingml/2006/main">
            <a:r>
              <a:t>듣기 대본:</a:t>
            </a:r>
          </a:p>
          <a:p xmlns:a="http://schemas.openxmlformats.org/drawingml/2006/main">
            <a:r>
              <a:t>남: 처음 뵙겠습니다. 김민수입니다.</a:t>
            </a:r>
          </a:p>
          <a:p xmlns:a="http://schemas.openxmlformats.org/drawingml/2006/main">
            <a:r>
              <a:t>보기 해설:</a:t>
            </a:r>
          </a:p>
          <a:p xmlns:a="http://schemas.openxmlformats.org/drawingml/2006/main">
            <a:r>
              <a:t>① 반갑습니다. 저는 이수진입니다 (O) - 인사에 상호적으로 대답하는 올바른 격식입니다.</a:t>
            </a:r>
          </a:p>
          <a:p xmlns:a="http://schemas.openxmlformats.org/drawingml/2006/main">
            <a:r>
              <a:t>② 네, 안녕히 계세요 (X) - 작별 인사입니다.</a:t>
            </a:r>
          </a:p>
          <a:p xmlns:a="http://schemas.openxmlformats.org/drawingml/2006/main">
            <a:r>
              <a:t>③ 미안합니다. 괜찮습니다 (X) - 사과에 대한 응답입니다.</a:t>
            </a:r>
          </a:p>
          <a:p xmlns:a="http://schemas.openxmlformats.org/drawingml/2006/main">
            <a:r>
              <a:t>④ 축하합니다. 고맙습니다 (X) - 감사에 관한 맥락입니다.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 topic1 curriculum repository, q2_l1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정답: 3번</a:t>
            </a:r>
          </a:p>
          <a:p xmlns:a="http://schemas.openxmlformats.org/drawingml/2006/main">
            <a:r>
              <a:t>해설: 남자가 '아니요, 아직 고치고 있어요'라고 말했으므로 남자가 지금 컴퓨터를 수리 중인 상태입니다. 따라서 정답은 ③번입니다.</a:t>
            </a:r>
          </a:p>
          <a:p xmlns:a="http://schemas.openxmlformats.org/drawingml/2006/main">
            <a:r>
              <a:t>듣기 대본:</a:t>
            </a:r>
          </a:p>
          <a:p xmlns:a="http://schemas.openxmlformats.org/drawingml/2006/main">
            <a:r>
              <a:t>여: 민수 씨, 컴퓨터 다 고쳤어요?</a:t>
            </a:r>
          </a:p>
          <a:p xmlns:a="http://schemas.openxmlformats.org/drawingml/2006/main">
            <a:r>
              <a:t>남: 아니요, 아직 고치고 있어요. 조금만 기다려 주세요.</a:t>
            </a:r>
          </a:p>
          <a:p xmlns:a="http://schemas.openxmlformats.org/drawingml/2006/main">
            <a:r>
              <a:t>여: 그럼 컴퓨터를 다 고친 후에 저한테 꼭 연락해 주세요.</a:t>
            </a:r>
          </a:p>
          <a:p xmlns:a="http://schemas.openxmlformats.org/drawingml/2006/main">
            <a:r>
              <a:t>보기 해설:</a:t>
            </a:r>
          </a:p>
          <a:p xmlns:a="http://schemas.openxmlformats.org/drawingml/2006/main">
            <a:r>
              <a:t>① 수리를 완전히 끝냈습니다 (X) - 아직 진행형이므로 틀립니다.</a:t>
            </a:r>
          </a:p>
          <a:p xmlns:a="http://schemas.openxmlformats.org/drawingml/2006/main">
            <a:r>
              <a:t>② 여자가 고칩니다 (X) - 실제 수리 주체는 남자입니다.</a:t>
            </a:r>
          </a:p>
          <a:p xmlns:a="http://schemas.openxmlformats.org/drawingml/2006/main">
            <a:r>
              <a:t>③ 지금 컴퓨터를 고치고 있습니다 (O) - 대화 속 남자의 행동 상태와 완벽히 맞아떨어집니다.</a:t>
            </a:r>
          </a:p>
          <a:p xmlns:a="http://schemas.openxmlformats.org/drawingml/2006/main">
            <a:r>
              <a:t>④ 새로 살 것입니다 (X) - 수리 중이므로 어울리지 않습니다.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 topic1 curriculum repository, q2_l2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정답: 1번</a:t>
            </a:r>
          </a:p>
          <a:p xmlns:a="http://schemas.openxmlformats.org/drawingml/2006/main">
            <a:r>
              <a:t>해설: 상대방이 생일 축하와 함께 선물을 건넸으므로 감사를 표하는 '정말 고마워요' 대화인 ①번이 정답입니다.</a:t>
            </a:r>
          </a:p>
          <a:p xmlns:a="http://schemas.openxmlformats.org/drawingml/2006/main">
            <a:r>
              <a:t>듣기 대본:</a:t>
            </a:r>
          </a:p>
          <a:p xmlns:a="http://schemas.openxmlformats.org/drawingml/2006/main">
            <a:r>
              <a:t>여: 민수 씨, 생일 축하해요! 여기 제 생일 선물이에요.</a:t>
            </a:r>
          </a:p>
          <a:p xmlns:a="http://schemas.openxmlformats.org/drawingml/2006/main">
            <a:r>
              <a:t>보기 해설:</a:t>
            </a:r>
          </a:p>
          <a:p xmlns:a="http://schemas.openxmlformats.org/drawingml/2006/main">
            <a:r>
              <a:t>① 정말 고마워요. 마음에 들어요 (O) - 선물을 받고 나누는 자연스럽고 훈훈한 화답입니다.</a:t>
            </a:r>
          </a:p>
          <a:p xmlns:a="http://schemas.openxmlformats.org/drawingml/2006/main">
            <a:r>
              <a:t>② 안녕히 계세요 (X) - 헤어지는 작별 구도이므로 어색합니다.</a:t>
            </a:r>
          </a:p>
          <a:p xmlns:a="http://schemas.openxmlformats.org/drawingml/2006/main">
            <a:r>
              <a:t>③ 죄송합니다 (X) - 실수를 고백하거나 사과할 때 쓰는 표현입니다.</a:t>
            </a:r>
          </a:p>
          <a:p xmlns:a="http://schemas.openxmlformats.org/drawingml/2006/main">
            <a:r>
              <a:t>④ 저는 선물이 없어요 (X) - 선물을 수령하는 입장에서의 답으로 무례합니다.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 topic1 curriculum repository, q2_l3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정답: 2번</a:t>
            </a:r>
          </a:p>
          <a:p xmlns:a="http://schemas.openxmlformats.org/drawingml/2006/main">
            <a:r>
              <a:t>해설: 사과와 바나나를 지정하여 주문하고 금액을 결제하는 대화이므로 청과 상점인 **과일 가게**가 맞습니다.</a:t>
            </a:r>
          </a:p>
          <a:p xmlns:a="http://schemas.openxmlformats.org/drawingml/2006/main">
            <a:r>
              <a:t>듣기 대본:</a:t>
            </a:r>
          </a:p>
          <a:p xmlns:a="http://schemas.openxmlformats.org/drawingml/2006/main">
            <a:r>
              <a:t>남: 사장님, 맛있는 사과 세 개랑 노란 바나나 한 송이 주세요.</a:t>
            </a:r>
          </a:p>
          <a:p xmlns:a="http://schemas.openxmlformats.org/drawingml/2006/main">
            <a:r>
              <a:t>여: 네, 손님. 여기 담아 드립니다. 모두 합해서 구천 원입니다.</a:t>
            </a:r>
          </a:p>
          <a:p xmlns:a="http://schemas.openxmlformats.org/drawingml/2006/main">
            <a:r>
              <a:t>보기 해설:</a:t>
            </a:r>
          </a:p>
          <a:p xmlns:a="http://schemas.openxmlformats.org/drawingml/2006/main">
            <a:r>
              <a:t>① 우체국 (X) - 우편 관련 대화가 아닙니다.</a:t>
            </a:r>
          </a:p>
          <a:p xmlns:a="http://schemas.openxmlformats.org/drawingml/2006/main">
            <a:r>
              <a:t>② 과일 가게 (O) - 사과와 바나나를 현금 계산하여 포장하는 상거래 장소이므로 정확합니다.</a:t>
            </a:r>
          </a:p>
          <a:p xmlns:a="http://schemas.openxmlformats.org/drawingml/2006/main">
            <a:r>
              <a:t>③ 병원 (X) - 건강에 관한 의학적 조언 대사가 아닙니다.</a:t>
            </a:r>
          </a:p>
          <a:p xmlns:a="http://schemas.openxmlformats.org/drawingml/2006/main">
            <a:r>
              <a:t>④ 세탁소 (X) - 세탁 의류를 취급하는 정황이 아닙니다.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 topic1 curriculum repository, q2_l4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정답: 2번</a:t>
            </a:r>
          </a:p>
          <a:p xmlns:a="http://schemas.openxmlformats.org/drawingml/2006/main">
            <a:r>
              <a:t>해설: 남자가 지갑은 집에 두었으나 주머니에 신용카드가 있다고 진술했으므로, ②번 '남자는 지금 신용카드를 가지고 있다'가 확실한 일치 사실입니다.</a:t>
            </a:r>
          </a:p>
          <a:p xmlns:a="http://schemas.openxmlformats.org/drawingml/2006/main">
            <a:r>
              <a:t>듣기 대본:</a:t>
            </a:r>
          </a:p>
          <a:p xmlns:a="http://schemas.openxmlformats.org/drawingml/2006/main">
            <a:r>
              <a:t>여: 민수 씨, 지갑에 지금 현금이 좀 있어요?</a:t>
            </a:r>
          </a:p>
          <a:p xmlns:a="http://schemas.openxmlformats.org/drawingml/2006/main">
            <a:r>
              <a:t>남: 아니요, 지갑을 오늘 집에 두고 나와서 현금은 없어요. 대신 주머니에 신용카드는 있어요.</a:t>
            </a:r>
          </a:p>
          <a:p xmlns:a="http://schemas.openxmlformats.org/drawingml/2006/main">
            <a:r>
              <a:t>보기 해설:</a:t>
            </a:r>
          </a:p>
          <a:p xmlns:a="http://schemas.openxmlformats.org/drawingml/2006/main">
            <a:r>
              <a:t>① 현금이 많습니다 (X) - 지갑이 집에 있고 현금이 전혀 없다고 밝혔습니다.</a:t>
            </a:r>
          </a:p>
          <a:p xmlns:a="http://schemas.openxmlformats.org/drawingml/2006/main">
            <a:r>
              <a:t>② 신용카드를 가지고 있습니다 (O) - 주머니에 카드가 들어있는 상태이므로 사실과 부합합니다.</a:t>
            </a:r>
          </a:p>
          <a:p xmlns:a="http://schemas.openxmlformats.org/drawingml/2006/main">
            <a:r>
              <a:t>③ 지갑을 찾으러 집에 갑니다 (X) - 집에 가겠다는 동작 의도는 직접 언급되지 않았습니다.</a:t>
            </a:r>
          </a:p>
          <a:p xmlns:a="http://schemas.openxmlformats.org/drawingml/2006/main">
            <a:r>
              <a:t>④ 지갑을 선물해 줍니다 (X) - 선물에 대한 제안이나 거래 정황은 들리지 않습니다.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 topic1 curriculum repository, q2_l5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정답: 3번</a:t>
            </a:r>
          </a:p>
          <a:p xmlns:a="http://schemas.openxmlformats.org/drawingml/2006/main">
            <a:r>
              <a:t>해설: 광고에 할인 가격이 20,000원으로 표시되어 있으므로 ③번이 내용과 같습니다.</a:t>
            </a:r>
          </a:p>
          <a:p xmlns:a="http://schemas.openxmlformats.org/drawingml/2006/main">
            <a:r>
              <a:t>보기 해설:</a:t>
            </a:r>
          </a:p>
          <a:p xmlns:a="http://schemas.openxmlformats.org/drawingml/2006/main">
            <a:r>
              <a:t>① 삼만 원입니다 (X) - 삼만 원은 할인 전 가격입니다.</a:t>
            </a:r>
          </a:p>
          <a:p xmlns:a="http://schemas.openxmlformats.org/drawingml/2006/main">
            <a:r>
              <a:t>② 다음 달까지입니다 (X) - 이번 주 일요일까지라고 했습니다.</a:t>
            </a:r>
          </a:p>
          <a:p xmlns:a="http://schemas.openxmlformats.org/drawingml/2006/main">
            <a:r>
              <a:t>③ 이만 원에 살 수 있습니다 (O) - 표시된 할인 가격과 같습니다.</a:t>
            </a:r>
          </a:p>
          <a:p xmlns:a="http://schemas.openxmlformats.org/drawingml/2006/main">
            <a:r>
              <a:t>④ 일요일에 쉽니다 (X) - 일요일까지 할인한다는 뜻이지 휴무라는 뜻이 아닙니다.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 topic1 curriculum repository, q2_r6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정답: 2번</a:t>
            </a:r>
          </a:p>
          <a:p xmlns:a="http://schemas.openxmlformats.org/drawingml/2006/main">
            <a:r>
              <a:t>해설: 커피나 차처럼 컵에 담긴 음료를 셀 때는 단위 명사 '잔'을 사용합니다.</a:t>
            </a:r>
          </a:p>
          <a:p xmlns:a="http://schemas.openxmlformats.org/drawingml/2006/main">
            <a:r>
              <a:t>보기 해설:</a:t>
            </a:r>
          </a:p>
          <a:p xmlns:a="http://schemas.openxmlformats.org/drawingml/2006/main">
            <a:r>
              <a:t>① 명 (X) - 사람을 세는 단위입니다.</a:t>
            </a:r>
          </a:p>
          <a:p xmlns:a="http://schemas.openxmlformats.org/drawingml/2006/main">
            <a:r>
              <a:t>② 잔 (O) - 컵에 담긴 음료를 세는 단위입니다.</a:t>
            </a:r>
          </a:p>
          <a:p xmlns:a="http://schemas.openxmlformats.org/drawingml/2006/main">
            <a:r>
              <a:t>③ 켤레 (X) - 신발이나 양말을 세는 단위입니다.</a:t>
            </a:r>
          </a:p>
          <a:p xmlns:a="http://schemas.openxmlformats.org/drawingml/2006/main">
            <a:r>
              <a:t>④ 장 (X) - 종이, 표, 얇은 물건을 세는 단위입니다.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 topic1 curriculum repository, q2_r7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정답: 3번</a:t>
            </a:r>
          </a:p>
          <a:p xmlns:a="http://schemas.openxmlformats.org/drawingml/2006/main">
            <a:r>
              <a:t>해설: 여자는 현재 신발이 작아서 더 큰 사이즈로 교환해 달라고 요청했습니다.</a:t>
            </a:r>
          </a:p>
          <a:p xmlns:a="http://schemas.openxmlformats.org/drawingml/2006/main">
            <a:r>
              <a:t>듣기 대본:</a:t>
            </a:r>
          </a:p>
          <a:p xmlns:a="http://schemas.openxmlformats.org/drawingml/2006/main">
            <a:r>
              <a:t>여: 이 신발은 조금 작아요. 한 사이즈 큰 것으로 바꿔 주세요.</a:t>
            </a:r>
          </a:p>
          <a:p xmlns:a="http://schemas.openxmlformats.org/drawingml/2006/main">
            <a:r>
              <a:t>남: 네, 손님. 잠시만 기다려 주세요.</a:t>
            </a:r>
          </a:p>
          <a:p xmlns:a="http://schemas.openxmlformats.org/drawingml/2006/main">
            <a:r>
              <a:t>보기 해설:</a:t>
            </a:r>
          </a:p>
          <a:p xmlns:a="http://schemas.openxmlformats.org/drawingml/2006/main">
            <a:r>
              <a:t>① 값을 깎습니다 (X) - 가격 할인을 요청하지 않았습니다.</a:t>
            </a:r>
          </a:p>
          <a:p xmlns:a="http://schemas.openxmlformats.org/drawingml/2006/main">
            <a:r>
              <a:t>② 더 작은 것으로 바꿉니다 (X) - 현재 신발이 이미 작습니다.</a:t>
            </a:r>
          </a:p>
          <a:p xmlns:a="http://schemas.openxmlformats.org/drawingml/2006/main">
            <a:r>
              <a:t>③ 큰 사이즈 신발을 받습니다 (O) - 여자의 교환 요청과 일치합니다.</a:t>
            </a:r>
          </a:p>
          <a:p xmlns:a="http://schemas.openxmlformats.org/drawingml/2006/main">
            <a:r>
              <a:t>④ 신발을 빌립니다 (X) - 구매한 상품을 교환하는 상황입니다.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 topic1 curriculum repository, q2_l6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 topic1 curriculum repository, session 3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정답: 2번</a:t>
            </a:r>
          </a:p>
          <a:p xmlns:a="http://schemas.openxmlformats.org/drawingml/2006/main">
            <a:r>
              <a:t>해설: 명사와 명사를 대등하게 연결하며 'and'의 의미를 지니는 접속 조사는 **와/과**입니다. 앞 명사 '사과'에 받침이 없으므로 **와**가 어울립니다.</a:t>
            </a:r>
          </a:p>
          <a:p xmlns:a="http://schemas.openxmlformats.org/drawingml/2006/main">
            <a:r>
              <a:t>보기 해설:</a:t>
            </a:r>
          </a:p>
          <a:p xmlns:a="http://schemas.openxmlformats.org/drawingml/2006/main">
            <a:r>
              <a:t>① 가 (X) - 주격을 나타내는 조사로, 사과를 문장의 주어로 만들기 때문에 어울리지 않습니다.</a:t>
            </a:r>
          </a:p>
          <a:p xmlns:a="http://schemas.openxmlformats.org/drawingml/2006/main">
            <a:r>
              <a:t>② 와 (O) - 사과와 배라는 두 대상을 대등하게 나열하는 접속 조사로, 문장의 목적어 자리에 잘 들어맞습니다.</a:t>
            </a:r>
          </a:p>
          <a:p xmlns:a="http://schemas.openxmlformats.org/drawingml/2006/main">
            <a:r>
              <a:t>③ 를 (X) - 목적격 조사로, 이미 뒤에 '배를' 목적격 조사가 결합해 있으므로 명사와 명사를 대등하게 이어줄 수 없습니다.</a:t>
            </a:r>
          </a:p>
          <a:p xmlns:a="http://schemas.openxmlformats.org/drawingml/2006/main">
            <a:r>
              <a:t>④ 로 (X) - 도구나 수단, 방향을 나타내는 부사격 조사로 '사과로 배를 산다'는 의미가 되어 어색합니다.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 topic1 curriculum repository, q1_r2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정답: 2번</a:t>
            </a:r>
          </a:p>
          <a:p xmlns:a="http://schemas.openxmlformats.org/drawingml/2006/main">
            <a:r>
              <a:t>해설: 명사와 명사를 대등하게 연결하며 'and'의 의미를 지니는 접속 조사는 **와/과**입니다. 앞 명사 '사과'에 받침이 없으므로 **와**가 어울립니다.</a:t>
            </a:r>
          </a:p>
          <a:p xmlns:a="http://schemas.openxmlformats.org/drawingml/2006/main">
            <a:r>
              <a:t>보기 해설:</a:t>
            </a:r>
          </a:p>
          <a:p xmlns:a="http://schemas.openxmlformats.org/drawingml/2006/main">
            <a:r>
              <a:t>① 가 (X) - 주격을 나타내는 조사로, 사과를 문장의 주어로 만들기 때문에 어울리지 않습니다.</a:t>
            </a:r>
          </a:p>
          <a:p xmlns:a="http://schemas.openxmlformats.org/drawingml/2006/main">
            <a:r>
              <a:t>② 와 (O) - 사과와 배라는 두 대상을 대등하게 나열하는 접속 조사로, 문장의 목적어 자리에 잘 들어맞습니다.</a:t>
            </a:r>
          </a:p>
          <a:p xmlns:a="http://schemas.openxmlformats.org/drawingml/2006/main">
            <a:r>
              <a:t>③ 를 (X) - 목적격 조사로, 이미 뒤에 '배를' 목적격 조사가 결합해 있으므로 명사와 명사를 대등하게 이어줄 수 없습니다.</a:t>
            </a:r>
          </a:p>
          <a:p xmlns:a="http://schemas.openxmlformats.org/drawingml/2006/main">
            <a:r>
              <a:t>④ 로 (X) - 도구나 수단, 방향을 나타내는 부사격 조사로 '사과로 배를 산다'는 의미가 되어 어색합니다.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 topic1 curriculum repository, q1_r2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정답: 3번</a:t>
            </a:r>
          </a:p>
          <a:p xmlns:a="http://schemas.openxmlformats.org/drawingml/2006/main">
            <a:r>
              <a:t>해설: 자전거를 사서 그것을 타는 행위가 '아주 재미있다'고 했고, 주말이 와서 빨리 타고 싶다는 기대감을 표현하고 있으므로, 글쓴이의 중심 생각은 **자전거 타는 것이 즐겁다**는 내용인 ③번이 확실합니다.</a:t>
            </a:r>
          </a:p>
          <a:p xmlns:a="http://schemas.openxmlformats.org/drawingml/2006/main">
            <a:r>
              <a:t>보기 해설:</a:t>
            </a:r>
          </a:p>
          <a:p xmlns:a="http://schemas.openxmlformats.org/drawingml/2006/main">
            <a:r>
              <a:t>① 자전거를 타고 출근합니다 (X) - 목적지가 공원이므로 틀립니다.</a:t>
            </a:r>
          </a:p>
          <a:p xmlns:a="http://schemas.openxmlformats.org/drawingml/2006/main">
            <a:r>
              <a:t>② 자전거를 사고 싶습니다 (X) - 어제 새로 샀으므로 희망사항과 반대됩니다.</a:t>
            </a:r>
          </a:p>
          <a:p xmlns:a="http://schemas.openxmlformats.org/drawingml/2006/main">
            <a:r>
              <a:t>③ 자전거 타는 것이 즐겁습니다 (O) - 자전거를 타는 일이 재미있다는 서술과 완벽히 호환됩니다.</a:t>
            </a:r>
          </a:p>
          <a:p xmlns:a="http://schemas.openxmlformats.org/drawingml/2006/main">
            <a:r>
              <a:t>④ 주말마다 너무 바쁩니다 (X) - 주말을 대기하며 타고 싶어 할 뿐 바쁘다는 얘기가 아닙니다.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 topic1 curriculum repository, q3_r1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정답: 3번</a:t>
            </a:r>
          </a:p>
          <a:p xmlns:a="http://schemas.openxmlformats.org/drawingml/2006/main">
            <a:r>
              <a:t>해설: 글의 마지막 문장인 '주말에는 다른 동네 사람들도 우리 동네 산에 많이 찾아옵니다'를 통해 주말에 외부 사람들이 동네 산을 찾는다는 것을 유추할 수 있습니다. 따라서 정답은 ③번입니다.</a:t>
            </a:r>
          </a:p>
          <a:p xmlns:a="http://schemas.openxmlformats.org/drawingml/2006/main">
            <a:r>
              <a:t>보기 해설:</a:t>
            </a:r>
          </a:p>
          <a:p xmlns:a="http://schemas.openxmlformats.org/drawingml/2006/main">
            <a:r>
              <a:t>① 시끄럽습니다 (X) - 동네가 아주 조용하다고 진술했습니다.</a:t>
            </a:r>
          </a:p>
          <a:p xmlns:a="http://schemas.openxmlformats.org/drawingml/2006/main">
            <a:r>
              <a:t>② 산이 전혀 없습니다 (X) - 근처에 큰 산이 있다고 말했습니다.</a:t>
            </a:r>
          </a:p>
          <a:p xmlns:a="http://schemas.openxmlformats.org/drawingml/2006/main">
            <a:r>
              <a:t>③ 주말에 사람들이 우리 동네 산에 옵니다 (O) - 타지 사람들이 산에 찾아온다는 마지막 대목과 일치합니다.</a:t>
            </a:r>
          </a:p>
          <a:p xmlns:a="http://schemas.openxmlformats.org/drawingml/2006/main">
            <a:r>
              <a:t>④ 다른 동네로 갑니다 (X) - 자신이 타 동네로 등산하러 원정을 간다는 묘사가 아닙니다.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 topic1 curriculum repository, q3_r2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정답: 1번</a:t>
            </a:r>
          </a:p>
          <a:p xmlns:a="http://schemas.openxmlformats.org/drawingml/2006/main">
            <a:r>
              <a:t>해설: 그림은 넓은 운동장이 있는 학교 전경을 묘사하고 있으므로, 학교 내 활동 상황인 ①번이 정답입니다.</a:t>
            </a:r>
          </a:p>
          <a:p xmlns:a="http://schemas.openxmlformats.org/drawingml/2006/main">
            <a:r>
              <a:t>보기 해설:</a:t>
            </a:r>
          </a:p>
          <a:p xmlns:a="http://schemas.openxmlformats.org/drawingml/2006/main">
            <a:r>
              <a:t>① 학교에서 수업을 듣습니다 (O) - 학교라는 특수 공간에서 일어나는 통상 활동에 완벽히 정합합니다.</a:t>
            </a:r>
          </a:p>
          <a:p xmlns:a="http://schemas.openxmlformats.org/drawingml/2006/main">
            <a:r>
              <a:t>② 영화관에서 팝콘을 먹습니다 (X) - 상영관의 정경이 아닙니다.</a:t>
            </a:r>
          </a:p>
          <a:p xmlns:a="http://schemas.openxmlformats.org/drawingml/2006/main">
            <a:r>
              <a:t>③ 병원에서 진료를 대기합니다 (X) - 환자 대기실 정경과 거리가 멉니다.</a:t>
            </a:r>
          </a:p>
          <a:p xmlns:a="http://schemas.openxmlformats.org/drawingml/2006/main">
            <a:r>
              <a:t>④ 은행에서 카드를 만듭니다 (X) - 금융 창구 데스크 묘사가 아닙니다.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 topic1 curriculum repository, q3_r3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정답: 2번</a:t>
            </a:r>
          </a:p>
          <a:p xmlns:a="http://schemas.openxmlformats.org/drawingml/2006/main">
            <a:r>
              <a:t>해설: 회사에 가지 않고 집에서 쉬는 이유가 뒤이어 나오는 인과적 어미인 **이라서**(주말이기 때문에)가 결합해야 자연스럽습니다.</a:t>
            </a:r>
          </a:p>
          <a:p xmlns:a="http://schemas.openxmlformats.org/drawingml/2006/main">
            <a:r>
              <a:t>보기 해설:</a:t>
            </a:r>
          </a:p>
          <a:p xmlns:a="http://schemas.openxmlformats.org/drawingml/2006/main">
            <a:r>
              <a:t>① 이어서 (X) - 행동이나 상태가 이어진다는 뜻이므로 인과성에 어긋납니다.</a:t>
            </a:r>
          </a:p>
          <a:p xmlns:a="http://schemas.openxmlformats.org/drawingml/2006/main">
            <a:r>
              <a:t>② 이라서 (O) - 주말이라는 조건이 원인이 되어 쉰다는 표현이 매끄럽습니다.</a:t>
            </a:r>
          </a:p>
          <a:p xmlns:a="http://schemas.openxmlformats.org/drawingml/2006/main">
            <a:r>
              <a:t>③ 이거나 (X) - 대상을 선택 나열하는 어미입니다.</a:t>
            </a:r>
          </a:p>
          <a:p xmlns:a="http://schemas.openxmlformats.org/drawingml/2006/main">
            <a:r>
              <a:t>④ 이지만 (X) - 양보/대조의 어미로 '회사에 간다'는 문장과 결합해야 합니다.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 topic1 curriculum repository, q3_r4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정답: 1번</a:t>
            </a:r>
          </a:p>
          <a:p xmlns:a="http://schemas.openxmlformats.org/drawingml/2006/main">
            <a:r>
              <a:t>해설: 글쓴이가 오늘 오후에 동네 카페에 방문하여 독서를 할 생각이라고 계획을 밝혔으므로, ①번 '저는 오늘 동네 카페에 갈 계획이다'가 완벽하게 일치합니다.</a:t>
            </a:r>
          </a:p>
          <a:p xmlns:a="http://schemas.openxmlformats.org/drawingml/2006/main">
            <a:r>
              <a:t>보기 해설:</a:t>
            </a:r>
          </a:p>
          <a:p xmlns:a="http://schemas.openxmlformats.org/drawingml/2006/main">
            <a:r>
              <a:t>① 오늘 동네 카페에 갈 계획입니다 (O) - 오늘 오후 독서 방문 계획 서술과 확실히 호환됩니다.</a:t>
            </a:r>
          </a:p>
          <a:p xmlns:a="http://schemas.openxmlformats.org/drawingml/2006/main">
            <a:r>
              <a:t>② 커피가 맛이 없습니다 (X) - '커피 맛도 정말 훌륭하다'고 극찬했으므로 모순됩니다.</a:t>
            </a:r>
          </a:p>
          <a:p xmlns:a="http://schemas.openxmlformats.org/drawingml/2006/main">
            <a:r>
              <a:t>③ 카페에서 친구를 만납니다 (X) - 친구에 관한 약속 진술은 없습니다.</a:t>
            </a:r>
          </a:p>
          <a:p xmlns:a="http://schemas.openxmlformats.org/drawingml/2006/main">
            <a:r>
              <a:t>④ 가격이 너무 비쌉니다 (X) - 가격 정보는 글 속에 명시되어 있지 않습니다.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 topic1 curriculum repository, q3_r5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정답: 2번</a:t>
            </a:r>
          </a:p>
          <a:p xmlns:a="http://schemas.openxmlformats.org/drawingml/2006/main">
            <a:r>
              <a:t>해설: 남자가 '주말에 뭐 할 거예요?'라며 미래 계획을 물어보았으므로, 자신의 주말 예정 활동을 '~을 거예요' 시제로 답하는 '집에서 책을 읽을 거예요.'(②)가 유일하게 알맞은 대답입니다.</a:t>
            </a:r>
          </a:p>
          <a:p xmlns:a="http://schemas.openxmlformats.org/drawingml/2006/main">
            <a:r>
              <a:t>듣기 대본:</a:t>
            </a:r>
          </a:p>
          <a:p xmlns:a="http://schemas.openxmlformats.org/drawingml/2006/main">
            <a:r>
              <a:t>남: 수진 씨, 이번 주말에 뭐 할 거예요?</a:t>
            </a:r>
          </a:p>
          <a:p xmlns:a="http://schemas.openxmlformats.org/drawingml/2006/main">
            <a:r>
              <a:t>보기 해설:</a:t>
            </a:r>
          </a:p>
          <a:p xmlns:a="http://schemas.openxmlformats.org/drawingml/2006/main">
            <a:r>
              <a:t>① 좋았어요 (X) - 과거 시제 서술이므로 미래 계획 대답으로 안 맞습니다.</a:t>
            </a:r>
          </a:p>
          <a:p xmlns:a="http://schemas.openxmlformats.org/drawingml/2006/main">
            <a:r>
              <a:t>② 책을 읽을 거예요 (O) - 미래에 계획하는 행동을 자연스럽게 답변하는 격조입니다.</a:t>
            </a:r>
          </a:p>
          <a:p xmlns:a="http://schemas.openxmlformats.org/drawingml/2006/main">
            <a:r>
              <a:t>③ 영화를 봤어요 (X) - 과거 행동을 나타내므로 시제가 어긋납니다.</a:t>
            </a:r>
          </a:p>
          <a:p xmlns:a="http://schemas.openxmlformats.org/drawingml/2006/main">
            <a:r>
              <a:t>④ 아주 멀어요 (X) - 거리 정보 설명은 주말 계획과 무관합니다.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 topic1 curriculum repository, q3_l1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정답: 1번</a:t>
            </a:r>
          </a:p>
          <a:p xmlns:a="http://schemas.openxmlformats.org/drawingml/2006/main">
            <a:r>
              <a:t>해설: 갑자기 비가 내리기 시작해 두 사람 모두 우산이 없는 상태입니다. 여자가 편의점에 우산을 사러 같이 가자고 제안했고 남자가 이에 수락했으므로 대화 직후 두 사람의 행동은 **우산을 사러 편의점에 가는 것**이 확실합니다. 따라서 정답은 ①번입니다.</a:t>
            </a:r>
          </a:p>
          <a:p xmlns:a="http://schemas.openxmlformats.org/drawingml/2006/main">
            <a:r>
              <a:t>듣기 대본:</a:t>
            </a:r>
          </a:p>
          <a:p xmlns:a="http://schemas.openxmlformats.org/drawingml/2006/main">
            <a:r>
              <a:t>여: 민수 씨, 지금 밖에 비가 많이 와요. 혹시 우산이 있어요?</a:t>
            </a:r>
          </a:p>
          <a:p xmlns:a="http://schemas.openxmlformats.org/drawingml/2006/main">
            <a:r>
              <a:t>남: 아니요, 안 가져왔어요. 수진 씨는 우산이 있어요?</a:t>
            </a:r>
          </a:p>
          <a:p xmlns:a="http://schemas.openxmlformats.org/drawingml/2006/main">
            <a:r>
              <a:t>여: 저도 없어요. 그럼 우리 아래층 편의점에 가서 우산을 같이 사요.</a:t>
            </a:r>
          </a:p>
          <a:p xmlns:a="http://schemas.openxmlformats.org/drawingml/2006/main">
            <a:r>
              <a:t>남: 네, 좋아요. 지금 같이 내려가요.</a:t>
            </a:r>
          </a:p>
          <a:p xmlns:a="http://schemas.openxmlformats.org/drawingml/2006/main">
            <a:r>
              <a:t>보기 해설:</a:t>
            </a:r>
          </a:p>
          <a:p xmlns:a="http://schemas.openxmlformats.org/drawingml/2006/main">
            <a:r>
              <a:t>① 편의점에 우산을 사러 갑니다 (O) - 대화 마무리 단계에서 약속한 내용에 정확히 부합합니다.</a:t>
            </a:r>
          </a:p>
          <a:p xmlns:a="http://schemas.openxmlformats.org/drawingml/2006/main">
            <a:r>
              <a:t>② 공원에 가서 운동을 합니다 (X) - 비가 쏟아지고 있으므로 어색합니다.</a:t>
            </a:r>
          </a:p>
          <a:p xmlns:a="http://schemas.openxmlformats.org/drawingml/2006/main">
            <a:r>
              <a:t>③ 도서관에서 책을 빌립니다 (X) - 독서 활동 제안은 들리지 않습니다.</a:t>
            </a:r>
          </a:p>
          <a:p xmlns:a="http://schemas.openxmlformats.org/drawingml/2006/main">
            <a:r>
              <a:t>④ 우산을 빌려줍니다 (X) - 둘 다 우산이 없어 사러 가는 판이므로 불가합니다.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 topic1 curriculum repository, q3_l2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정답: 1번</a:t>
            </a:r>
          </a:p>
          <a:p xmlns:a="http://schemas.openxmlformats.org/drawingml/2006/main">
            <a:r>
              <a:t>해설: 남자가 같이 도서관에 가자고 제안(갈래요?)했으므로 수락하며 시간과 장소를 약속하는 ①번이 가장 적절합니다.</a:t>
            </a:r>
          </a:p>
          <a:p xmlns:a="http://schemas.openxmlformats.org/drawingml/2006/main">
            <a:r>
              <a:t>듣기 대본:</a:t>
            </a:r>
          </a:p>
          <a:p xmlns:a="http://schemas.openxmlformats.org/drawingml/2006/main">
            <a:r>
              <a:t>남: 수진 씨, 내일 아침에 도서관에 공부하러 같이 갈래요?</a:t>
            </a:r>
          </a:p>
          <a:p xmlns:a="http://schemas.openxmlformats.org/drawingml/2006/main">
            <a:r>
              <a:t>보기 해설:</a:t>
            </a:r>
          </a:p>
          <a:p xmlns:a="http://schemas.openxmlformats.org/drawingml/2006/main">
            <a:r>
              <a:t>① 좋아요. 아침 여덟 시에 만나요 (O) - 제안을 흔쾌히 수락하고 약속 세부 정보를 확정하는 대화입니다.</a:t>
            </a:r>
          </a:p>
          <a:p xmlns:a="http://schemas.openxmlformats.org/drawingml/2006/main">
            <a:r>
              <a:t>② 책이 많이 꽂혀 있어요 (X) - 도서관의 시설 현황을 설명하는 엉뚱한 대답입니다.</a:t>
            </a:r>
          </a:p>
          <a:p xmlns:a="http://schemas.openxmlformats.org/drawingml/2006/main">
            <a:r>
              <a:t>③ 도서관은 멀어요 (X) - 제안에 거절하는 어조로 '네'로 동의하며 멀다고 하는 모순된 문장입니다.</a:t>
            </a:r>
          </a:p>
          <a:p xmlns:a="http://schemas.openxmlformats.org/drawingml/2006/main">
            <a:r>
              <a:t>④ 오늘 소설책을 다 읽었습니다 (X) - 도서관 학습 제안의 논지와 매칭이 안 됩니다.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 topic1 curriculum repository, q3_l3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정답: 3번</a:t>
            </a:r>
          </a:p>
          <a:p xmlns:a="http://schemas.openxmlformats.org/drawingml/2006/main">
            <a:r>
              <a:t>해설: 승무원과 승객이 대화를 나누며 가방 적재를 안내하고 있고, '기차가 출발한다'고 하였으므로 **기차 안**이 확실합니다.</a:t>
            </a:r>
          </a:p>
          <a:p xmlns:a="http://schemas.openxmlformats.org/drawingml/2006/main">
            <a:r>
              <a:t>듣기 대본:</a:t>
            </a:r>
          </a:p>
          <a:p xmlns:a="http://schemas.openxmlformats.org/drawingml/2006/main">
            <a:r>
              <a:t>여: 승무원님, 이 가방을 통로 쪽에 놓아도 괜찮을까요?</a:t>
            </a:r>
          </a:p>
          <a:p xmlns:a="http://schemas.openxmlformats.org/drawingml/2006/main">
            <a:r>
              <a:t>남: 아니요, 승객님. 통로는 위험하니 머리 위 선반에 올리시거나 안고 타셔야 합니다. 기차가 곧 출발합니다.</a:t>
            </a:r>
          </a:p>
          <a:p xmlns:a="http://schemas.openxmlformats.org/drawingml/2006/main">
            <a:r>
              <a:t>보기 해설:</a:t>
            </a:r>
          </a:p>
          <a:p xmlns:a="http://schemas.openxmlformats.org/drawingml/2006/main">
            <a:r>
              <a:t>① 병원 (X) - 환자 및 진료 행위가 들리지 않습니다.</a:t>
            </a:r>
          </a:p>
          <a:p xmlns:a="http://schemas.openxmlformats.org/drawingml/2006/main">
            <a:r>
              <a:t>② 약국 (X) - 복약 지도 상황이 아닙니다.</a:t>
            </a:r>
          </a:p>
          <a:p xmlns:a="http://schemas.openxmlformats.org/drawingml/2006/main">
            <a:r>
              <a:t>③ 기차 안 (O) - 출발을 앞둔 기차 객실 정황과 안내 멘트가 완벽히 증명됩니다.</a:t>
            </a:r>
          </a:p>
          <a:p xmlns:a="http://schemas.openxmlformats.org/drawingml/2006/main">
            <a:r>
              <a:t>④ 서점 (X) - 도서 검색 및 판매 상황이 아닙니다.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 topic1 curriculum repository, q3_l4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정답: 2번</a:t>
            </a:r>
          </a:p>
          <a:p xmlns:a="http://schemas.openxmlformats.org/drawingml/2006/main">
            <a:r>
              <a:t>해설: 비가 오면 등산로가 미끄러워 취소하는 대신, 주말 일정을 미술관 관람으로 변경하자는 남자의 제안이 있으므로 ②번이 확실한 일치 진술입니다.</a:t>
            </a:r>
          </a:p>
          <a:p xmlns:a="http://schemas.openxmlformats.org/drawingml/2006/main">
            <a:r>
              <a:t>듣기 대본:</a:t>
            </a:r>
          </a:p>
          <a:p xmlns:a="http://schemas.openxmlformats.org/drawingml/2006/main">
            <a:r>
              <a:t>여: 민수 씨, 내일 비가 오면 등산 약속을 미뤄야 할까요?</a:t>
            </a:r>
          </a:p>
          <a:p xmlns:a="http://schemas.openxmlformats.org/drawingml/2006/main">
            <a:r>
              <a:t>남: 네, 산길이 미끄러우니 위험해요. 대신 주말 약속을 미술관 관람으로 변경해요.</a:t>
            </a:r>
          </a:p>
          <a:p xmlns:a="http://schemas.openxmlformats.org/drawingml/2006/main">
            <a:r>
              <a:t>보기 해설:</a:t>
            </a:r>
          </a:p>
          <a:p xmlns:a="http://schemas.openxmlformats.org/drawingml/2006/main">
            <a:r>
              <a:t>① 등산을 강행할 것입니다 (X) - 위험하기 때문에 미루고 변경하자고 하였습니다.</a:t>
            </a:r>
          </a:p>
          <a:p xmlns:a="http://schemas.openxmlformats.org/drawingml/2006/main">
            <a:r>
              <a:t>② 비가 오면 미술관에 가기로 약속을 변경합니다 (O) - 대화 속 제안 사실과 완벽하게 부합합니다.</a:t>
            </a:r>
          </a:p>
          <a:p xmlns:a="http://schemas.openxmlformats.org/drawingml/2006/main">
            <a:r>
              <a:t>③ 도서관에서 만납니다 (X) - 변경 목적지는 도서관이 아닌 미술관입니다.</a:t>
            </a:r>
          </a:p>
          <a:p xmlns:a="http://schemas.openxmlformats.org/drawingml/2006/main">
            <a:r>
              <a:t>④ 비가 오지 않기를 바라고 있습니다 (X) - 기상 예측에 대한 심리적 서술은 없습니다.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 topic1 curriculum repository, q3_l5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정답: 3번</a:t>
            </a:r>
          </a:p>
          <a:p xmlns:a="http://schemas.openxmlformats.org/drawingml/2006/main">
            <a:r>
              <a:t>해설: 일정표에 오후 4시 도서관 방문이 적혀 있으므로 정답은 ③번입니다.</a:t>
            </a:r>
          </a:p>
          <a:p xmlns:a="http://schemas.openxmlformats.org/drawingml/2006/main">
            <a:r>
              <a:t>보기 해설:</a:t>
            </a:r>
          </a:p>
          <a:p xmlns:a="http://schemas.openxmlformats.org/drawingml/2006/main">
            <a:r>
              <a:t>① 아침에 도서관에 갑니다 (X) - 아침에는 병원에 갑니다.</a:t>
            </a:r>
          </a:p>
          <a:p xmlns:a="http://schemas.openxmlformats.org/drawingml/2006/main">
            <a:r>
              <a:t>② 점심 후 병원에 갑니다 (X) - 병원은 오전 일정입니다.</a:t>
            </a:r>
          </a:p>
          <a:p xmlns:a="http://schemas.openxmlformats.org/drawingml/2006/main">
            <a:r>
              <a:t>③ 오후 네 시에 도서관에 갑니다 (O) - 일정표의 내용과 같습니다.</a:t>
            </a:r>
          </a:p>
          <a:p xmlns:a="http://schemas.openxmlformats.org/drawingml/2006/main">
            <a:r>
              <a:t>④ 약속이 없습니다 (X) - 오후 1시에 점심 약속이 있습니다.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 topic1 curriculum repository, q3_r6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정답: 2번</a:t>
            </a:r>
          </a:p>
          <a:p xmlns:a="http://schemas.openxmlformats.org/drawingml/2006/main">
            <a:r>
              <a:t>해설: 남자는 친구 생일을 맞아 내일 저녁에 친구와 함께 식사할 계획입니다.</a:t>
            </a:r>
          </a:p>
          <a:p xmlns:a="http://schemas.openxmlformats.org/drawingml/2006/main">
            <a:r>
              <a:t>듣기 대본:</a:t>
            </a:r>
          </a:p>
          <a:p xmlns:a="http://schemas.openxmlformats.org/drawingml/2006/main">
            <a:r>
              <a:t>여: 내일 회사가 끝난 후에 뭐 할 거예요?</a:t>
            </a:r>
          </a:p>
          <a:p xmlns:a="http://schemas.openxmlformats.org/drawingml/2006/main">
            <a:r>
              <a:t>남: 친구 생일이라서 저녁에 같이 밥을 먹을 거예요.</a:t>
            </a:r>
          </a:p>
          <a:p xmlns:a="http://schemas.openxmlformats.org/drawingml/2006/main">
            <a:r>
              <a:t>보기 해설:</a:t>
            </a:r>
          </a:p>
          <a:p xmlns:a="http://schemas.openxmlformats.org/drawingml/2006/main">
            <a:r>
              <a:t>① 야근합니다 (X) - 회사가 끝난 후의 계획을 말하고 있습니다.</a:t>
            </a:r>
          </a:p>
          <a:p xmlns:a="http://schemas.openxmlformats.org/drawingml/2006/main">
            <a:r>
              <a:t>② 친구와 저녁을 먹습니다 (O) - 남자가 말한 내일 계획과 같습니다.</a:t>
            </a:r>
          </a:p>
          <a:p xmlns:a="http://schemas.openxmlformats.org/drawingml/2006/main">
            <a:r>
              <a:t>③ 집에서 쉽니다 (X) - 친구를 만날 예정입니다.</a:t>
            </a:r>
          </a:p>
          <a:p xmlns:a="http://schemas.openxmlformats.org/drawingml/2006/main">
            <a:r>
              <a:t>④ 책을 빌립니다 (X) - 책에 대한 언급이 없습니다.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 topic1 curriculum repository, q3_l6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정답: 3번</a:t>
            </a:r>
          </a:p>
          <a:p xmlns:a="http://schemas.openxmlformats.org/drawingml/2006/main">
            <a:r>
              <a:t>해설: 오전에 비가 많이 온다는 예보 때문에 만나는 시간을 오후 3시로 변경했습니다.</a:t>
            </a:r>
          </a:p>
          <a:p xmlns:a="http://schemas.openxmlformats.org/drawingml/2006/main">
            <a:r>
              <a:t>듣기 대본:</a:t>
            </a:r>
          </a:p>
          <a:p xmlns:a="http://schemas.openxmlformats.org/drawingml/2006/main">
            <a:r>
              <a:t>남: 내일 오전에 공원에서 만날까요?</a:t>
            </a:r>
          </a:p>
          <a:p xmlns:a="http://schemas.openxmlformats.org/drawingml/2006/main">
            <a:r>
              <a:t>여: 오전에는 비가 많이 온대요. 비가 그치는 오후 세 시에 만나요.</a:t>
            </a:r>
          </a:p>
          <a:p xmlns:a="http://schemas.openxmlformats.org/drawingml/2006/main">
            <a:r>
              <a:t>보기 해설:</a:t>
            </a:r>
          </a:p>
          <a:p xmlns:a="http://schemas.openxmlformats.org/drawingml/2006/main">
            <a:r>
              <a:t>① 여자가 아파서 (X) - 건강 상태에 대한 말이 없습니다.</a:t>
            </a:r>
          </a:p>
          <a:p xmlns:a="http://schemas.openxmlformats.org/drawingml/2006/main">
            <a:r>
              <a:t>② 공원이 문을 닫아서 (X) - 공원 운영 시간은 언급되지 않았습니다.</a:t>
            </a:r>
          </a:p>
          <a:p xmlns:a="http://schemas.openxmlformats.org/drawingml/2006/main">
            <a:r>
              <a:t>③ 오전에 비가 와서 (O) - 약속 시간을 바꾼 직접적인 이유입니다.</a:t>
            </a:r>
          </a:p>
          <a:p xmlns:a="http://schemas.openxmlformats.org/drawingml/2006/main">
            <a:r>
              <a:t>④ 남자가 바빠서 (X) - 남자의 일정 문제는 나오지 않습니다.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 topic1 curriculum repository, q3_l7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8959c4b2cbd4f78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d7e75a88122443e8" /><Relationship Type="http://schemas.openxmlformats.org/officeDocument/2006/relationships/slideLayout" Target="/ppt/slideLayouts/slideLayout1.xml" Id="R81f51cf931c54aac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81f51cf931c54aac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d5fe2d5536b46c1" /><Relationship Type="http://schemas.openxmlformats.org/officeDocument/2006/relationships/notesSlide" Target="/ppt/notesSlides/notesSlide1.xml" Id="Rdb603c5d1a6f400e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054dd261491407e" /><Relationship Type="http://schemas.openxmlformats.org/officeDocument/2006/relationships/notesSlide" Target="/ppt/notesSlides/notesSlide2.xml" Id="Rf60735b3ed6d4898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a3ea9d7523a4598" /><Relationship Type="http://schemas.openxmlformats.org/officeDocument/2006/relationships/notesSlide" Target="/ppt/notesSlides/notesSlide3.xml" Id="R8d6a9b0ae9074911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41fdf014d7f4a22" /><Relationship Type="http://schemas.openxmlformats.org/officeDocument/2006/relationships/notesSlide" Target="/ppt/notesSlides/notesSlide4.xml" Id="R9758adadd03440b8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65c4828c06b4511" /><Relationship Type="http://schemas.openxmlformats.org/officeDocument/2006/relationships/image" Target="/ppt/media/image.jpeg" Id="Rc232929abd3d421f" /><Relationship Type="http://schemas.openxmlformats.org/officeDocument/2006/relationships/notesSlide" Target="/ppt/notesSlides/notesSlide5.xml" Id="Rdadff9a08a1e4930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703b3d69a004b1e" /><Relationship Type="http://schemas.openxmlformats.org/officeDocument/2006/relationships/notesSlide" Target="/ppt/notesSlides/notesSlide6.xml" Id="R384dae67cbaa4005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bccbac504534d5a" /><Relationship Type="http://schemas.openxmlformats.org/officeDocument/2006/relationships/image" Target="/ppt/media/image2.jpeg" Id="R14db4ed682664b8d" /><Relationship Type="http://schemas.openxmlformats.org/officeDocument/2006/relationships/notesSlide" Target="/ppt/notesSlides/notesSlide7.xml" Id="R41d263afce454af0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8a271411ecc4e16" /><Relationship Type="http://schemas.openxmlformats.org/officeDocument/2006/relationships/notesSlide" Target="/ppt/notesSlides/notesSlide8.xml" Id="R73965c4309334486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59ee4bafe7d4f4a" /><Relationship Type="http://schemas.openxmlformats.org/officeDocument/2006/relationships/notesSlide" Target="/ppt/notesSlides/notesSlide9.xml" Id="R76e26ac5adcc4ae6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fc85f655a8a48d9" /><Relationship Type="http://schemas.openxmlformats.org/officeDocument/2006/relationships/image" Target="/ppt/media/image3.jpeg" Id="Ra05644de1cad434c" /><Relationship Type="http://schemas.openxmlformats.org/officeDocument/2006/relationships/notesSlide" Target="/ppt/notesSlides/notesSlide10.xml" Id="Rf0169c84de1d4588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5c0b506a7d84b57" /><Relationship Type="http://schemas.openxmlformats.org/officeDocument/2006/relationships/notesSlide" Target="/ppt/notesSlides/notesSlide11.xml" Id="R0bee7c7ee0d141a6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2506c41db26425b" /><Relationship Type="http://schemas.openxmlformats.org/officeDocument/2006/relationships/notesSlide" Target="/ppt/notesSlides/notesSlide12.xml" Id="Rb20d0fb83b7a4846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db7789591554115" /><Relationship Type="http://schemas.openxmlformats.org/officeDocument/2006/relationships/notesSlide" Target="/ppt/notesSlides/notesSlide13.xml" Id="Rb814e81eb24343db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6a54f95f2c8489f" /><Relationship Type="http://schemas.openxmlformats.org/officeDocument/2006/relationships/notesSlide" Target="/ppt/notesSlides/notesSlide14.xml" Id="R4452b855870044a7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87881d66abc45e6" /><Relationship Type="http://schemas.openxmlformats.org/officeDocument/2006/relationships/notesSlide" Target="/ppt/notesSlides/notesSlide15.xml" Id="R0d215e1853734a29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46231dd97e944a6" /><Relationship Type="http://schemas.openxmlformats.org/officeDocument/2006/relationships/notesSlide" Target="/ppt/notesSlides/notesSlide16.xml" Id="R4e2ba79bc981424b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1be780708a64ed9" /><Relationship Type="http://schemas.openxmlformats.org/officeDocument/2006/relationships/notesSlide" Target="/ppt/notesSlides/notesSlide17.xml" Id="Rb5d880b368c24992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921fde190a84ea6" /><Relationship Type="http://schemas.openxmlformats.org/officeDocument/2006/relationships/notesSlide" Target="/ppt/notesSlides/notesSlide18.xml" Id="Ra52628dd171248e4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8de4511ef88431f" /><Relationship Type="http://schemas.openxmlformats.org/officeDocument/2006/relationships/notesSlide" Target="/ppt/notesSlides/notesSlide19.xml" Id="Re26a143c2f434d80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1651be1c1ce4f6b" /><Relationship Type="http://schemas.openxmlformats.org/officeDocument/2006/relationships/notesSlide" Target="/ppt/notesSlides/notesSlide20.xml" Id="R758c86ff80364f70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bf3aad254f043d0" /><Relationship Type="http://schemas.openxmlformats.org/officeDocument/2006/relationships/notesSlide" Target="/ppt/notesSlides/notesSlide21.xml" Id="Re9ad078e44734611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94947a7f28142d0" /><Relationship Type="http://schemas.openxmlformats.org/officeDocument/2006/relationships/notesSlide" Target="/ppt/notesSlides/notesSlide22.xml" Id="R6fbf7a6f03434560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9a7b4cf749a4005" /><Relationship Type="http://schemas.openxmlformats.org/officeDocument/2006/relationships/notesSlide" Target="/ppt/notesSlides/notesSlide23.xml" Id="R730b0a7db1664d70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cb4a823966d452b" /><Relationship Type="http://schemas.openxmlformats.org/officeDocument/2006/relationships/image" Target="/ppt/media/image4.jpeg" Id="Rae934ae4bb6b4727" /><Relationship Type="http://schemas.openxmlformats.org/officeDocument/2006/relationships/notesSlide" Target="/ppt/notesSlides/notesSlide24.xml" Id="Rc9593e8f1c304cce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aafa7cf544340b6" /><Relationship Type="http://schemas.openxmlformats.org/officeDocument/2006/relationships/notesSlide" Target="/ppt/notesSlides/notesSlide25.xml" Id="Rf55cee969dcf45e5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e27ab8163554939" /><Relationship Type="http://schemas.openxmlformats.org/officeDocument/2006/relationships/notesSlide" Target="/ppt/notesSlides/notesSlide26.xml" Id="R17ebdf43c291421e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ec04a66aeb744b5" /><Relationship Type="http://schemas.openxmlformats.org/officeDocument/2006/relationships/notesSlide" Target="/ppt/notesSlides/notesSlide27.xml" Id="R8a4600dd09434fef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28c3427ac0e4a2a" /><Relationship Type="http://schemas.openxmlformats.org/officeDocument/2006/relationships/notesSlide" Target="/ppt/notesSlides/notesSlide28.xml" Id="Rd939467f0b754480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95127aa7c3848c4" /><Relationship Type="http://schemas.openxmlformats.org/officeDocument/2006/relationships/notesSlide" Target="/ppt/notesSlides/notesSlide29.xml" Id="R917dea53178e4b53" /></Relationships>
</file>

<file path=ppt/slides/_rels/slide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8e6867410f84fe9" /><Relationship Type="http://schemas.openxmlformats.org/officeDocument/2006/relationships/notesSlide" Target="/ppt/notesSlides/notesSlide30.xml" Id="R05c884d68a9c48a1" /></Relationships>
</file>

<file path=ppt/slides/_rels/slide3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0ec2dfa3a6b4b8d" /><Relationship Type="http://schemas.openxmlformats.org/officeDocument/2006/relationships/notesSlide" Target="/ppt/notesSlides/notesSlide31.xml" Id="R260940c557f444bb" /></Relationships>
</file>

<file path=ppt/slides/_rels/slide3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88c50d25f684c60" /><Relationship Type="http://schemas.openxmlformats.org/officeDocument/2006/relationships/notesSlide" Target="/ppt/notesSlides/notesSlide32.xml" Id="R9633db2c3eb3480c" /></Relationships>
</file>

<file path=ppt/slides/_rels/slide3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8f32a9fa017408b" /><Relationship Type="http://schemas.openxmlformats.org/officeDocument/2006/relationships/notesSlide" Target="/ppt/notesSlides/notesSlide33.xml" Id="Re3166610a63f4896" /></Relationships>
</file>

<file path=ppt/slides/_rels/slide3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43db6a62de244ab" /><Relationship Type="http://schemas.openxmlformats.org/officeDocument/2006/relationships/notesSlide" Target="/ppt/notesSlides/notesSlide34.xml" Id="R9112b68626da4c54" /></Relationships>
</file>

<file path=ppt/slides/_rels/slide3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9525ed537354b6d" /><Relationship Type="http://schemas.openxmlformats.org/officeDocument/2006/relationships/notesSlide" Target="/ppt/notesSlides/notesSlide35.xml" Id="R616317f3e90247ec" /></Relationships>
</file>

<file path=ppt/slides/_rels/slide3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093d73598ae4e7d" /><Relationship Type="http://schemas.openxmlformats.org/officeDocument/2006/relationships/notesSlide" Target="/ppt/notesSlides/notesSlide36.xml" Id="R1ddf97aa700d4e39" /></Relationships>
</file>

<file path=ppt/slides/_rels/slide3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0942d328f694bd1" /><Relationship Type="http://schemas.openxmlformats.org/officeDocument/2006/relationships/notesSlide" Target="/ppt/notesSlides/notesSlide37.xml" Id="R2ab4724d54344b42" /></Relationships>
</file>

<file path=ppt/slides/_rels/slide3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31533ac5f6641ee" /><Relationship Type="http://schemas.openxmlformats.org/officeDocument/2006/relationships/notesSlide" Target="/ppt/notesSlides/notesSlide38.xml" Id="R8f057ffa95644199" /></Relationships>
</file>

<file path=ppt/slides/_rels/slide3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20ced06ffc9418d" /><Relationship Type="http://schemas.openxmlformats.org/officeDocument/2006/relationships/notesSlide" Target="/ppt/notesSlides/notesSlide39.xml" Id="R171b66e9cbdb4e75" /></Relationships>
</file>

<file path=ppt/slides/_rels/slide4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2e341712443414c" /><Relationship Type="http://schemas.openxmlformats.org/officeDocument/2006/relationships/image" Target="/ppt/media/image5.jpeg" Id="R2f95f2ba1f6f444a" /><Relationship Type="http://schemas.openxmlformats.org/officeDocument/2006/relationships/notesSlide" Target="/ppt/notesSlides/notesSlide40.xml" Id="R68a38647e0284c2b" /></Relationships>
</file>

<file path=ppt/slides/_rels/slide4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7be040f235143ea" /><Relationship Type="http://schemas.openxmlformats.org/officeDocument/2006/relationships/notesSlide" Target="/ppt/notesSlides/notesSlide41.xml" Id="R69b341ef1fc5445f" /></Relationships>
</file>

<file path=ppt/slides/_rels/slide4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3ead992d16e406f" /><Relationship Type="http://schemas.openxmlformats.org/officeDocument/2006/relationships/notesSlide" Target="/ppt/notesSlides/notesSlide42.xml" Id="Rc48e24f6763640a5" /></Relationships>
</file>

<file path=ppt/slides/_rels/slide4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2763fc50b724325" /><Relationship Type="http://schemas.openxmlformats.org/officeDocument/2006/relationships/notesSlide" Target="/ppt/notesSlides/notesSlide43.xml" Id="Rb6cce32da3b246b6" /></Relationships>
</file>

<file path=ppt/slides/_rels/slide4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bacb65fc47140dc" /><Relationship Type="http://schemas.openxmlformats.org/officeDocument/2006/relationships/image" Target="/ppt/media/image6.jpeg" Id="R5efb24735adb4a94" /><Relationship Type="http://schemas.openxmlformats.org/officeDocument/2006/relationships/notesSlide" Target="/ppt/notesSlides/notesSlide44.xml" Id="R8ff1d70aa2e8409c" /></Relationships>
</file>

<file path=ppt/slides/_rels/slide4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717d8e0ed30485f" /><Relationship Type="http://schemas.openxmlformats.org/officeDocument/2006/relationships/notesSlide" Target="/ppt/notesSlides/notesSlide45.xml" Id="R0a829d795ead44ab" /></Relationships>
</file>

<file path=ppt/slides/_rels/slide4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45a6e9b7c7d4690" /><Relationship Type="http://schemas.openxmlformats.org/officeDocument/2006/relationships/notesSlide" Target="/ppt/notesSlides/notesSlide46.xml" Id="R6dc01a783f184b12" /></Relationships>
</file>

<file path=ppt/slides/_rels/slide4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fc12fb16b024a13" /><Relationship Type="http://schemas.openxmlformats.org/officeDocument/2006/relationships/notesSlide" Target="/ppt/notesSlides/notesSlide47.xml" Id="R66a86ce5b9104768" /></Relationships>
</file>

<file path=ppt/slides/_rels/slide4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d3d14fc82d14dcf" /><Relationship Type="http://schemas.openxmlformats.org/officeDocument/2006/relationships/notesSlide" Target="/ppt/notesSlides/notesSlide48.xml" Id="Rf60328ad58774d50" /></Relationships>
</file>

<file path=ppt/slides/_rels/slide4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ebabd84f63f478c" /><Relationship Type="http://schemas.openxmlformats.org/officeDocument/2006/relationships/notesSlide" Target="/ppt/notesSlides/notesSlide49.xml" Id="R358b59a7a3e140b4" /></Relationships>
</file>

<file path=ppt/slides/_rels/slide5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a8948aaa2c9465a" /><Relationship Type="http://schemas.openxmlformats.org/officeDocument/2006/relationships/notesSlide" Target="/ppt/notesSlides/notesSlide50.xml" Id="Rbddc9827dea34aad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F17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4BD768D-999E-4058-B7EE-9DBFB21359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B6D4"/>
          </a:solidFill>
          <a:ln xmlns:a="http://schemas.openxmlformats.org/drawingml/2006/main" w="0">
            <a:solidFill>
              <a:srgbClr val="06B6D4"/>
            </a:solidFill>
            <a:prstDash val="solid"/>
          </a:ln>
        </p:spPr>
      </p:sp>
      <p:sp>
        <p:nvSpPr>
          <p:cNvPr id="2" name="deck-kicker">
            <a:extLst xmlns:a="http://schemas.openxmlformats.org/drawingml/2006/main">
              <a:ext uri="{FF2B5EF4-FFF2-40B4-BE49-F238E27FC236}">
                <a16:creationId xmlns:a16="http://schemas.microsoft.com/office/drawing/2014/main" id="{99248C68-05F2-4EC9-9D65-8067AEC5EA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123950"/>
            <a:ext cx="9906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4800" b="1">
                <a:solidFill>
                  <a:srgbClr val="67E8F9"/>
                </a:solidFill>
              </a:defRPr>
            </a:pPr>
            <a:r>
              <a:rPr sz="4800" b="1">
                <a:solidFill>
                  <a:srgbClr val="67E8F9"/>
                </a:solidFill>
              </a:rPr>
              <a:t>TOPIK I</a:t>
            </a:r>
          </a:p>
        </p:txBody>
      </p:sp>
      <p:sp>
        <p:nvSpPr>
          <p:cNvPr id="3" name="deck-title">
            <a:extLst xmlns:a="http://schemas.openxmlformats.org/drawingml/2006/main">
              <a:ext uri="{FF2B5EF4-FFF2-40B4-BE49-F238E27FC236}">
                <a16:creationId xmlns:a16="http://schemas.microsoft.com/office/drawing/2014/main" id="{BC0CA899-1736-4ED2-81F1-B1A935707D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000250"/>
            <a:ext cx="10287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4050" b="1">
                <a:solidFill>
                  <a:srgbClr val="FFFFFF"/>
                </a:solidFill>
              </a:defRPr>
            </a:pPr>
            <a:r>
              <a:rPr sz="4050" b="1">
                <a:solidFill>
                  <a:srgbClr val="FFFFFF"/>
                </a:solidFill>
              </a:rPr>
              <a:t>3회 완성 초고속 특강</a:t>
            </a:r>
          </a:p>
        </p:txBody>
      </p:sp>
      <p:sp>
        <p:nvSpPr>
          <p:cNvPr id="4" name="deck-subtitle">
            <a:extLst xmlns:a="http://schemas.openxmlformats.org/drawingml/2006/main">
              <a:ext uri="{FF2B5EF4-FFF2-40B4-BE49-F238E27FC236}">
                <a16:creationId xmlns:a16="http://schemas.microsoft.com/office/drawing/2014/main" id="{862D5B7C-0E3A-46EA-BA59-3C721F7F97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190875"/>
            <a:ext cx="8572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950">
                <a:solidFill>
                  <a:srgbClr val="CBD5E1"/>
                </a:solidFill>
              </a:defRPr>
            </a:pPr>
            <a:r>
              <a:rPr sz="1950">
                <a:solidFill>
                  <a:srgbClr val="CBD5E1"/>
                </a:solidFill>
              </a:rPr>
              <a:t>한 문제 한 화면 · 오프라인 수업용 PowerPoint</a:t>
            </a:r>
          </a:p>
        </p:txBody>
      </p:sp>
      <p:sp>
        <p:nvSpPr>
          <p:cNvPr id="5" name="deck-flow">
            <a:extLst xmlns:a="http://schemas.openxmlformats.org/drawingml/2006/main">
              <a:ext uri="{FF2B5EF4-FFF2-40B4-BE49-F238E27FC236}">
                <a16:creationId xmlns:a16="http://schemas.microsoft.com/office/drawing/2014/main" id="{2775FAFF-9FC4-4D4B-9062-FC823E87D1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476750"/>
            <a:ext cx="9525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650">
                <a:solidFill>
                  <a:srgbClr val="A5B4FC"/>
                </a:solidFill>
              </a:defRPr>
            </a:pPr>
            <a:r>
              <a:rPr sz="1650">
                <a:solidFill>
                  <a:srgbClr val="A5B4FC"/>
                </a:solidFill>
              </a:rPr>
              <a:t>읽기 전 지식 → 문제 풀이 → 듣기 전 지식 → 복습</a:t>
            </a:r>
          </a:p>
        </p:txBody>
      </p:sp>
      <p:sp>
        <p:nvSpPr>
          <p:cNvPr id="6" name="footer-brand">
            <a:extLst xmlns:a="http://schemas.openxmlformats.org/drawingml/2006/main">
              <a:ext uri="{FF2B5EF4-FFF2-40B4-BE49-F238E27FC236}">
                <a16:creationId xmlns:a16="http://schemas.microsoft.com/office/drawing/2014/main" id="{97E77E0F-238D-410C-B7AD-2C9ACC3FF6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96050"/>
            <a:ext cx="3238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050">
                <a:solidFill>
                  <a:srgbClr val="94A3B8"/>
                </a:solidFill>
              </a:defRPr>
            </a:pPr>
            <a:r>
              <a:rPr sz="1050">
                <a:solidFill>
                  <a:srgbClr val="94A3B8"/>
                </a:solidFill>
              </a:rPr>
              <a:t>TOPIK-Edu Smart Academy</a:t>
            </a:r>
          </a:p>
        </p:txBody>
      </p:sp>
      <p:sp>
        <p:nvSpPr>
          <p:cNvPr id="7" name="footer-page">
            <a:extLst xmlns:a="http://schemas.openxmlformats.org/drawingml/2006/main">
              <a:ext uri="{FF2B5EF4-FFF2-40B4-BE49-F238E27FC236}">
                <a16:creationId xmlns:a16="http://schemas.microsoft.com/office/drawing/2014/main" id="{487879B9-4362-4A5B-BF69-1A6667B220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6496050"/>
            <a:ext cx="2171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buNone/>
              <a:defRPr sz="1050">
                <a:solidFill>
                  <a:srgbClr val="94A3B8"/>
                </a:solidFill>
              </a:defRPr>
            </a:pPr>
            <a:r>
              <a:rPr sz="1050">
                <a:solidFill>
                  <a:srgbClr val="94A3B8"/>
                </a:solidFill>
              </a:rPr>
              <a:t>수업용 교안</a:t>
            </a:r>
          </a:p>
        </p:txBody>
      </p:sp>
    </p:spTree>
    <p:extLst>
      <p:ext uri="{BB962C8B-B14F-4D97-AF65-F5344CB8AC3E}">
        <p14:creationId xmlns:p14="http://schemas.microsoft.com/office/powerpoint/2010/main" val="145011001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0F17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session-1-kicker">
            <a:extLst xmlns:a="http://schemas.openxmlformats.org/drawingml/2006/main">
              <a:ext uri="{FF2B5EF4-FFF2-40B4-BE49-F238E27FC236}">
                <a16:creationId xmlns:a16="http://schemas.microsoft.com/office/drawing/2014/main" id="{06F09D72-7B1A-4531-9D98-6FAAA0F86C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876300"/>
            <a:ext cx="4286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2100" b="1">
                <a:solidFill>
                  <a:srgbClr val="67E8F9"/>
                </a:solidFill>
              </a:defRPr>
            </a:pPr>
            <a:r>
              <a:rPr sz="2100" b="1">
                <a:solidFill>
                  <a:srgbClr val="67E8F9"/>
                </a:solidFill>
              </a:rPr>
              <a:t>SESSION 01</a:t>
            </a:r>
          </a:p>
        </p:txBody>
      </p:sp>
      <p:sp>
        <p:nvSpPr>
          <p:cNvPr id="2" name="session-1-title">
            <a:extLst xmlns:a="http://schemas.openxmlformats.org/drawingml/2006/main">
              <a:ext uri="{FF2B5EF4-FFF2-40B4-BE49-F238E27FC236}">
                <a16:creationId xmlns:a16="http://schemas.microsoft.com/office/drawing/2014/main" id="{F58DA6AB-9231-4497-B9DF-D53825A430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676400"/>
            <a:ext cx="105727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3750" b="1">
                <a:solidFill>
                  <a:srgbClr val="FFFFFF"/>
                </a:solidFill>
              </a:defRPr>
            </a:pPr>
            <a:r>
              <a:rPr sz="3750" b="1">
                <a:solidFill>
                  <a:srgbClr val="FFFFFF"/>
                </a:solidFill>
              </a:rPr>
              <a:t>1회차: 기본 인물, 장소, 동작 마스터</a:t>
            </a:r>
          </a:p>
        </p:txBody>
      </p:sp>
      <p:sp>
        <p:nvSpPr>
          <p:cNvPr id="3" name="session-1-subtitle">
            <a:extLst xmlns:a="http://schemas.openxmlformats.org/drawingml/2006/main">
              <a:ext uri="{FF2B5EF4-FFF2-40B4-BE49-F238E27FC236}">
                <a16:creationId xmlns:a16="http://schemas.microsoft.com/office/drawing/2014/main" id="{03AE386F-84CD-4CA0-990A-988C7B5FF7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333750"/>
            <a:ext cx="10096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800">
                <a:solidFill>
                  <a:srgbClr val="CBD5E1"/>
                </a:solidFill>
              </a:defRPr>
            </a:pPr>
            <a:r>
              <a:rPr sz="1800">
                <a:solidFill>
                  <a:srgbClr val="CBD5E1"/>
                </a:solidFill>
              </a:rPr>
              <a:t>TOPIK I 합격의 첫걸음! 일상생활의 주체(인물)와 공간(장소) 및 기본 동사를 배웁니다.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3C76F2F-BCD1-41AC-A409-3844887382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762500"/>
            <a:ext cx="3429000" cy="704850"/>
          </a:xfrm>
          <a:prstGeom xmlns:a="http://schemas.openxmlformats.org/drawingml/2006/main" prst="roundRect">
            <a:avLst>
              <a:gd name="adj" fmla="val 16216"/>
            </a:avLst>
          </a:prstGeom>
          <a:solidFill xmlns:a="http://schemas.openxmlformats.org/drawingml/2006/main">
            <a:srgbClr val="1E293B"/>
          </a:solidFill>
          <a:ln xmlns:a="http://schemas.openxmlformats.org/drawingml/2006/main" w="9525">
            <a:solidFill>
              <a:srgbClr val="4F46E5"/>
            </a:solidFill>
            <a:prstDash val="solid"/>
          </a:ln>
        </p:spPr>
      </p:sp>
      <p:sp>
        <p:nvSpPr>
          <p:cNvPr id="5" name="session-1-count">
            <a:extLst xmlns:a="http://schemas.openxmlformats.org/drawingml/2006/main">
              <a:ext uri="{FF2B5EF4-FFF2-40B4-BE49-F238E27FC236}">
                <a16:creationId xmlns:a16="http://schemas.microsoft.com/office/drawing/2014/main" id="{AAF73C8F-3B0B-4196-A841-1F6199B7AA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886325"/>
            <a:ext cx="2952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650" b="1">
                <a:solidFill>
                  <a:srgbClr val="C7D2FE"/>
                </a:solidFill>
              </a:defRPr>
            </a:pPr>
            <a:r>
              <a:rPr sz="1650" b="1">
                <a:solidFill>
                  <a:srgbClr val="C7D2FE"/>
                </a:solidFill>
              </a:rPr>
              <a:t>14문항 · 약 2시간</a:t>
            </a:r>
          </a:p>
        </p:txBody>
      </p:sp>
      <p:sp>
        <p:nvSpPr>
          <p:cNvPr id="6" name="footer-brand">
            <a:extLst xmlns:a="http://schemas.openxmlformats.org/drawingml/2006/main">
              <a:ext uri="{FF2B5EF4-FFF2-40B4-BE49-F238E27FC236}">
                <a16:creationId xmlns:a16="http://schemas.microsoft.com/office/drawing/2014/main" id="{B4686FBC-96A4-411C-B8D2-2B96CD7D67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96050"/>
            <a:ext cx="3238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050">
                <a:solidFill>
                  <a:srgbClr val="94A3B8"/>
                </a:solidFill>
              </a:defRPr>
            </a:pPr>
            <a:r>
              <a:rPr sz="1050">
                <a:solidFill>
                  <a:srgbClr val="94A3B8"/>
                </a:solidFill>
              </a:rPr>
              <a:t>TOPIK-Edu Smart Academy</a:t>
            </a:r>
          </a:p>
        </p:txBody>
      </p:sp>
      <p:sp>
        <p:nvSpPr>
          <p:cNvPr id="7" name="footer-page">
            <a:extLst xmlns:a="http://schemas.openxmlformats.org/drawingml/2006/main">
              <a:ext uri="{FF2B5EF4-FFF2-40B4-BE49-F238E27FC236}">
                <a16:creationId xmlns:a16="http://schemas.microsoft.com/office/drawing/2014/main" id="{C7FF281A-BCC5-4121-B99A-8470F623D7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6496050"/>
            <a:ext cx="2171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buNone/>
              <a:defRPr sz="1050">
                <a:solidFill>
                  <a:srgbClr val="94A3B8"/>
                </a:solidFill>
              </a:defRPr>
            </a:pPr>
            <a:r>
              <a:rPr sz="1050">
                <a:solidFill>
                  <a:srgbClr val="94A3B8"/>
                </a:solidFill>
              </a:rPr>
              <a:t>1회차 시작</a:t>
            </a:r>
          </a:p>
        </p:txBody>
      </p:sp>
    </p:spTree>
    <p:extLst>
      <p:ext uri="{BB962C8B-B14F-4D97-AF65-F5344CB8AC3E}">
        <p14:creationId xmlns:p14="http://schemas.microsoft.com/office/powerpoint/2010/main" val="1136831126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F17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D9C9D70-B69C-43B2-B498-982E919867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228600"/>
            <a:ext cx="11468100" cy="6191250"/>
          </a:xfrm>
          <a:prstGeom xmlns:a="http://schemas.openxmlformats.org/drawingml/2006/main" prst="roundRect">
            <a:avLst>
              <a:gd name="adj" fmla="val 1846"/>
            </a:avLst>
          </a:prstGeom>
          <a:solidFill xmlns:a="http://schemas.openxmlformats.org/drawingml/2006/main">
            <a:srgbClr val="1E293B"/>
          </a:solidFill>
          <a:ln xmlns:a="http://schemas.openxmlformats.org/drawingml/2006/main" w="9525">
            <a:solidFill>
              <a:srgbClr val="334155"/>
            </a:solidFill>
            <a:prstDash val="solid"/>
          </a:ln>
        </p:spPr>
      </p:sp>
      <p:sp>
        <p:nvSpPr>
          <p:cNvPr id="2" name="q-q1_r2-number">
            <a:extLst xmlns:a="http://schemas.openxmlformats.org/drawingml/2006/main">
              <a:ext uri="{FF2B5EF4-FFF2-40B4-BE49-F238E27FC236}">
                <a16:creationId xmlns:a16="http://schemas.microsoft.com/office/drawing/2014/main" id="{BB3A0ABC-B92F-4971-A2BF-11CBA1D7D0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00050"/>
            <a:ext cx="1714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C7D2FE"/>
                </a:solidFill>
              </a:defRPr>
            </a:pPr>
            <a:r>
              <a:rPr sz="1350" b="1">
                <a:solidFill>
                  <a:srgbClr val="C7D2FE"/>
                </a:solidFill>
              </a:rPr>
              <a:t>문제 02</a:t>
            </a:r>
          </a:p>
        </p:txBody>
      </p:sp>
      <p:sp>
        <p:nvSpPr>
          <p:cNvPr id="3" name="q-q1_r2-category">
            <a:extLst xmlns:a="http://schemas.openxmlformats.org/drawingml/2006/main">
              <a:ext uri="{FF2B5EF4-FFF2-40B4-BE49-F238E27FC236}">
                <a16:creationId xmlns:a16="http://schemas.microsoft.com/office/drawing/2014/main" id="{AB645A83-7B09-4FEE-BF92-8B72C6E2F9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400050"/>
            <a:ext cx="3524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buNone/>
              <a:defRPr sz="1275" b="1">
                <a:solidFill>
                  <a:srgbClr val="5EEAD4"/>
                </a:solidFill>
              </a:defRPr>
            </a:pPr>
            <a:r>
              <a:rPr sz="1275" b="1">
                <a:solidFill>
                  <a:srgbClr val="5EEAD4"/>
                </a:solidFill>
              </a:rPr>
              <a:t>읽기 (Reading) 기출</a:t>
            </a:r>
          </a:p>
        </p:txBody>
      </p:sp>
      <p:sp>
        <p:nvSpPr>
          <p:cNvPr id="4" name="q-q1_r2-text">
            <a:extLst xmlns:a="http://schemas.openxmlformats.org/drawingml/2006/main">
              <a:ext uri="{FF2B5EF4-FFF2-40B4-BE49-F238E27FC236}">
                <a16:creationId xmlns:a16="http://schemas.microsoft.com/office/drawing/2014/main" id="{55318403-7D75-4BD2-9A4A-7163BCDA4B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38200"/>
            <a:ext cx="109347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buNone/>
              <a:defRPr sz="2625" b="1">
                <a:solidFill>
                  <a:srgbClr val="FFFFFF"/>
                </a:solidFill>
              </a:defRPr>
            </a:pPr>
            <a:r>
              <a:rPr sz="2625" b="1">
                <a:solidFill>
                  <a:srgbClr val="FFFFFF"/>
                </a:solidFill>
              </a:rPr>
              <a:t>다음 빈칸에 들어갈 가장 알맞은 조사를 고르십시오. (TOPIK I 기출)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7EBB5B8-B645-4668-BF4D-546BB00007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19250"/>
            <a:ext cx="10934700" cy="1381125"/>
          </a:xfrm>
          <a:prstGeom xmlns:a="http://schemas.openxmlformats.org/drawingml/2006/main" prst="roundRect">
            <a:avLst>
              <a:gd name="adj" fmla="val 8276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475569"/>
            </a:solidFill>
            <a:prstDash val="solid"/>
          </a:ln>
        </p:spPr>
      </p:sp>
      <p:sp>
        <p:nvSpPr>
          <p:cNvPr id="6" name="q-q1_r2-passage">
            <a:extLst xmlns:a="http://schemas.openxmlformats.org/drawingml/2006/main">
              <a:ext uri="{FF2B5EF4-FFF2-40B4-BE49-F238E27FC236}">
                <a16:creationId xmlns:a16="http://schemas.microsoft.com/office/drawing/2014/main" id="{0CE84012-9CAD-4AD7-A171-47EC22CB2B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733550"/>
            <a:ext cx="10553700" cy="1152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buNone/>
              <a:defRPr sz="1875">
                <a:solidFill>
                  <a:srgbClr val="FFFFFF"/>
                </a:solidFill>
              </a:defRPr>
            </a:pPr>
            <a:r>
              <a:rPr sz="1875">
                <a:solidFill>
                  <a:srgbClr val="FFFFFF"/>
                </a:solidFill>
              </a:rPr>
              <a:t>저는 오늘 시장에 갑니다. 시장에서 사과(         ) 배를 삽니다.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179CC3F-F20E-4BF0-9B7A-4FA8EAFCD2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19450"/>
            <a:ext cx="5400675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475569"/>
            </a:solidFill>
            <a:prstDash val="solid"/>
          </a:ln>
        </p:spPr>
      </p:sp>
      <p:sp>
        <p:nvSpPr>
          <p:cNvPr id="8" name="q-q1_r2-option-1">
            <a:extLst xmlns:a="http://schemas.openxmlformats.org/drawingml/2006/main">
              <a:ext uri="{FF2B5EF4-FFF2-40B4-BE49-F238E27FC236}">
                <a16:creationId xmlns:a16="http://schemas.microsoft.com/office/drawing/2014/main" id="{5C8B5226-9D2B-4BF9-885A-B256FE7ACC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276600"/>
            <a:ext cx="50577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①  가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565BFD4-AC68-41C0-9ABF-AAA6500C6F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3219450"/>
            <a:ext cx="5400675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475569"/>
            </a:solidFill>
            <a:prstDash val="solid"/>
          </a:ln>
        </p:spPr>
      </p:sp>
      <p:sp>
        <p:nvSpPr>
          <p:cNvPr id="10" name="q-q1_r2-option-2">
            <a:extLst xmlns:a="http://schemas.openxmlformats.org/drawingml/2006/main">
              <a:ext uri="{FF2B5EF4-FFF2-40B4-BE49-F238E27FC236}">
                <a16:creationId xmlns:a16="http://schemas.microsoft.com/office/drawing/2014/main" id="{E9FF776D-398D-4903-A457-E839C97F1A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5075" y="3276600"/>
            <a:ext cx="50577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②  와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4C049A0-17C4-4FA6-BB23-C414ADC25B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95750"/>
            <a:ext cx="5400675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475569"/>
            </a:solidFill>
            <a:prstDash val="solid"/>
          </a:ln>
        </p:spPr>
      </p:sp>
      <p:sp>
        <p:nvSpPr>
          <p:cNvPr id="12" name="q-q1_r2-option-3">
            <a:extLst xmlns:a="http://schemas.openxmlformats.org/drawingml/2006/main">
              <a:ext uri="{FF2B5EF4-FFF2-40B4-BE49-F238E27FC236}">
                <a16:creationId xmlns:a16="http://schemas.microsoft.com/office/drawing/2014/main" id="{7EDA89B1-ACDE-41DF-B0E3-5418B6A1BB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152900"/>
            <a:ext cx="50577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③  를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6ED8BB2-2E7E-4D6D-B058-EE3D177804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4095750"/>
            <a:ext cx="5400675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475569"/>
            </a:solidFill>
            <a:prstDash val="solid"/>
          </a:ln>
        </p:spPr>
      </p:sp>
      <p:sp>
        <p:nvSpPr>
          <p:cNvPr id="14" name="q-q1_r2-option-4">
            <a:extLst xmlns:a="http://schemas.openxmlformats.org/drawingml/2006/main">
              <a:ext uri="{FF2B5EF4-FFF2-40B4-BE49-F238E27FC236}">
                <a16:creationId xmlns:a16="http://schemas.microsoft.com/office/drawing/2014/main" id="{697E7079-0C9C-4192-BBC3-C15048D50C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5075" y="4152900"/>
            <a:ext cx="50577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④  로</a:t>
            </a:r>
          </a:p>
        </p:txBody>
      </p:sp>
      <p:sp>
        <p:nvSpPr>
          <p:cNvPr id="15" name="footer-brand">
            <a:extLst xmlns:a="http://schemas.openxmlformats.org/drawingml/2006/main">
              <a:ext uri="{FF2B5EF4-FFF2-40B4-BE49-F238E27FC236}">
                <a16:creationId xmlns:a16="http://schemas.microsoft.com/office/drawing/2014/main" id="{94C49589-E594-4B3B-A07F-B8B677C5F4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96050"/>
            <a:ext cx="3238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050">
                <a:solidFill>
                  <a:srgbClr val="94A3B8"/>
                </a:solidFill>
              </a:defRPr>
            </a:pPr>
            <a:r>
              <a:rPr sz="1050">
                <a:solidFill>
                  <a:srgbClr val="94A3B8"/>
                </a:solidFill>
              </a:rPr>
              <a:t>TOPIK-Edu Smart Academy</a:t>
            </a:r>
          </a:p>
        </p:txBody>
      </p:sp>
      <p:sp>
        <p:nvSpPr>
          <p:cNvPr id="16" name="footer-page">
            <a:extLst xmlns:a="http://schemas.openxmlformats.org/drawingml/2006/main">
              <a:ext uri="{FF2B5EF4-FFF2-40B4-BE49-F238E27FC236}">
                <a16:creationId xmlns:a16="http://schemas.microsoft.com/office/drawing/2014/main" id="{62B9622B-C90E-4AD3-8FA6-E9902C8F2C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6496050"/>
            <a:ext cx="2171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buNone/>
              <a:defRPr sz="1050">
                <a:solidFill>
                  <a:srgbClr val="94A3B8"/>
                </a:solidFill>
              </a:defRPr>
            </a:pPr>
            <a:r>
              <a:rPr sz="1050">
                <a:solidFill>
                  <a:srgbClr val="94A3B8"/>
                </a:solidFill>
              </a:rPr>
              <a:t>1회차 · 2/14</a:t>
            </a:r>
          </a:p>
        </p:txBody>
      </p:sp>
    </p:spTree>
    <p:extLst>
      <p:ext uri="{BB962C8B-B14F-4D97-AF65-F5344CB8AC3E}">
        <p14:creationId xmlns:p14="http://schemas.microsoft.com/office/powerpoint/2010/main" val="43936195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F17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D9C9D70-B69C-43B2-B498-982E919867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228600"/>
            <a:ext cx="11468100" cy="6191250"/>
          </a:xfrm>
          <a:prstGeom xmlns:a="http://schemas.openxmlformats.org/drawingml/2006/main" prst="roundRect">
            <a:avLst>
              <a:gd name="adj" fmla="val 1846"/>
            </a:avLst>
          </a:prstGeom>
          <a:solidFill xmlns:a="http://schemas.openxmlformats.org/drawingml/2006/main">
            <a:srgbClr val="1E293B"/>
          </a:solidFill>
          <a:ln xmlns:a="http://schemas.openxmlformats.org/drawingml/2006/main" w="9525">
            <a:solidFill>
              <a:srgbClr val="334155"/>
            </a:solidFill>
            <a:prstDash val="solid"/>
          </a:ln>
        </p:spPr>
      </p:sp>
      <p:sp>
        <p:nvSpPr>
          <p:cNvPr id="2" name="q-q1_r2-number">
            <a:extLst xmlns:a="http://schemas.openxmlformats.org/drawingml/2006/main">
              <a:ext uri="{FF2B5EF4-FFF2-40B4-BE49-F238E27FC236}">
                <a16:creationId xmlns:a16="http://schemas.microsoft.com/office/drawing/2014/main" id="{BB3A0ABC-B92F-4971-A2BF-11CBA1D7D0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00050"/>
            <a:ext cx="1714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C7D2FE"/>
                </a:solidFill>
              </a:defRPr>
            </a:pPr>
            <a:r>
              <a:rPr sz="1350" b="1">
                <a:solidFill>
                  <a:srgbClr val="C7D2FE"/>
                </a:solidFill>
              </a:rPr>
              <a:t>문제 02</a:t>
            </a:r>
          </a:p>
        </p:txBody>
      </p:sp>
      <p:sp>
        <p:nvSpPr>
          <p:cNvPr id="3" name="q-q1_r2-category">
            <a:extLst xmlns:a="http://schemas.openxmlformats.org/drawingml/2006/main">
              <a:ext uri="{FF2B5EF4-FFF2-40B4-BE49-F238E27FC236}">
                <a16:creationId xmlns:a16="http://schemas.microsoft.com/office/drawing/2014/main" id="{AB645A83-7B09-4FEE-BF92-8B72C6E2F9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400050"/>
            <a:ext cx="3524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buNone/>
              <a:defRPr sz="1275" b="1">
                <a:solidFill>
                  <a:srgbClr val="5EEAD4"/>
                </a:solidFill>
              </a:defRPr>
            </a:pPr>
            <a:r>
              <a:rPr sz="1275" b="1">
                <a:solidFill>
                  <a:srgbClr val="5EEAD4"/>
                </a:solidFill>
              </a:rPr>
              <a:t>읽기 (Reading) 기출</a:t>
            </a:r>
          </a:p>
        </p:txBody>
      </p:sp>
      <p:sp>
        <p:nvSpPr>
          <p:cNvPr id="4" name="q-q1_r2-text">
            <a:extLst xmlns:a="http://schemas.openxmlformats.org/drawingml/2006/main">
              <a:ext uri="{FF2B5EF4-FFF2-40B4-BE49-F238E27FC236}">
                <a16:creationId xmlns:a16="http://schemas.microsoft.com/office/drawing/2014/main" id="{55318403-7D75-4BD2-9A4A-7163BCDA4B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38200"/>
            <a:ext cx="109347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buNone/>
              <a:defRPr sz="2625" b="1">
                <a:solidFill>
                  <a:srgbClr val="FFFFFF"/>
                </a:solidFill>
              </a:defRPr>
            </a:pPr>
            <a:r>
              <a:rPr sz="2625" b="1">
                <a:solidFill>
                  <a:srgbClr val="FFFFFF"/>
                </a:solidFill>
              </a:rPr>
              <a:t>다음 빈칸에 들어갈 가장 알맞은 조사를 고르십시오. (TOPIK I 기출)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7EBB5B8-B645-4668-BF4D-546BB00007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19250"/>
            <a:ext cx="10934700" cy="1381125"/>
          </a:xfrm>
          <a:prstGeom xmlns:a="http://schemas.openxmlformats.org/drawingml/2006/main" prst="roundRect">
            <a:avLst>
              <a:gd name="adj" fmla="val 8276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475569"/>
            </a:solidFill>
            <a:prstDash val="solid"/>
          </a:ln>
        </p:spPr>
      </p:sp>
      <p:sp>
        <p:nvSpPr>
          <p:cNvPr id="6" name="q-q1_r2-passage">
            <a:extLst xmlns:a="http://schemas.openxmlformats.org/drawingml/2006/main">
              <a:ext uri="{FF2B5EF4-FFF2-40B4-BE49-F238E27FC236}">
                <a16:creationId xmlns:a16="http://schemas.microsoft.com/office/drawing/2014/main" id="{0CE84012-9CAD-4AD7-A171-47EC22CB2B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733550"/>
            <a:ext cx="10553700" cy="1152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buNone/>
              <a:defRPr sz="1875">
                <a:solidFill>
                  <a:srgbClr val="FFFFFF"/>
                </a:solidFill>
              </a:defRPr>
            </a:pPr>
            <a:r>
              <a:rPr sz="1875">
                <a:solidFill>
                  <a:srgbClr val="FFFFFF"/>
                </a:solidFill>
              </a:rPr>
              <a:t>저는 오늘 시장에 갑니다. 시장에서 사과(         ) 배를 삽니다.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179CC3F-F20E-4BF0-9B7A-4FA8EAFCD2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19450"/>
            <a:ext cx="5400675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475569"/>
            </a:solidFill>
            <a:prstDash val="solid"/>
          </a:ln>
        </p:spPr>
      </p:sp>
      <p:sp>
        <p:nvSpPr>
          <p:cNvPr id="8" name="q-q1_r2-option-1">
            <a:extLst xmlns:a="http://schemas.openxmlformats.org/drawingml/2006/main">
              <a:ext uri="{FF2B5EF4-FFF2-40B4-BE49-F238E27FC236}">
                <a16:creationId xmlns:a16="http://schemas.microsoft.com/office/drawing/2014/main" id="{5C8B5226-9D2B-4BF9-885A-B256FE7ACC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276600"/>
            <a:ext cx="50577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①  가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565BFD4-AC68-41C0-9ABF-AAA6500C6F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3219450"/>
            <a:ext cx="5400675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475569"/>
            </a:solidFill>
            <a:prstDash val="solid"/>
          </a:ln>
        </p:spPr>
      </p:sp>
      <p:sp>
        <p:nvSpPr>
          <p:cNvPr id="10" name="q-q1_r2-option-2">
            <a:extLst xmlns:a="http://schemas.openxmlformats.org/drawingml/2006/main">
              <a:ext uri="{FF2B5EF4-FFF2-40B4-BE49-F238E27FC236}">
                <a16:creationId xmlns:a16="http://schemas.microsoft.com/office/drawing/2014/main" id="{E9FF776D-398D-4903-A457-E839C97F1A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5075" y="3276600"/>
            <a:ext cx="50577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②  와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4C049A0-17C4-4FA6-BB23-C414ADC25B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95750"/>
            <a:ext cx="5400675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475569"/>
            </a:solidFill>
            <a:prstDash val="solid"/>
          </a:ln>
        </p:spPr>
      </p:sp>
      <p:sp>
        <p:nvSpPr>
          <p:cNvPr id="12" name="q-q1_r2-option-3">
            <a:extLst xmlns:a="http://schemas.openxmlformats.org/drawingml/2006/main">
              <a:ext uri="{FF2B5EF4-FFF2-40B4-BE49-F238E27FC236}">
                <a16:creationId xmlns:a16="http://schemas.microsoft.com/office/drawing/2014/main" id="{7EDA89B1-ACDE-41DF-B0E3-5418B6A1BB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152900"/>
            <a:ext cx="50577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③  를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6ED8BB2-2E7E-4D6D-B058-EE3D177804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4095750"/>
            <a:ext cx="5400675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475569"/>
            </a:solidFill>
            <a:prstDash val="solid"/>
          </a:ln>
        </p:spPr>
      </p:sp>
      <p:sp>
        <p:nvSpPr>
          <p:cNvPr id="14" name="q-q1_r2-option-4">
            <a:extLst xmlns:a="http://schemas.openxmlformats.org/drawingml/2006/main">
              <a:ext uri="{FF2B5EF4-FFF2-40B4-BE49-F238E27FC236}">
                <a16:creationId xmlns:a16="http://schemas.microsoft.com/office/drawing/2014/main" id="{697E7079-0C9C-4192-BBC3-C15048D50C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5075" y="4152900"/>
            <a:ext cx="50577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④  로</a:t>
            </a:r>
          </a:p>
        </p:txBody>
      </p:sp>
      <p:sp>
        <p:nvSpPr>
          <p:cNvPr id="15" name="footer-brand">
            <a:extLst xmlns:a="http://schemas.openxmlformats.org/drawingml/2006/main">
              <a:ext uri="{FF2B5EF4-FFF2-40B4-BE49-F238E27FC236}">
                <a16:creationId xmlns:a16="http://schemas.microsoft.com/office/drawing/2014/main" id="{94C49589-E594-4B3B-A07F-B8B677C5F4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96050"/>
            <a:ext cx="3238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050">
                <a:solidFill>
                  <a:srgbClr val="94A3B8"/>
                </a:solidFill>
              </a:defRPr>
            </a:pPr>
            <a:r>
              <a:rPr sz="1050">
                <a:solidFill>
                  <a:srgbClr val="94A3B8"/>
                </a:solidFill>
              </a:rPr>
              <a:t>TOPIK-Edu Smart Academy</a:t>
            </a:r>
          </a:p>
        </p:txBody>
      </p:sp>
      <p:sp>
        <p:nvSpPr>
          <p:cNvPr id="16" name="footer-page">
            <a:extLst xmlns:a="http://schemas.openxmlformats.org/drawingml/2006/main">
              <a:ext uri="{FF2B5EF4-FFF2-40B4-BE49-F238E27FC236}">
                <a16:creationId xmlns:a16="http://schemas.microsoft.com/office/drawing/2014/main" id="{62B9622B-C90E-4AD3-8FA6-E9902C8F2C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6496050"/>
            <a:ext cx="2171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buNone/>
              <a:defRPr sz="1050">
                <a:solidFill>
                  <a:srgbClr val="94A3B8"/>
                </a:solidFill>
              </a:defRPr>
            </a:pPr>
            <a:r>
              <a:rPr sz="1050">
                <a:solidFill>
                  <a:srgbClr val="94A3B8"/>
                </a:solidFill>
              </a:rPr>
              <a:t>1회차 · 2/14</a:t>
            </a:r>
          </a:p>
        </p:txBody>
      </p:sp>
    </p:spTree>
    <p:extLst>
      <p:ext uri="{BB962C8B-B14F-4D97-AF65-F5344CB8AC3E}">
        <p14:creationId xmlns:p14="http://schemas.microsoft.com/office/powerpoint/2010/main" val="439361950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F17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95A3C2E-B880-4232-8424-F3AE549A40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228600"/>
            <a:ext cx="11468100" cy="6191250"/>
          </a:xfrm>
          <a:prstGeom xmlns:a="http://schemas.openxmlformats.org/drawingml/2006/main" prst="roundRect">
            <a:avLst>
              <a:gd name="adj" fmla="val 1846"/>
            </a:avLst>
          </a:prstGeom>
          <a:solidFill xmlns:a="http://schemas.openxmlformats.org/drawingml/2006/main">
            <a:srgbClr val="1E293B"/>
          </a:solidFill>
          <a:ln xmlns:a="http://schemas.openxmlformats.org/drawingml/2006/main" w="9525">
            <a:solidFill>
              <a:srgbClr val="334155"/>
            </a:solidFill>
            <a:prstDash val="solid"/>
          </a:ln>
        </p:spPr>
      </p:sp>
      <p:sp>
        <p:nvSpPr>
          <p:cNvPr id="2" name="q-q1_r1-number">
            <a:extLst xmlns:a="http://schemas.openxmlformats.org/drawingml/2006/main">
              <a:ext uri="{FF2B5EF4-FFF2-40B4-BE49-F238E27FC236}">
                <a16:creationId xmlns:a16="http://schemas.microsoft.com/office/drawing/2014/main" id="{8103609E-6545-487C-A322-B3EE8A8575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00050"/>
            <a:ext cx="1714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C7D2FE"/>
                </a:solidFill>
              </a:defRPr>
            </a:pPr>
            <a:r>
              <a:rPr sz="1350" b="1">
                <a:solidFill>
                  <a:srgbClr val="C7D2FE"/>
                </a:solidFill>
              </a:rPr>
              <a:t>문제 01</a:t>
            </a:r>
          </a:p>
        </p:txBody>
      </p:sp>
      <p:sp>
        <p:nvSpPr>
          <p:cNvPr id="3" name="q-q1_r1-category">
            <a:extLst xmlns:a="http://schemas.openxmlformats.org/drawingml/2006/main">
              <a:ext uri="{FF2B5EF4-FFF2-40B4-BE49-F238E27FC236}">
                <a16:creationId xmlns:a16="http://schemas.microsoft.com/office/drawing/2014/main" id="{FAF4E979-D4D6-4C0B-A88D-49CAA7693D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400050"/>
            <a:ext cx="3524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buNone/>
              <a:defRPr sz="1275" b="1">
                <a:solidFill>
                  <a:srgbClr val="5EEAD4"/>
                </a:solidFill>
              </a:defRPr>
            </a:pPr>
            <a:r>
              <a:rPr sz="1275" b="1">
                <a:solidFill>
                  <a:srgbClr val="5EEAD4"/>
                </a:solidFill>
              </a:rPr>
              <a:t>읽기 (Reading) 기출</a:t>
            </a:r>
          </a:p>
        </p:txBody>
      </p:sp>
      <p:sp>
        <p:nvSpPr>
          <p:cNvPr id="4" name="q-q1_r1-text">
            <a:extLst xmlns:a="http://schemas.openxmlformats.org/drawingml/2006/main">
              <a:ext uri="{FF2B5EF4-FFF2-40B4-BE49-F238E27FC236}">
                <a16:creationId xmlns:a16="http://schemas.microsoft.com/office/drawing/2014/main" id="{55B87A01-08C0-4138-9B58-CD3AD8C449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38200"/>
            <a:ext cx="109347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buNone/>
              <a:defRPr sz="2625" b="1">
                <a:solidFill>
                  <a:srgbClr val="FFFFFF"/>
                </a:solidFill>
              </a:defRPr>
            </a:pPr>
            <a:r>
              <a:rPr sz="2625" b="1">
                <a:solidFill>
                  <a:srgbClr val="FFFFFF"/>
                </a:solidFill>
              </a:rPr>
              <a:t>다음 그림을 보고 무엇을 하는 상황인지 가장 알맞은 것을 고르십시오. (TOPIK I 기출)</a:t>
            </a:r>
          </a:p>
        </p:txBody>
      </p:sp>
      <p:pic>
        <p:nvPicPr>
          <p:cNvPr id="2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232929abd3d421f"/>
          <a:stretch xmlns:a="http://schemas.openxmlformats.org/drawingml/2006/main"/>
        </p:blipFill>
        <p:spPr>
          <a:xfrm xmlns:a="http://schemas.openxmlformats.org/drawingml/2006/main">
            <a:off x="666750" y="2156460"/>
            <a:ext cx="3714750" cy="2773680"/>
          </a:xfrm>
          <a:prstGeom xmlns:a="http://schemas.openxmlformats.org/drawingml/2006/main" prst="roundRect">
            <a:avLst>
              <a:gd name="adj" fmla="val 4000"/>
            </a:avLst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9A88CC5-1080-487C-9F38-7E17269778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114550"/>
            <a:ext cx="6743700" cy="666750"/>
          </a:xfrm>
          <a:prstGeom xmlns:a="http://schemas.openxmlformats.org/drawingml/2006/main" prst="roundRect">
            <a:avLst>
              <a:gd name="adj" fmla="val 17143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475569"/>
            </a:solidFill>
            <a:prstDash val="solid"/>
          </a:ln>
        </p:spPr>
      </p:sp>
      <p:sp>
        <p:nvSpPr>
          <p:cNvPr id="7" name="q-q1_r1-option-1">
            <a:extLst xmlns:a="http://schemas.openxmlformats.org/drawingml/2006/main">
              <a:ext uri="{FF2B5EF4-FFF2-40B4-BE49-F238E27FC236}">
                <a16:creationId xmlns:a16="http://schemas.microsoft.com/office/drawing/2014/main" id="{40E05992-EC97-426C-A58D-8DAB3C334D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2171700"/>
            <a:ext cx="64008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①  밥을 먹습니다.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DC6DABE-2635-403C-9C75-1DB9D76133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876550"/>
            <a:ext cx="6743700" cy="666750"/>
          </a:xfrm>
          <a:prstGeom xmlns:a="http://schemas.openxmlformats.org/drawingml/2006/main" prst="roundRect">
            <a:avLst>
              <a:gd name="adj" fmla="val 17143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475569"/>
            </a:solidFill>
            <a:prstDash val="solid"/>
          </a:ln>
        </p:spPr>
      </p:sp>
      <p:sp>
        <p:nvSpPr>
          <p:cNvPr id="9" name="q-q1_r1-option-2">
            <a:extLst xmlns:a="http://schemas.openxmlformats.org/drawingml/2006/main">
              <a:ext uri="{FF2B5EF4-FFF2-40B4-BE49-F238E27FC236}">
                <a16:creationId xmlns:a16="http://schemas.microsoft.com/office/drawing/2014/main" id="{10E318BA-5C14-4CBF-A62B-A9C34B846D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2933700"/>
            <a:ext cx="64008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②  노래를 부릅니다.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D40B78B-FF8A-4442-8BBB-968CCB35E7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3638550"/>
            <a:ext cx="6743700" cy="666750"/>
          </a:xfrm>
          <a:prstGeom xmlns:a="http://schemas.openxmlformats.org/drawingml/2006/main" prst="roundRect">
            <a:avLst>
              <a:gd name="adj" fmla="val 17143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475569"/>
            </a:solidFill>
            <a:prstDash val="solid"/>
          </a:ln>
        </p:spPr>
      </p:sp>
      <p:sp>
        <p:nvSpPr>
          <p:cNvPr id="11" name="q-q1_r1-option-3">
            <a:extLst xmlns:a="http://schemas.openxmlformats.org/drawingml/2006/main">
              <a:ext uri="{FF2B5EF4-FFF2-40B4-BE49-F238E27FC236}">
                <a16:creationId xmlns:a16="http://schemas.microsoft.com/office/drawing/2014/main" id="{A89DF49B-F0A6-4EE2-AAE1-A08F46A658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3695700"/>
            <a:ext cx="64008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③  책을 고릅니다.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640BA73-FCB4-4B94-813E-A63061E4FD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4400550"/>
            <a:ext cx="6743700" cy="666750"/>
          </a:xfrm>
          <a:prstGeom xmlns:a="http://schemas.openxmlformats.org/drawingml/2006/main" prst="roundRect">
            <a:avLst>
              <a:gd name="adj" fmla="val 17143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475569"/>
            </a:solidFill>
            <a:prstDash val="solid"/>
          </a:ln>
        </p:spPr>
      </p:sp>
      <p:sp>
        <p:nvSpPr>
          <p:cNvPr id="13" name="q-q1_r1-option-4">
            <a:extLst xmlns:a="http://schemas.openxmlformats.org/drawingml/2006/main">
              <a:ext uri="{FF2B5EF4-FFF2-40B4-BE49-F238E27FC236}">
                <a16:creationId xmlns:a16="http://schemas.microsoft.com/office/drawing/2014/main" id="{7B5E4352-2A72-431B-B494-A3D3992D69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4457700"/>
            <a:ext cx="64008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④  옷을 삽니다.</a:t>
            </a:r>
          </a:p>
        </p:txBody>
      </p:sp>
      <p:sp>
        <p:nvSpPr>
          <p:cNvPr id="14" name="footer-brand">
            <a:extLst xmlns:a="http://schemas.openxmlformats.org/drawingml/2006/main">
              <a:ext uri="{FF2B5EF4-FFF2-40B4-BE49-F238E27FC236}">
                <a16:creationId xmlns:a16="http://schemas.microsoft.com/office/drawing/2014/main" id="{E92E9383-892B-4840-9457-9EDD182255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96050"/>
            <a:ext cx="3238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050">
                <a:solidFill>
                  <a:srgbClr val="94A3B8"/>
                </a:solidFill>
              </a:defRPr>
            </a:pPr>
            <a:r>
              <a:rPr sz="1050">
                <a:solidFill>
                  <a:srgbClr val="94A3B8"/>
                </a:solidFill>
              </a:rPr>
              <a:t>TOPIK-Edu Smart Academy</a:t>
            </a:r>
          </a:p>
        </p:txBody>
      </p:sp>
      <p:sp>
        <p:nvSpPr>
          <p:cNvPr id="15" name="footer-page">
            <a:extLst xmlns:a="http://schemas.openxmlformats.org/drawingml/2006/main">
              <a:ext uri="{FF2B5EF4-FFF2-40B4-BE49-F238E27FC236}">
                <a16:creationId xmlns:a16="http://schemas.microsoft.com/office/drawing/2014/main" id="{0B505576-0917-47D0-89E2-5B00C60F01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6496050"/>
            <a:ext cx="2171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buNone/>
              <a:defRPr sz="1050">
                <a:solidFill>
                  <a:srgbClr val="94A3B8"/>
                </a:solidFill>
              </a:defRPr>
            </a:pPr>
            <a:r>
              <a:rPr sz="1050">
                <a:solidFill>
                  <a:srgbClr val="94A3B8"/>
                </a:solidFill>
              </a:rPr>
              <a:t>1회차 · 1/14</a:t>
            </a:r>
          </a:p>
        </p:txBody>
      </p:sp>
    </p:spTree>
    <p:extLst>
      <p:ext uri="{BB962C8B-B14F-4D97-AF65-F5344CB8AC3E}">
        <p14:creationId xmlns:p14="http://schemas.microsoft.com/office/powerpoint/2010/main" val="377114119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0F17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D9C9D70-B69C-43B2-B498-982E919867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228600"/>
            <a:ext cx="11468100" cy="6191250"/>
          </a:xfrm>
          <a:prstGeom xmlns:a="http://schemas.openxmlformats.org/drawingml/2006/main" prst="roundRect">
            <a:avLst>
              <a:gd name="adj" fmla="val 1846"/>
            </a:avLst>
          </a:prstGeom>
          <a:solidFill xmlns:a="http://schemas.openxmlformats.org/drawingml/2006/main">
            <a:srgbClr val="1E293B"/>
          </a:solidFill>
          <a:ln xmlns:a="http://schemas.openxmlformats.org/drawingml/2006/main" w="9525">
            <a:solidFill>
              <a:srgbClr val="334155"/>
            </a:solidFill>
            <a:prstDash val="solid"/>
          </a:ln>
        </p:spPr>
      </p:sp>
      <p:sp>
        <p:nvSpPr>
          <p:cNvPr id="2" name="q-q1_r2-number">
            <a:extLst xmlns:a="http://schemas.openxmlformats.org/drawingml/2006/main">
              <a:ext uri="{FF2B5EF4-FFF2-40B4-BE49-F238E27FC236}">
                <a16:creationId xmlns:a16="http://schemas.microsoft.com/office/drawing/2014/main" id="{BB3A0ABC-B92F-4971-A2BF-11CBA1D7D0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00050"/>
            <a:ext cx="1714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C7D2FE"/>
                </a:solidFill>
              </a:defRPr>
            </a:pPr>
            <a:r>
              <a:rPr sz="1350" b="1">
                <a:solidFill>
                  <a:srgbClr val="C7D2FE"/>
                </a:solidFill>
              </a:rPr>
              <a:t>문제 02</a:t>
            </a:r>
          </a:p>
        </p:txBody>
      </p:sp>
      <p:sp>
        <p:nvSpPr>
          <p:cNvPr id="3" name="q-q1_r2-category">
            <a:extLst xmlns:a="http://schemas.openxmlformats.org/drawingml/2006/main">
              <a:ext uri="{FF2B5EF4-FFF2-40B4-BE49-F238E27FC236}">
                <a16:creationId xmlns:a16="http://schemas.microsoft.com/office/drawing/2014/main" id="{AB645A83-7B09-4FEE-BF92-8B72C6E2F9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400050"/>
            <a:ext cx="3524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buNone/>
              <a:defRPr sz="1275" b="1">
                <a:solidFill>
                  <a:srgbClr val="5EEAD4"/>
                </a:solidFill>
              </a:defRPr>
            </a:pPr>
            <a:r>
              <a:rPr sz="1275" b="1">
                <a:solidFill>
                  <a:srgbClr val="5EEAD4"/>
                </a:solidFill>
              </a:rPr>
              <a:t>읽기 (Reading) 기출</a:t>
            </a:r>
          </a:p>
        </p:txBody>
      </p:sp>
      <p:sp>
        <p:nvSpPr>
          <p:cNvPr id="4" name="q-q1_r2-text">
            <a:extLst xmlns:a="http://schemas.openxmlformats.org/drawingml/2006/main">
              <a:ext uri="{FF2B5EF4-FFF2-40B4-BE49-F238E27FC236}">
                <a16:creationId xmlns:a16="http://schemas.microsoft.com/office/drawing/2014/main" id="{55318403-7D75-4BD2-9A4A-7163BCDA4B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38200"/>
            <a:ext cx="109347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buNone/>
              <a:defRPr sz="2625" b="1">
                <a:solidFill>
                  <a:srgbClr val="FFFFFF"/>
                </a:solidFill>
              </a:defRPr>
            </a:pPr>
            <a:r>
              <a:rPr sz="2625" b="1">
                <a:solidFill>
                  <a:srgbClr val="FFFFFF"/>
                </a:solidFill>
              </a:rPr>
              <a:t>다음 빈칸에 들어갈 가장 알맞은 조사를 고르십시오. (TOPIK I 기출)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7EBB5B8-B645-4668-BF4D-546BB00007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19250"/>
            <a:ext cx="10934700" cy="1381125"/>
          </a:xfrm>
          <a:prstGeom xmlns:a="http://schemas.openxmlformats.org/drawingml/2006/main" prst="roundRect">
            <a:avLst>
              <a:gd name="adj" fmla="val 8276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475569"/>
            </a:solidFill>
            <a:prstDash val="solid"/>
          </a:ln>
        </p:spPr>
      </p:sp>
      <p:sp>
        <p:nvSpPr>
          <p:cNvPr id="6" name="q-q1_r2-passage">
            <a:extLst xmlns:a="http://schemas.openxmlformats.org/drawingml/2006/main">
              <a:ext uri="{FF2B5EF4-FFF2-40B4-BE49-F238E27FC236}">
                <a16:creationId xmlns:a16="http://schemas.microsoft.com/office/drawing/2014/main" id="{0CE84012-9CAD-4AD7-A171-47EC22CB2B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733550"/>
            <a:ext cx="10553700" cy="1152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buNone/>
              <a:defRPr sz="1875">
                <a:solidFill>
                  <a:srgbClr val="FFFFFF"/>
                </a:solidFill>
              </a:defRPr>
            </a:pPr>
            <a:r>
              <a:rPr sz="1875">
                <a:solidFill>
                  <a:srgbClr val="FFFFFF"/>
                </a:solidFill>
              </a:rPr>
              <a:t>저는 오늘 시장에 갑니다. 시장에서 사과(         ) 배를 삽니다.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179CC3F-F20E-4BF0-9B7A-4FA8EAFCD2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19450"/>
            <a:ext cx="5400675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475569"/>
            </a:solidFill>
            <a:prstDash val="solid"/>
          </a:ln>
        </p:spPr>
      </p:sp>
      <p:sp>
        <p:nvSpPr>
          <p:cNvPr id="8" name="q-q1_r2-option-1">
            <a:extLst xmlns:a="http://schemas.openxmlformats.org/drawingml/2006/main">
              <a:ext uri="{FF2B5EF4-FFF2-40B4-BE49-F238E27FC236}">
                <a16:creationId xmlns:a16="http://schemas.microsoft.com/office/drawing/2014/main" id="{5C8B5226-9D2B-4BF9-885A-B256FE7ACC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276600"/>
            <a:ext cx="50577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①  가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565BFD4-AC68-41C0-9ABF-AAA6500C6F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3219450"/>
            <a:ext cx="5400675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475569"/>
            </a:solidFill>
            <a:prstDash val="solid"/>
          </a:ln>
        </p:spPr>
      </p:sp>
      <p:sp>
        <p:nvSpPr>
          <p:cNvPr id="10" name="q-q1_r2-option-2">
            <a:extLst xmlns:a="http://schemas.openxmlformats.org/drawingml/2006/main">
              <a:ext uri="{FF2B5EF4-FFF2-40B4-BE49-F238E27FC236}">
                <a16:creationId xmlns:a16="http://schemas.microsoft.com/office/drawing/2014/main" id="{E9FF776D-398D-4903-A457-E839C97F1A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5075" y="3276600"/>
            <a:ext cx="50577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②  와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4C049A0-17C4-4FA6-BB23-C414ADC25B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95750"/>
            <a:ext cx="5400675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475569"/>
            </a:solidFill>
            <a:prstDash val="solid"/>
          </a:ln>
        </p:spPr>
      </p:sp>
      <p:sp>
        <p:nvSpPr>
          <p:cNvPr id="12" name="q-q1_r2-option-3">
            <a:extLst xmlns:a="http://schemas.openxmlformats.org/drawingml/2006/main">
              <a:ext uri="{FF2B5EF4-FFF2-40B4-BE49-F238E27FC236}">
                <a16:creationId xmlns:a16="http://schemas.microsoft.com/office/drawing/2014/main" id="{7EDA89B1-ACDE-41DF-B0E3-5418B6A1BB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152900"/>
            <a:ext cx="50577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③  를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6ED8BB2-2E7E-4D6D-B058-EE3D177804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4095750"/>
            <a:ext cx="5400675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475569"/>
            </a:solidFill>
            <a:prstDash val="solid"/>
          </a:ln>
        </p:spPr>
      </p:sp>
      <p:sp>
        <p:nvSpPr>
          <p:cNvPr id="14" name="q-q1_r2-option-4">
            <a:extLst xmlns:a="http://schemas.openxmlformats.org/drawingml/2006/main">
              <a:ext uri="{FF2B5EF4-FFF2-40B4-BE49-F238E27FC236}">
                <a16:creationId xmlns:a16="http://schemas.microsoft.com/office/drawing/2014/main" id="{697E7079-0C9C-4192-BBC3-C15048D50C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5075" y="4152900"/>
            <a:ext cx="50577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④  로</a:t>
            </a:r>
          </a:p>
        </p:txBody>
      </p:sp>
      <p:sp>
        <p:nvSpPr>
          <p:cNvPr id="15" name="footer-brand">
            <a:extLst xmlns:a="http://schemas.openxmlformats.org/drawingml/2006/main">
              <a:ext uri="{FF2B5EF4-FFF2-40B4-BE49-F238E27FC236}">
                <a16:creationId xmlns:a16="http://schemas.microsoft.com/office/drawing/2014/main" id="{94C49589-E594-4B3B-A07F-B8B677C5F4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96050"/>
            <a:ext cx="3238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050">
                <a:solidFill>
                  <a:srgbClr val="94A3B8"/>
                </a:solidFill>
              </a:defRPr>
            </a:pPr>
            <a:r>
              <a:rPr sz="1050">
                <a:solidFill>
                  <a:srgbClr val="94A3B8"/>
                </a:solidFill>
              </a:rPr>
              <a:t>TOPIK-Edu Smart Academy</a:t>
            </a:r>
          </a:p>
        </p:txBody>
      </p:sp>
      <p:sp>
        <p:nvSpPr>
          <p:cNvPr id="16" name="footer-page">
            <a:extLst xmlns:a="http://schemas.openxmlformats.org/drawingml/2006/main">
              <a:ext uri="{FF2B5EF4-FFF2-40B4-BE49-F238E27FC236}">
                <a16:creationId xmlns:a16="http://schemas.microsoft.com/office/drawing/2014/main" id="{62B9622B-C90E-4AD3-8FA6-E9902C8F2C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6496050"/>
            <a:ext cx="2171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buNone/>
              <a:defRPr sz="1050">
                <a:solidFill>
                  <a:srgbClr val="94A3B8"/>
                </a:solidFill>
              </a:defRPr>
            </a:pPr>
            <a:r>
              <a:rPr sz="1050">
                <a:solidFill>
                  <a:srgbClr val="94A3B8"/>
                </a:solidFill>
              </a:rPr>
              <a:t>1회차 · 2/14</a:t>
            </a:r>
          </a:p>
        </p:txBody>
      </p:sp>
    </p:spTree>
    <p:extLst>
      <p:ext uri="{BB962C8B-B14F-4D97-AF65-F5344CB8AC3E}">
        <p14:creationId xmlns:p14="http://schemas.microsoft.com/office/powerpoint/2010/main" val="439361950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0F17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371AFC3-F835-4F71-B7B9-86188367E8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228600"/>
            <a:ext cx="11468100" cy="6191250"/>
          </a:xfrm>
          <a:prstGeom xmlns:a="http://schemas.openxmlformats.org/drawingml/2006/main" prst="roundRect">
            <a:avLst>
              <a:gd name="adj" fmla="val 1846"/>
            </a:avLst>
          </a:prstGeom>
          <a:solidFill xmlns:a="http://schemas.openxmlformats.org/drawingml/2006/main">
            <a:srgbClr val="1E293B"/>
          </a:solidFill>
          <a:ln xmlns:a="http://schemas.openxmlformats.org/drawingml/2006/main" w="9525">
            <a:solidFill>
              <a:srgbClr val="334155"/>
            </a:solidFill>
            <a:prstDash val="solid"/>
          </a:ln>
        </p:spPr>
      </p:sp>
      <p:sp>
        <p:nvSpPr>
          <p:cNvPr id="2" name="q-q1_r3-number">
            <a:extLst xmlns:a="http://schemas.openxmlformats.org/drawingml/2006/main">
              <a:ext uri="{FF2B5EF4-FFF2-40B4-BE49-F238E27FC236}">
                <a16:creationId xmlns:a16="http://schemas.microsoft.com/office/drawing/2014/main" id="{1CBBFD24-56FA-4234-AE9A-AC5B499757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00050"/>
            <a:ext cx="1714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C7D2FE"/>
                </a:solidFill>
              </a:defRPr>
            </a:pPr>
            <a:r>
              <a:rPr sz="1350" b="1">
                <a:solidFill>
                  <a:srgbClr val="C7D2FE"/>
                </a:solidFill>
              </a:rPr>
              <a:t>문제 03</a:t>
            </a:r>
          </a:p>
        </p:txBody>
      </p:sp>
      <p:sp>
        <p:nvSpPr>
          <p:cNvPr id="3" name="q-q1_r3-category">
            <a:extLst xmlns:a="http://schemas.openxmlformats.org/drawingml/2006/main">
              <a:ext uri="{FF2B5EF4-FFF2-40B4-BE49-F238E27FC236}">
                <a16:creationId xmlns:a16="http://schemas.microsoft.com/office/drawing/2014/main" id="{11549116-EDA5-4632-9DB7-FFFDDCDC12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400050"/>
            <a:ext cx="3524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buNone/>
              <a:defRPr sz="1275" b="1">
                <a:solidFill>
                  <a:srgbClr val="5EEAD4"/>
                </a:solidFill>
              </a:defRPr>
            </a:pPr>
            <a:r>
              <a:rPr sz="1275" b="1">
                <a:solidFill>
                  <a:srgbClr val="5EEAD4"/>
                </a:solidFill>
              </a:rPr>
              <a:t>읽기 (Reading) 추가 기출</a:t>
            </a:r>
          </a:p>
        </p:txBody>
      </p:sp>
      <p:sp>
        <p:nvSpPr>
          <p:cNvPr id="4" name="q-q1_r3-text">
            <a:extLst xmlns:a="http://schemas.openxmlformats.org/drawingml/2006/main">
              <a:ext uri="{FF2B5EF4-FFF2-40B4-BE49-F238E27FC236}">
                <a16:creationId xmlns:a16="http://schemas.microsoft.com/office/drawing/2014/main" id="{D432C472-500A-4769-AADF-92B5E3F7D5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38200"/>
            <a:ext cx="109347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buNone/>
              <a:defRPr sz="2625" b="1">
                <a:solidFill>
                  <a:srgbClr val="FFFFFF"/>
                </a:solidFill>
              </a:defRPr>
            </a:pPr>
            <a:r>
              <a:rPr sz="2625" b="1">
                <a:solidFill>
                  <a:srgbClr val="FFFFFF"/>
                </a:solidFill>
              </a:rPr>
              <a:t>다음 그림 상황에 들어맞는 문장으로 가장 알맞은 것을 고르십시오.</a:t>
            </a:r>
          </a:p>
        </p:txBody>
      </p:sp>
      <p:pic>
        <p:nvPicPr>
          <p:cNvPr id="2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4db4ed682664b8d"/>
          <a:stretch xmlns:a="http://schemas.openxmlformats.org/drawingml/2006/main"/>
        </p:blipFill>
        <p:spPr>
          <a:xfrm xmlns:a="http://schemas.openxmlformats.org/drawingml/2006/main">
            <a:off x="1095375" y="2114550"/>
            <a:ext cx="2857500" cy="2857500"/>
          </a:xfrm>
          <a:prstGeom xmlns:a="http://schemas.openxmlformats.org/drawingml/2006/main" prst="roundRect">
            <a:avLst>
              <a:gd name="adj" fmla="val 4000"/>
            </a:avLst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7C187BB-3FDD-45A3-9AC1-AC94A77CAD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114550"/>
            <a:ext cx="6743700" cy="666750"/>
          </a:xfrm>
          <a:prstGeom xmlns:a="http://schemas.openxmlformats.org/drawingml/2006/main" prst="roundRect">
            <a:avLst>
              <a:gd name="adj" fmla="val 17143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475569"/>
            </a:solidFill>
            <a:prstDash val="solid"/>
          </a:ln>
        </p:spPr>
      </p:sp>
      <p:sp>
        <p:nvSpPr>
          <p:cNvPr id="7" name="q-q1_r3-option-1">
            <a:extLst xmlns:a="http://schemas.openxmlformats.org/drawingml/2006/main">
              <a:ext uri="{FF2B5EF4-FFF2-40B4-BE49-F238E27FC236}">
                <a16:creationId xmlns:a16="http://schemas.microsoft.com/office/drawing/2014/main" id="{5CEA8F26-25BE-4425-8DF1-814591CD8C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2171700"/>
            <a:ext cx="64008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①  진료를 받습니다.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220E0C5-A68E-4F69-B91E-82BDBEB8F8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876550"/>
            <a:ext cx="6743700" cy="666750"/>
          </a:xfrm>
          <a:prstGeom xmlns:a="http://schemas.openxmlformats.org/drawingml/2006/main" prst="roundRect">
            <a:avLst>
              <a:gd name="adj" fmla="val 17143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475569"/>
            </a:solidFill>
            <a:prstDash val="solid"/>
          </a:ln>
        </p:spPr>
      </p:sp>
      <p:sp>
        <p:nvSpPr>
          <p:cNvPr id="9" name="q-q1_r3-option-2">
            <a:extLst xmlns:a="http://schemas.openxmlformats.org/drawingml/2006/main">
              <a:ext uri="{FF2B5EF4-FFF2-40B4-BE49-F238E27FC236}">
                <a16:creationId xmlns:a16="http://schemas.microsoft.com/office/drawing/2014/main" id="{EA0B150E-0C88-4431-A751-01F6D457A5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2933700"/>
            <a:ext cx="64008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②  장난감을 가지고 놉니다.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EE6B23B-D4F1-460D-9B34-067EB739F5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3638550"/>
            <a:ext cx="6743700" cy="666750"/>
          </a:xfrm>
          <a:prstGeom xmlns:a="http://schemas.openxmlformats.org/drawingml/2006/main" prst="roundRect">
            <a:avLst>
              <a:gd name="adj" fmla="val 17143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475569"/>
            </a:solidFill>
            <a:prstDash val="solid"/>
          </a:ln>
        </p:spPr>
      </p:sp>
      <p:sp>
        <p:nvSpPr>
          <p:cNvPr id="11" name="q-q1_r3-option-3">
            <a:extLst xmlns:a="http://schemas.openxmlformats.org/drawingml/2006/main">
              <a:ext uri="{FF2B5EF4-FFF2-40B4-BE49-F238E27FC236}">
                <a16:creationId xmlns:a16="http://schemas.microsoft.com/office/drawing/2014/main" id="{B1A7D3E4-EF34-4C40-813D-F7EDF7FCDC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3695700"/>
            <a:ext cx="64008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③  공부를 가르칩니다.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C214D3E-E2DB-443F-AA0F-5247AA464D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4400550"/>
            <a:ext cx="6743700" cy="666750"/>
          </a:xfrm>
          <a:prstGeom xmlns:a="http://schemas.openxmlformats.org/drawingml/2006/main" prst="roundRect">
            <a:avLst>
              <a:gd name="adj" fmla="val 17143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475569"/>
            </a:solidFill>
            <a:prstDash val="solid"/>
          </a:ln>
        </p:spPr>
      </p:sp>
      <p:sp>
        <p:nvSpPr>
          <p:cNvPr id="13" name="q-q1_r3-option-4">
            <a:extLst xmlns:a="http://schemas.openxmlformats.org/drawingml/2006/main">
              <a:ext uri="{FF2B5EF4-FFF2-40B4-BE49-F238E27FC236}">
                <a16:creationId xmlns:a16="http://schemas.microsoft.com/office/drawing/2014/main" id="{218455DB-4119-463E-916A-95521DE72F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4457700"/>
            <a:ext cx="64008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④  요리를 시킵니다.</a:t>
            </a:r>
          </a:p>
        </p:txBody>
      </p:sp>
      <p:sp>
        <p:nvSpPr>
          <p:cNvPr id="14" name="footer-brand">
            <a:extLst xmlns:a="http://schemas.openxmlformats.org/drawingml/2006/main">
              <a:ext uri="{FF2B5EF4-FFF2-40B4-BE49-F238E27FC236}">
                <a16:creationId xmlns:a16="http://schemas.microsoft.com/office/drawing/2014/main" id="{3B9847C7-5351-4311-913A-CA7C9C3773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96050"/>
            <a:ext cx="3238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050">
                <a:solidFill>
                  <a:srgbClr val="94A3B8"/>
                </a:solidFill>
              </a:defRPr>
            </a:pPr>
            <a:r>
              <a:rPr sz="1050">
                <a:solidFill>
                  <a:srgbClr val="94A3B8"/>
                </a:solidFill>
              </a:rPr>
              <a:t>TOPIK-Edu Smart Academy</a:t>
            </a:r>
          </a:p>
        </p:txBody>
      </p:sp>
      <p:sp>
        <p:nvSpPr>
          <p:cNvPr id="15" name="footer-page">
            <a:extLst xmlns:a="http://schemas.openxmlformats.org/drawingml/2006/main">
              <a:ext uri="{FF2B5EF4-FFF2-40B4-BE49-F238E27FC236}">
                <a16:creationId xmlns:a16="http://schemas.microsoft.com/office/drawing/2014/main" id="{5EEA047A-CFB5-432D-B9D1-F1F351490A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6496050"/>
            <a:ext cx="2171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buNone/>
              <a:defRPr sz="1050">
                <a:solidFill>
                  <a:srgbClr val="94A3B8"/>
                </a:solidFill>
              </a:defRPr>
            </a:pPr>
            <a:r>
              <a:rPr sz="1050">
                <a:solidFill>
                  <a:srgbClr val="94A3B8"/>
                </a:solidFill>
              </a:rPr>
              <a:t>1회차 · 3/14</a:t>
            </a:r>
          </a:p>
        </p:txBody>
      </p:sp>
    </p:spTree>
    <p:extLst>
      <p:ext uri="{BB962C8B-B14F-4D97-AF65-F5344CB8AC3E}">
        <p14:creationId xmlns:p14="http://schemas.microsoft.com/office/powerpoint/2010/main" val="1965666033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0F17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CEE2CD4-8FC1-4891-8DB2-13C9CF50E3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228600"/>
            <a:ext cx="11468100" cy="6191250"/>
          </a:xfrm>
          <a:prstGeom xmlns:a="http://schemas.openxmlformats.org/drawingml/2006/main" prst="roundRect">
            <a:avLst>
              <a:gd name="adj" fmla="val 1846"/>
            </a:avLst>
          </a:prstGeom>
          <a:solidFill xmlns:a="http://schemas.openxmlformats.org/drawingml/2006/main">
            <a:srgbClr val="1E293B"/>
          </a:solidFill>
          <a:ln xmlns:a="http://schemas.openxmlformats.org/drawingml/2006/main" w="9525">
            <a:solidFill>
              <a:srgbClr val="334155"/>
            </a:solidFill>
            <a:prstDash val="solid"/>
          </a:ln>
        </p:spPr>
      </p:sp>
      <p:sp>
        <p:nvSpPr>
          <p:cNvPr id="2" name="q-q1_r4-number">
            <a:extLst xmlns:a="http://schemas.openxmlformats.org/drawingml/2006/main">
              <a:ext uri="{FF2B5EF4-FFF2-40B4-BE49-F238E27FC236}">
                <a16:creationId xmlns:a16="http://schemas.microsoft.com/office/drawing/2014/main" id="{0F3745E0-DDC7-4D87-8347-8564199344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00050"/>
            <a:ext cx="1714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C7D2FE"/>
                </a:solidFill>
              </a:defRPr>
            </a:pPr>
            <a:r>
              <a:rPr sz="1350" b="1">
                <a:solidFill>
                  <a:srgbClr val="C7D2FE"/>
                </a:solidFill>
              </a:rPr>
              <a:t>문제 04</a:t>
            </a:r>
          </a:p>
        </p:txBody>
      </p:sp>
      <p:sp>
        <p:nvSpPr>
          <p:cNvPr id="3" name="q-q1_r4-category">
            <a:extLst xmlns:a="http://schemas.openxmlformats.org/drawingml/2006/main">
              <a:ext uri="{FF2B5EF4-FFF2-40B4-BE49-F238E27FC236}">
                <a16:creationId xmlns:a16="http://schemas.microsoft.com/office/drawing/2014/main" id="{6D1CEFEF-C34B-4841-9316-8CE09BE020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400050"/>
            <a:ext cx="3524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buNone/>
              <a:defRPr sz="1275" b="1">
                <a:solidFill>
                  <a:srgbClr val="5EEAD4"/>
                </a:solidFill>
              </a:defRPr>
            </a:pPr>
            <a:r>
              <a:rPr sz="1275" b="1">
                <a:solidFill>
                  <a:srgbClr val="5EEAD4"/>
                </a:solidFill>
              </a:rPr>
              <a:t>읽기 (Reading) 추가 기출</a:t>
            </a:r>
          </a:p>
        </p:txBody>
      </p:sp>
      <p:sp>
        <p:nvSpPr>
          <p:cNvPr id="4" name="q-q1_r4-text">
            <a:extLst xmlns:a="http://schemas.openxmlformats.org/drawingml/2006/main">
              <a:ext uri="{FF2B5EF4-FFF2-40B4-BE49-F238E27FC236}">
                <a16:creationId xmlns:a16="http://schemas.microsoft.com/office/drawing/2014/main" id="{EBF15C7F-3C8D-4362-9AA5-6151E2CAF3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38200"/>
            <a:ext cx="109347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buNone/>
              <a:defRPr sz="2625" b="1">
                <a:solidFill>
                  <a:srgbClr val="FFFFFF"/>
                </a:solidFill>
              </a:defRPr>
            </a:pPr>
            <a:r>
              <a:rPr sz="2625" b="1">
                <a:solidFill>
                  <a:srgbClr val="FFFFFF"/>
                </a:solidFill>
              </a:rPr>
              <a:t>다음 빈칸에 들어갈 알맞은 조사를 고르십시오.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CA7090A-4F14-490A-9E02-548C2DFEE6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19250"/>
            <a:ext cx="10934700" cy="1381125"/>
          </a:xfrm>
          <a:prstGeom xmlns:a="http://schemas.openxmlformats.org/drawingml/2006/main" prst="roundRect">
            <a:avLst>
              <a:gd name="adj" fmla="val 8276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475569"/>
            </a:solidFill>
            <a:prstDash val="solid"/>
          </a:ln>
        </p:spPr>
      </p:sp>
      <p:sp>
        <p:nvSpPr>
          <p:cNvPr id="6" name="q-q1_r4-passage">
            <a:extLst xmlns:a="http://schemas.openxmlformats.org/drawingml/2006/main">
              <a:ext uri="{FF2B5EF4-FFF2-40B4-BE49-F238E27FC236}">
                <a16:creationId xmlns:a16="http://schemas.microsoft.com/office/drawing/2014/main" id="{4AAFE170-AF46-44A7-A6D6-F672E97962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733550"/>
            <a:ext cx="10553700" cy="1152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buNone/>
              <a:defRPr sz="1875">
                <a:solidFill>
                  <a:srgbClr val="FFFFFF"/>
                </a:solidFill>
              </a:defRPr>
            </a:pPr>
            <a:r>
              <a:rPr sz="1875">
                <a:solidFill>
                  <a:srgbClr val="FFFFFF"/>
                </a:solidFill>
              </a:rPr>
              <a:t>저는 주말에 도서관에 갑니다. 도서관(         ) 책을 많이 읽습니다.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2C50606-F2C4-45EC-A6E1-84F3D0EEF4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19450"/>
            <a:ext cx="5400675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475569"/>
            </a:solidFill>
            <a:prstDash val="solid"/>
          </a:ln>
        </p:spPr>
      </p:sp>
      <p:sp>
        <p:nvSpPr>
          <p:cNvPr id="8" name="q-q1_r4-option-1">
            <a:extLst xmlns:a="http://schemas.openxmlformats.org/drawingml/2006/main">
              <a:ext uri="{FF2B5EF4-FFF2-40B4-BE49-F238E27FC236}">
                <a16:creationId xmlns:a16="http://schemas.microsoft.com/office/drawing/2014/main" id="{E3C6D292-434D-47DE-95D3-2B2807B4B8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276600"/>
            <a:ext cx="50577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①  이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364570D-CE58-4055-AF4A-16E7527E2B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3219450"/>
            <a:ext cx="5400675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475569"/>
            </a:solidFill>
            <a:prstDash val="solid"/>
          </a:ln>
        </p:spPr>
      </p:sp>
      <p:sp>
        <p:nvSpPr>
          <p:cNvPr id="10" name="q-q1_r4-option-2">
            <a:extLst xmlns:a="http://schemas.openxmlformats.org/drawingml/2006/main">
              <a:ext uri="{FF2B5EF4-FFF2-40B4-BE49-F238E27FC236}">
                <a16:creationId xmlns:a16="http://schemas.microsoft.com/office/drawing/2014/main" id="{FD050880-C0A2-4E2E-8EDF-2882C6A804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5075" y="3276600"/>
            <a:ext cx="50577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②  을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607D6AC-9733-47F2-BCDB-7E0EB1951D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95750"/>
            <a:ext cx="5400675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475569"/>
            </a:solidFill>
            <a:prstDash val="solid"/>
          </a:ln>
        </p:spPr>
      </p:sp>
      <p:sp>
        <p:nvSpPr>
          <p:cNvPr id="12" name="q-q1_r4-option-3">
            <a:extLst xmlns:a="http://schemas.openxmlformats.org/drawingml/2006/main">
              <a:ext uri="{FF2B5EF4-FFF2-40B4-BE49-F238E27FC236}">
                <a16:creationId xmlns:a16="http://schemas.microsoft.com/office/drawing/2014/main" id="{FAEB15A4-5F57-4E17-AD15-2CCE4526CC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152900"/>
            <a:ext cx="50577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③  에서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D6DF972-B726-4820-B57A-3F01D3E45A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4095750"/>
            <a:ext cx="5400675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475569"/>
            </a:solidFill>
            <a:prstDash val="solid"/>
          </a:ln>
        </p:spPr>
      </p:sp>
      <p:sp>
        <p:nvSpPr>
          <p:cNvPr id="14" name="q-q1_r4-option-4">
            <a:extLst xmlns:a="http://schemas.openxmlformats.org/drawingml/2006/main">
              <a:ext uri="{FF2B5EF4-FFF2-40B4-BE49-F238E27FC236}">
                <a16:creationId xmlns:a16="http://schemas.microsoft.com/office/drawing/2014/main" id="{19AA360B-2FC1-4875-8E8B-1E3BCA76FF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5075" y="4152900"/>
            <a:ext cx="50577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④  의</a:t>
            </a:r>
          </a:p>
        </p:txBody>
      </p:sp>
      <p:sp>
        <p:nvSpPr>
          <p:cNvPr id="15" name="footer-brand">
            <a:extLst xmlns:a="http://schemas.openxmlformats.org/drawingml/2006/main">
              <a:ext uri="{FF2B5EF4-FFF2-40B4-BE49-F238E27FC236}">
                <a16:creationId xmlns:a16="http://schemas.microsoft.com/office/drawing/2014/main" id="{90E0FAFB-4416-46D8-A3AC-53589DEF99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96050"/>
            <a:ext cx="3238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050">
                <a:solidFill>
                  <a:srgbClr val="94A3B8"/>
                </a:solidFill>
              </a:defRPr>
            </a:pPr>
            <a:r>
              <a:rPr sz="1050">
                <a:solidFill>
                  <a:srgbClr val="94A3B8"/>
                </a:solidFill>
              </a:rPr>
              <a:t>TOPIK-Edu Smart Academy</a:t>
            </a:r>
          </a:p>
        </p:txBody>
      </p:sp>
      <p:sp>
        <p:nvSpPr>
          <p:cNvPr id="16" name="footer-page">
            <a:extLst xmlns:a="http://schemas.openxmlformats.org/drawingml/2006/main">
              <a:ext uri="{FF2B5EF4-FFF2-40B4-BE49-F238E27FC236}">
                <a16:creationId xmlns:a16="http://schemas.microsoft.com/office/drawing/2014/main" id="{6E428DA3-7277-48B7-9A98-2B8F0BD298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6496050"/>
            <a:ext cx="2171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buNone/>
              <a:defRPr sz="1050">
                <a:solidFill>
                  <a:srgbClr val="94A3B8"/>
                </a:solidFill>
              </a:defRPr>
            </a:pPr>
            <a:r>
              <a:rPr sz="1050">
                <a:solidFill>
                  <a:srgbClr val="94A3B8"/>
                </a:solidFill>
              </a:rPr>
              <a:t>1회차 · 4/14</a:t>
            </a:r>
          </a:p>
        </p:txBody>
      </p:sp>
    </p:spTree>
    <p:extLst>
      <p:ext uri="{BB962C8B-B14F-4D97-AF65-F5344CB8AC3E}">
        <p14:creationId xmlns:p14="http://schemas.microsoft.com/office/powerpoint/2010/main" val="972733101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0F17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13AC206-6C62-4910-9B5B-251163F57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228600"/>
            <a:ext cx="11468100" cy="6191250"/>
          </a:xfrm>
          <a:prstGeom xmlns:a="http://schemas.openxmlformats.org/drawingml/2006/main" prst="roundRect">
            <a:avLst>
              <a:gd name="adj" fmla="val 1846"/>
            </a:avLst>
          </a:prstGeom>
          <a:solidFill xmlns:a="http://schemas.openxmlformats.org/drawingml/2006/main">
            <a:srgbClr val="1E293B"/>
          </a:solidFill>
          <a:ln xmlns:a="http://schemas.openxmlformats.org/drawingml/2006/main" w="9525">
            <a:solidFill>
              <a:srgbClr val="334155"/>
            </a:solidFill>
            <a:prstDash val="solid"/>
          </a:ln>
        </p:spPr>
      </p:sp>
      <p:sp>
        <p:nvSpPr>
          <p:cNvPr id="2" name="q-q1_r5-number">
            <a:extLst xmlns:a="http://schemas.openxmlformats.org/drawingml/2006/main">
              <a:ext uri="{FF2B5EF4-FFF2-40B4-BE49-F238E27FC236}">
                <a16:creationId xmlns:a16="http://schemas.microsoft.com/office/drawing/2014/main" id="{C041402B-B82E-4C7D-8A44-AB827A79B0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00050"/>
            <a:ext cx="1714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C7D2FE"/>
                </a:solidFill>
              </a:defRPr>
            </a:pPr>
            <a:r>
              <a:rPr sz="1350" b="1">
                <a:solidFill>
                  <a:srgbClr val="C7D2FE"/>
                </a:solidFill>
              </a:rPr>
              <a:t>문제 05</a:t>
            </a:r>
          </a:p>
        </p:txBody>
      </p:sp>
      <p:sp>
        <p:nvSpPr>
          <p:cNvPr id="3" name="q-q1_r5-category">
            <a:extLst xmlns:a="http://schemas.openxmlformats.org/drawingml/2006/main">
              <a:ext uri="{FF2B5EF4-FFF2-40B4-BE49-F238E27FC236}">
                <a16:creationId xmlns:a16="http://schemas.microsoft.com/office/drawing/2014/main" id="{FC2FF1A6-4165-46AA-B769-275DE605B9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400050"/>
            <a:ext cx="3524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buNone/>
              <a:defRPr sz="1275" b="1">
                <a:solidFill>
                  <a:srgbClr val="5EEAD4"/>
                </a:solidFill>
              </a:defRPr>
            </a:pPr>
            <a:r>
              <a:rPr sz="1275" b="1">
                <a:solidFill>
                  <a:srgbClr val="5EEAD4"/>
                </a:solidFill>
              </a:rPr>
              <a:t>읽기 (Reading) 추가 기출</a:t>
            </a:r>
          </a:p>
        </p:txBody>
      </p:sp>
      <p:sp>
        <p:nvSpPr>
          <p:cNvPr id="4" name="q-q1_r5-text">
            <a:extLst xmlns:a="http://schemas.openxmlformats.org/drawingml/2006/main">
              <a:ext uri="{FF2B5EF4-FFF2-40B4-BE49-F238E27FC236}">
                <a16:creationId xmlns:a16="http://schemas.microsoft.com/office/drawing/2014/main" id="{F736E47B-F00B-4128-9D6F-93EB9744D1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38200"/>
            <a:ext cx="109347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buNone/>
              <a:defRPr sz="2625" b="1">
                <a:solidFill>
                  <a:srgbClr val="FFFFFF"/>
                </a:solidFill>
              </a:defRPr>
            </a:pPr>
            <a:r>
              <a:rPr sz="2625" b="1">
                <a:solidFill>
                  <a:srgbClr val="FFFFFF"/>
                </a:solidFill>
              </a:rPr>
              <a:t>다음 글의 중심 생각을 고르십시오.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BA940AE-545B-4F2C-9C6A-F8F623E14C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19250"/>
            <a:ext cx="10934700" cy="1381125"/>
          </a:xfrm>
          <a:prstGeom xmlns:a="http://schemas.openxmlformats.org/drawingml/2006/main" prst="roundRect">
            <a:avLst>
              <a:gd name="adj" fmla="val 8276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475569"/>
            </a:solidFill>
            <a:prstDash val="solid"/>
          </a:ln>
        </p:spPr>
      </p:sp>
      <p:sp>
        <p:nvSpPr>
          <p:cNvPr id="6" name="q-q1_r5-passage">
            <a:extLst xmlns:a="http://schemas.openxmlformats.org/drawingml/2006/main">
              <a:ext uri="{FF2B5EF4-FFF2-40B4-BE49-F238E27FC236}">
                <a16:creationId xmlns:a16="http://schemas.microsoft.com/office/drawing/2014/main" id="{ABA35036-801A-4512-B582-5138C5281D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733550"/>
            <a:ext cx="10553700" cy="1152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buNone/>
              <a:defRPr sz="1875">
                <a:solidFill>
                  <a:srgbClr val="FFFFFF"/>
                </a:solidFill>
              </a:defRPr>
            </a:pPr>
            <a:r>
              <a:rPr sz="1875">
                <a:solidFill>
                  <a:srgbClr val="FFFFFF"/>
                </a:solidFill>
              </a:rPr>
              <a:t>저는 한국 노래를 자주 듣습니다. 특히 BTS 노래를 정말 좋아합니다. 나중에 한국 콘서트에 직접 가서 한국 가수들을 만나고 싶습니다.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EAA837E-1FC9-4667-9DCD-146FBE6F5E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19450"/>
            <a:ext cx="5400675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475569"/>
            </a:solidFill>
            <a:prstDash val="solid"/>
          </a:ln>
        </p:spPr>
      </p:sp>
      <p:sp>
        <p:nvSpPr>
          <p:cNvPr id="8" name="q-q1_r5-option-1">
            <a:extLst xmlns:a="http://schemas.openxmlformats.org/drawingml/2006/main">
              <a:ext uri="{FF2B5EF4-FFF2-40B4-BE49-F238E27FC236}">
                <a16:creationId xmlns:a16="http://schemas.microsoft.com/office/drawing/2014/main" id="{3086588B-17E7-4702-8599-8BD1FDF6F7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276600"/>
            <a:ext cx="50577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①  저는 한국 가수를 좋아합니다.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6D13B16-3132-469F-983D-26D5F82D04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3219450"/>
            <a:ext cx="5400675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475569"/>
            </a:solidFill>
            <a:prstDash val="solid"/>
          </a:ln>
        </p:spPr>
      </p:sp>
      <p:sp>
        <p:nvSpPr>
          <p:cNvPr id="10" name="q-q1_r5-option-2">
            <a:extLst xmlns:a="http://schemas.openxmlformats.org/drawingml/2006/main">
              <a:ext uri="{FF2B5EF4-FFF2-40B4-BE49-F238E27FC236}">
                <a16:creationId xmlns:a16="http://schemas.microsoft.com/office/drawing/2014/main" id="{E1C82A02-CBA5-4C6E-B31E-DA2DDF67CB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5075" y="3276600"/>
            <a:ext cx="50577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②  저는 노래방에 자주 갑니다.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0EFFE6B-2AFE-429F-9A26-7D166D0636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95750"/>
            <a:ext cx="5400675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475569"/>
            </a:solidFill>
            <a:prstDash val="solid"/>
          </a:ln>
        </p:spPr>
      </p:sp>
      <p:sp>
        <p:nvSpPr>
          <p:cNvPr id="12" name="q-q1_r5-option-3">
            <a:extLst xmlns:a="http://schemas.openxmlformats.org/drawingml/2006/main">
              <a:ext uri="{FF2B5EF4-FFF2-40B4-BE49-F238E27FC236}">
                <a16:creationId xmlns:a16="http://schemas.microsoft.com/office/drawing/2014/main" id="{693DC121-7A50-49FA-8979-F38BCB8BDD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152900"/>
            <a:ext cx="50577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③  저는 방학 때 여행을 갈 것입니다.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4EC0B8D-37EF-42E2-89A5-5AA812EB09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4095750"/>
            <a:ext cx="5400675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475569"/>
            </a:solidFill>
            <a:prstDash val="solid"/>
          </a:ln>
        </p:spPr>
      </p:sp>
      <p:sp>
        <p:nvSpPr>
          <p:cNvPr id="14" name="q-q1_r5-option-4">
            <a:extLst xmlns:a="http://schemas.openxmlformats.org/drawingml/2006/main">
              <a:ext uri="{FF2B5EF4-FFF2-40B4-BE49-F238E27FC236}">
                <a16:creationId xmlns:a16="http://schemas.microsoft.com/office/drawing/2014/main" id="{92D19B9C-0657-4E1C-BEEC-0EA1F284E0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5075" y="4152900"/>
            <a:ext cx="50577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④  저는 춤을 열심히 배웁니다.</a:t>
            </a:r>
          </a:p>
        </p:txBody>
      </p:sp>
      <p:sp>
        <p:nvSpPr>
          <p:cNvPr id="15" name="footer-brand">
            <a:extLst xmlns:a="http://schemas.openxmlformats.org/drawingml/2006/main">
              <a:ext uri="{FF2B5EF4-FFF2-40B4-BE49-F238E27FC236}">
                <a16:creationId xmlns:a16="http://schemas.microsoft.com/office/drawing/2014/main" id="{300534D2-50B3-4237-B3C8-3A42589640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96050"/>
            <a:ext cx="3238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050">
                <a:solidFill>
                  <a:srgbClr val="94A3B8"/>
                </a:solidFill>
              </a:defRPr>
            </a:pPr>
            <a:r>
              <a:rPr sz="1050">
                <a:solidFill>
                  <a:srgbClr val="94A3B8"/>
                </a:solidFill>
              </a:rPr>
              <a:t>TOPIK-Edu Smart Academy</a:t>
            </a:r>
          </a:p>
        </p:txBody>
      </p:sp>
      <p:sp>
        <p:nvSpPr>
          <p:cNvPr id="16" name="footer-page">
            <a:extLst xmlns:a="http://schemas.openxmlformats.org/drawingml/2006/main">
              <a:ext uri="{FF2B5EF4-FFF2-40B4-BE49-F238E27FC236}">
                <a16:creationId xmlns:a16="http://schemas.microsoft.com/office/drawing/2014/main" id="{9999F991-7DFD-45CF-B2CF-52FE6CC58E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6496050"/>
            <a:ext cx="2171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buNone/>
              <a:defRPr sz="1050">
                <a:solidFill>
                  <a:srgbClr val="94A3B8"/>
                </a:solidFill>
              </a:defRPr>
            </a:pPr>
            <a:r>
              <a:rPr sz="1050">
                <a:solidFill>
                  <a:srgbClr val="94A3B8"/>
                </a:solidFill>
              </a:rPr>
              <a:t>1회차 · 5/14</a:t>
            </a:r>
          </a:p>
        </p:txBody>
      </p:sp>
    </p:spTree>
    <p:extLst>
      <p:ext uri="{BB962C8B-B14F-4D97-AF65-F5344CB8AC3E}">
        <p14:creationId xmlns:p14="http://schemas.microsoft.com/office/powerpoint/2010/main" val="1788423755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0F17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B09ADF2-CEDC-4052-9A35-AD10D4C36E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228600"/>
            <a:ext cx="11468100" cy="6191250"/>
          </a:xfrm>
          <a:prstGeom xmlns:a="http://schemas.openxmlformats.org/drawingml/2006/main" prst="roundRect">
            <a:avLst>
              <a:gd name="adj" fmla="val 1846"/>
            </a:avLst>
          </a:prstGeom>
          <a:solidFill xmlns:a="http://schemas.openxmlformats.org/drawingml/2006/main">
            <a:srgbClr val="1E293B"/>
          </a:solidFill>
          <a:ln xmlns:a="http://schemas.openxmlformats.org/drawingml/2006/main" w="9525">
            <a:solidFill>
              <a:srgbClr val="334155"/>
            </a:solidFill>
            <a:prstDash val="solid"/>
          </a:ln>
        </p:spPr>
      </p:sp>
      <p:sp>
        <p:nvSpPr>
          <p:cNvPr id="2" name="q-q1_l1-number">
            <a:extLst xmlns:a="http://schemas.openxmlformats.org/drawingml/2006/main">
              <a:ext uri="{FF2B5EF4-FFF2-40B4-BE49-F238E27FC236}">
                <a16:creationId xmlns:a16="http://schemas.microsoft.com/office/drawing/2014/main" id="{B002C7B1-3680-45DD-A9FB-8668DE2861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00050"/>
            <a:ext cx="1714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C7D2FE"/>
                </a:solidFill>
              </a:defRPr>
            </a:pPr>
            <a:r>
              <a:rPr sz="1350" b="1">
                <a:solidFill>
                  <a:srgbClr val="C7D2FE"/>
                </a:solidFill>
              </a:rPr>
              <a:t>문제 06</a:t>
            </a:r>
          </a:p>
        </p:txBody>
      </p:sp>
      <p:sp>
        <p:nvSpPr>
          <p:cNvPr id="3" name="q-q1_l1-category">
            <a:extLst xmlns:a="http://schemas.openxmlformats.org/drawingml/2006/main">
              <a:ext uri="{FF2B5EF4-FFF2-40B4-BE49-F238E27FC236}">
                <a16:creationId xmlns:a16="http://schemas.microsoft.com/office/drawing/2014/main" id="{C1052972-DB28-4DA5-97EE-B4368AFAFB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400050"/>
            <a:ext cx="3524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buNone/>
              <a:defRPr sz="1275" b="1">
                <a:solidFill>
                  <a:srgbClr val="5EEAD4"/>
                </a:solidFill>
              </a:defRPr>
            </a:pPr>
            <a:r>
              <a:rPr sz="1275" b="1">
                <a:solidFill>
                  <a:srgbClr val="5EEAD4"/>
                </a:solidFill>
              </a:rPr>
              <a:t>듣기 (Listening) 기출</a:t>
            </a:r>
          </a:p>
        </p:txBody>
      </p:sp>
      <p:sp>
        <p:nvSpPr>
          <p:cNvPr id="4" name="q-q1_l1-text">
            <a:extLst xmlns:a="http://schemas.openxmlformats.org/drawingml/2006/main">
              <a:ext uri="{FF2B5EF4-FFF2-40B4-BE49-F238E27FC236}">
                <a16:creationId xmlns:a16="http://schemas.microsoft.com/office/drawing/2014/main" id="{F4BFEA94-BDD0-42A7-8C6B-BE59AA9700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38200"/>
            <a:ext cx="109347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buNone/>
              <a:defRPr sz="2625" b="1">
                <a:solidFill>
                  <a:srgbClr val="FFFFFF"/>
                </a:solidFill>
              </a:defRPr>
            </a:pPr>
            <a:r>
              <a:rPr sz="2625" b="1">
                <a:solidFill>
                  <a:srgbClr val="FFFFFF"/>
                </a:solidFill>
              </a:rPr>
              <a:t>다음을 듣고 그림과 어울리는 올바른 대화 상황을 고르십시오. (TOPIK I 기출)</a:t>
            </a:r>
          </a:p>
        </p:txBody>
      </p:sp>
      <p:pic>
        <p:nvPicPr>
          <p:cNvPr id="2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05644de1cad434c"/>
          <a:stretch xmlns:a="http://schemas.openxmlformats.org/drawingml/2006/main"/>
        </p:blipFill>
        <p:spPr>
          <a:xfrm xmlns:a="http://schemas.openxmlformats.org/drawingml/2006/main">
            <a:off x="666750" y="2156460"/>
            <a:ext cx="3714750" cy="2773680"/>
          </a:xfrm>
          <a:prstGeom xmlns:a="http://schemas.openxmlformats.org/drawingml/2006/main" prst="roundRect">
            <a:avLst>
              <a:gd name="adj" fmla="val 4000"/>
            </a:avLst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536DF82-8D0F-4BB2-A7DA-D4B051B05F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114550"/>
            <a:ext cx="6743700" cy="666750"/>
          </a:xfrm>
          <a:prstGeom xmlns:a="http://schemas.openxmlformats.org/drawingml/2006/main" prst="roundRect">
            <a:avLst>
              <a:gd name="adj" fmla="val 17143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475569"/>
            </a:solidFill>
            <a:prstDash val="solid"/>
          </a:ln>
        </p:spPr>
      </p:sp>
      <p:sp>
        <p:nvSpPr>
          <p:cNvPr id="7" name="q-q1_l1-option-1">
            <a:extLst xmlns:a="http://schemas.openxmlformats.org/drawingml/2006/main">
              <a:ext uri="{FF2B5EF4-FFF2-40B4-BE49-F238E27FC236}">
                <a16:creationId xmlns:a16="http://schemas.microsoft.com/office/drawing/2014/main" id="{BB3FD5B8-9153-4106-B389-A4A1ADE3EE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2171700"/>
            <a:ext cx="64008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①  병원에서 의사와 간호사가 환자를 만납니다.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ACAE0C5-B320-41F5-8E33-5F7E680BC4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876550"/>
            <a:ext cx="6743700" cy="666750"/>
          </a:xfrm>
          <a:prstGeom xmlns:a="http://schemas.openxmlformats.org/drawingml/2006/main" prst="roundRect">
            <a:avLst>
              <a:gd name="adj" fmla="val 17143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475569"/>
            </a:solidFill>
            <a:prstDash val="solid"/>
          </a:ln>
        </p:spPr>
      </p:sp>
      <p:sp>
        <p:nvSpPr>
          <p:cNvPr id="9" name="q-q1_l1-option-2">
            <a:extLst xmlns:a="http://schemas.openxmlformats.org/drawingml/2006/main">
              <a:ext uri="{FF2B5EF4-FFF2-40B4-BE49-F238E27FC236}">
                <a16:creationId xmlns:a16="http://schemas.microsoft.com/office/drawing/2014/main" id="{9FA7C1FC-9963-40DF-952F-DF59ED0A7C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2933700"/>
            <a:ext cx="64008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②  카페에서 여자가 음료와 디저트를 주문합니다.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F37F7D3-03EA-47C0-8AF0-524F256002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3638550"/>
            <a:ext cx="6743700" cy="666750"/>
          </a:xfrm>
          <a:prstGeom xmlns:a="http://schemas.openxmlformats.org/drawingml/2006/main" prst="roundRect">
            <a:avLst>
              <a:gd name="adj" fmla="val 17143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475569"/>
            </a:solidFill>
            <a:prstDash val="solid"/>
          </a:ln>
        </p:spPr>
      </p:sp>
      <p:sp>
        <p:nvSpPr>
          <p:cNvPr id="11" name="q-q1_l1-option-3">
            <a:extLst xmlns:a="http://schemas.openxmlformats.org/drawingml/2006/main">
              <a:ext uri="{FF2B5EF4-FFF2-40B4-BE49-F238E27FC236}">
                <a16:creationId xmlns:a16="http://schemas.microsoft.com/office/drawing/2014/main" id="{8D209CB1-A259-4724-B5E0-D63B43512F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3695700"/>
            <a:ext cx="64008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③  은행에서 남자가 카드를 넣어 돈을 찾습니다.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5593C71-9994-4889-95B3-0F150768FB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4400550"/>
            <a:ext cx="6743700" cy="666750"/>
          </a:xfrm>
          <a:prstGeom xmlns:a="http://schemas.openxmlformats.org/drawingml/2006/main" prst="roundRect">
            <a:avLst>
              <a:gd name="adj" fmla="val 17143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475569"/>
            </a:solidFill>
            <a:prstDash val="solid"/>
          </a:ln>
        </p:spPr>
      </p:sp>
      <p:sp>
        <p:nvSpPr>
          <p:cNvPr id="13" name="q-q1_l1-option-4">
            <a:extLst xmlns:a="http://schemas.openxmlformats.org/drawingml/2006/main">
              <a:ext uri="{FF2B5EF4-FFF2-40B4-BE49-F238E27FC236}">
                <a16:creationId xmlns:a16="http://schemas.microsoft.com/office/drawing/2014/main" id="{D6E35FBB-125A-402E-91D9-E914AFDF36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4457700"/>
            <a:ext cx="64008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④  서점에서 남자가 직원에게 책 위치를 묻습니다.</a:t>
            </a:r>
          </a:p>
        </p:txBody>
      </p:sp>
      <p:sp>
        <p:nvSpPr>
          <p:cNvPr id="14" name="footer-brand">
            <a:extLst xmlns:a="http://schemas.openxmlformats.org/drawingml/2006/main">
              <a:ext uri="{FF2B5EF4-FFF2-40B4-BE49-F238E27FC236}">
                <a16:creationId xmlns:a16="http://schemas.microsoft.com/office/drawing/2014/main" id="{9CA90F0D-328F-4494-A858-0E8B32E927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96050"/>
            <a:ext cx="3238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050">
                <a:solidFill>
                  <a:srgbClr val="94A3B8"/>
                </a:solidFill>
              </a:defRPr>
            </a:pPr>
            <a:r>
              <a:rPr sz="1050">
                <a:solidFill>
                  <a:srgbClr val="94A3B8"/>
                </a:solidFill>
              </a:rPr>
              <a:t>TOPIK-Edu Smart Academy</a:t>
            </a:r>
          </a:p>
        </p:txBody>
      </p:sp>
      <p:sp>
        <p:nvSpPr>
          <p:cNvPr id="15" name="footer-page">
            <a:extLst xmlns:a="http://schemas.openxmlformats.org/drawingml/2006/main">
              <a:ext uri="{FF2B5EF4-FFF2-40B4-BE49-F238E27FC236}">
                <a16:creationId xmlns:a16="http://schemas.microsoft.com/office/drawing/2014/main" id="{55AB90DA-4D3C-4418-8E1B-5297658CFE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6496050"/>
            <a:ext cx="2171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buNone/>
              <a:defRPr sz="1050">
                <a:solidFill>
                  <a:srgbClr val="94A3B8"/>
                </a:solidFill>
              </a:defRPr>
            </a:pPr>
            <a:r>
              <a:rPr sz="1050">
                <a:solidFill>
                  <a:srgbClr val="94A3B8"/>
                </a:solidFill>
              </a:rPr>
              <a:t>1회차 · 6/14</a:t>
            </a:r>
          </a:p>
        </p:txBody>
      </p:sp>
    </p:spTree>
    <p:extLst>
      <p:ext uri="{BB962C8B-B14F-4D97-AF65-F5344CB8AC3E}">
        <p14:creationId xmlns:p14="http://schemas.microsoft.com/office/powerpoint/2010/main" val="1159722028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0F17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A146B2A-5B05-4378-A6B9-0ACE8ED9E8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228600"/>
            <a:ext cx="11468100" cy="6191250"/>
          </a:xfrm>
          <a:prstGeom xmlns:a="http://schemas.openxmlformats.org/drawingml/2006/main" prst="roundRect">
            <a:avLst>
              <a:gd name="adj" fmla="val 1846"/>
            </a:avLst>
          </a:prstGeom>
          <a:solidFill xmlns:a="http://schemas.openxmlformats.org/drawingml/2006/main">
            <a:srgbClr val="1E293B"/>
          </a:solidFill>
          <a:ln xmlns:a="http://schemas.openxmlformats.org/drawingml/2006/main" w="9525">
            <a:solidFill>
              <a:srgbClr val="334155"/>
            </a:solidFill>
            <a:prstDash val="solid"/>
          </a:ln>
        </p:spPr>
      </p:sp>
      <p:sp>
        <p:nvSpPr>
          <p:cNvPr id="2" name="q-q1_l2-number">
            <a:extLst xmlns:a="http://schemas.openxmlformats.org/drawingml/2006/main">
              <a:ext uri="{FF2B5EF4-FFF2-40B4-BE49-F238E27FC236}">
                <a16:creationId xmlns:a16="http://schemas.microsoft.com/office/drawing/2014/main" id="{3812D302-6EF8-48E0-AA81-20E1EE8BEE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00050"/>
            <a:ext cx="1714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C7D2FE"/>
                </a:solidFill>
              </a:defRPr>
            </a:pPr>
            <a:r>
              <a:rPr sz="1350" b="1">
                <a:solidFill>
                  <a:srgbClr val="C7D2FE"/>
                </a:solidFill>
              </a:rPr>
              <a:t>문제 07</a:t>
            </a:r>
          </a:p>
        </p:txBody>
      </p:sp>
      <p:sp>
        <p:nvSpPr>
          <p:cNvPr id="3" name="q-q1_l2-category">
            <a:extLst xmlns:a="http://schemas.openxmlformats.org/drawingml/2006/main">
              <a:ext uri="{FF2B5EF4-FFF2-40B4-BE49-F238E27FC236}">
                <a16:creationId xmlns:a16="http://schemas.microsoft.com/office/drawing/2014/main" id="{06696812-E82E-4151-A9C4-14CC5D4489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400050"/>
            <a:ext cx="3524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buNone/>
              <a:defRPr sz="1275" b="1">
                <a:solidFill>
                  <a:srgbClr val="5EEAD4"/>
                </a:solidFill>
              </a:defRPr>
            </a:pPr>
            <a:r>
              <a:rPr sz="1275" b="1">
                <a:solidFill>
                  <a:srgbClr val="5EEAD4"/>
                </a:solidFill>
              </a:rPr>
              <a:t>듣기 (Listening) 기출</a:t>
            </a:r>
          </a:p>
        </p:txBody>
      </p:sp>
      <p:sp>
        <p:nvSpPr>
          <p:cNvPr id="4" name="q-q1_l2-text">
            <a:extLst xmlns:a="http://schemas.openxmlformats.org/drawingml/2006/main">
              <a:ext uri="{FF2B5EF4-FFF2-40B4-BE49-F238E27FC236}">
                <a16:creationId xmlns:a16="http://schemas.microsoft.com/office/drawing/2014/main" id="{90968333-75F7-4DFD-9453-9ACA0CEAF6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38200"/>
            <a:ext cx="109347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buNone/>
              <a:defRPr sz="2625" b="1">
                <a:solidFill>
                  <a:srgbClr val="FFFFFF"/>
                </a:solidFill>
              </a:defRPr>
            </a:pPr>
            <a:r>
              <a:rPr sz="2625" b="1">
                <a:solidFill>
                  <a:srgbClr val="FFFFFF"/>
                </a:solidFill>
              </a:rPr>
              <a:t>다음을 듣고 두 사람이 대화하는 장소로 가장 알맞은 곳을 고르십시오. (TOPIK I 기출)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0EF68E8-CAE0-410F-A1EB-708EEA5AFD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09800"/>
            <a:ext cx="5400675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475569"/>
            </a:solidFill>
            <a:prstDash val="solid"/>
          </a:ln>
        </p:spPr>
      </p:sp>
      <p:sp>
        <p:nvSpPr>
          <p:cNvPr id="6" name="q-q1_l2-option-1">
            <a:extLst xmlns:a="http://schemas.openxmlformats.org/drawingml/2006/main">
              <a:ext uri="{FF2B5EF4-FFF2-40B4-BE49-F238E27FC236}">
                <a16:creationId xmlns:a16="http://schemas.microsoft.com/office/drawing/2014/main" id="{829A9802-70D0-42BB-B4D4-66B17BEBB4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266950"/>
            <a:ext cx="50577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①  은행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CE6B7B5-C3E1-414C-A10F-BF594B32C7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2209800"/>
            <a:ext cx="5400675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475569"/>
            </a:solidFill>
            <a:prstDash val="solid"/>
          </a:ln>
        </p:spPr>
      </p:sp>
      <p:sp>
        <p:nvSpPr>
          <p:cNvPr id="8" name="q-q1_l2-option-2">
            <a:extLst xmlns:a="http://schemas.openxmlformats.org/drawingml/2006/main">
              <a:ext uri="{FF2B5EF4-FFF2-40B4-BE49-F238E27FC236}">
                <a16:creationId xmlns:a16="http://schemas.microsoft.com/office/drawing/2014/main" id="{5BC00381-1B7B-4A7A-8C88-05BDC447BE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5075" y="2266950"/>
            <a:ext cx="50577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②  약국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89DE2BF-6B57-4517-8EDD-C06578EA9D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86100"/>
            <a:ext cx="5400675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475569"/>
            </a:solidFill>
            <a:prstDash val="solid"/>
          </a:ln>
        </p:spPr>
      </p:sp>
      <p:sp>
        <p:nvSpPr>
          <p:cNvPr id="10" name="q-q1_l2-option-3">
            <a:extLst xmlns:a="http://schemas.openxmlformats.org/drawingml/2006/main">
              <a:ext uri="{FF2B5EF4-FFF2-40B4-BE49-F238E27FC236}">
                <a16:creationId xmlns:a16="http://schemas.microsoft.com/office/drawing/2014/main" id="{80A91965-EB53-484B-B55B-AE395FCFA6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143250"/>
            <a:ext cx="50577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③  우체국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25D9C6E-A489-48C1-AE69-CC449143C5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3086100"/>
            <a:ext cx="5400675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475569"/>
            </a:solidFill>
            <a:prstDash val="solid"/>
          </a:ln>
        </p:spPr>
      </p:sp>
      <p:sp>
        <p:nvSpPr>
          <p:cNvPr id="12" name="q-q1_l2-option-4">
            <a:extLst xmlns:a="http://schemas.openxmlformats.org/drawingml/2006/main">
              <a:ext uri="{FF2B5EF4-FFF2-40B4-BE49-F238E27FC236}">
                <a16:creationId xmlns:a16="http://schemas.microsoft.com/office/drawing/2014/main" id="{40E302F5-5C88-45B5-8D07-F43BB2E750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5075" y="3143250"/>
            <a:ext cx="50577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④  세탁소</a:t>
            </a:r>
          </a:p>
        </p:txBody>
      </p:sp>
      <p:sp>
        <p:nvSpPr>
          <p:cNvPr id="13" name="footer-brand">
            <a:extLst xmlns:a="http://schemas.openxmlformats.org/drawingml/2006/main">
              <a:ext uri="{FF2B5EF4-FFF2-40B4-BE49-F238E27FC236}">
                <a16:creationId xmlns:a16="http://schemas.microsoft.com/office/drawing/2014/main" id="{B039B575-88E3-468C-967C-68F40741E5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96050"/>
            <a:ext cx="3238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050">
                <a:solidFill>
                  <a:srgbClr val="94A3B8"/>
                </a:solidFill>
              </a:defRPr>
            </a:pPr>
            <a:r>
              <a:rPr sz="1050">
                <a:solidFill>
                  <a:srgbClr val="94A3B8"/>
                </a:solidFill>
              </a:rPr>
              <a:t>TOPIK-Edu Smart Academy</a:t>
            </a:r>
          </a:p>
        </p:txBody>
      </p:sp>
      <p:sp>
        <p:nvSpPr>
          <p:cNvPr id="14" name="footer-page">
            <a:extLst xmlns:a="http://schemas.openxmlformats.org/drawingml/2006/main">
              <a:ext uri="{FF2B5EF4-FFF2-40B4-BE49-F238E27FC236}">
                <a16:creationId xmlns:a16="http://schemas.microsoft.com/office/drawing/2014/main" id="{8900949F-B029-4763-B8BF-5E09FA5EA8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6496050"/>
            <a:ext cx="2171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buNone/>
              <a:defRPr sz="1050">
                <a:solidFill>
                  <a:srgbClr val="94A3B8"/>
                </a:solidFill>
              </a:defRPr>
            </a:pPr>
            <a:r>
              <a:rPr sz="1050">
                <a:solidFill>
                  <a:srgbClr val="94A3B8"/>
                </a:solidFill>
              </a:rPr>
              <a:t>1회차 · 7/14</a:t>
            </a:r>
          </a:p>
        </p:txBody>
      </p:sp>
    </p:spTree>
    <p:extLst>
      <p:ext uri="{BB962C8B-B14F-4D97-AF65-F5344CB8AC3E}">
        <p14:creationId xmlns:p14="http://schemas.microsoft.com/office/powerpoint/2010/main" val="1955490485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0F17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0A0BEF5-1B63-43DC-928D-C382967640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228600"/>
            <a:ext cx="11468100" cy="6191250"/>
          </a:xfrm>
          <a:prstGeom xmlns:a="http://schemas.openxmlformats.org/drawingml/2006/main" prst="roundRect">
            <a:avLst>
              <a:gd name="adj" fmla="val 1846"/>
            </a:avLst>
          </a:prstGeom>
          <a:solidFill xmlns:a="http://schemas.openxmlformats.org/drawingml/2006/main">
            <a:srgbClr val="1E293B"/>
          </a:solidFill>
          <a:ln xmlns:a="http://schemas.openxmlformats.org/drawingml/2006/main" w="9525">
            <a:solidFill>
              <a:srgbClr val="334155"/>
            </a:solidFill>
            <a:prstDash val="solid"/>
          </a:ln>
        </p:spPr>
      </p:sp>
      <p:sp>
        <p:nvSpPr>
          <p:cNvPr id="2" name="q-q1_l3-number">
            <a:extLst xmlns:a="http://schemas.openxmlformats.org/drawingml/2006/main">
              <a:ext uri="{FF2B5EF4-FFF2-40B4-BE49-F238E27FC236}">
                <a16:creationId xmlns:a16="http://schemas.microsoft.com/office/drawing/2014/main" id="{6DFAC2CA-3F2D-4F94-BA29-E1430459FA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00050"/>
            <a:ext cx="1714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C7D2FE"/>
                </a:solidFill>
              </a:defRPr>
            </a:pPr>
            <a:r>
              <a:rPr sz="1350" b="1">
                <a:solidFill>
                  <a:srgbClr val="C7D2FE"/>
                </a:solidFill>
              </a:rPr>
              <a:t>문제 08</a:t>
            </a:r>
          </a:p>
        </p:txBody>
      </p:sp>
      <p:sp>
        <p:nvSpPr>
          <p:cNvPr id="3" name="q-q1_l3-category">
            <a:extLst xmlns:a="http://schemas.openxmlformats.org/drawingml/2006/main">
              <a:ext uri="{FF2B5EF4-FFF2-40B4-BE49-F238E27FC236}">
                <a16:creationId xmlns:a16="http://schemas.microsoft.com/office/drawing/2014/main" id="{6F5E1BEB-A51B-48E9-892E-662C553E00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400050"/>
            <a:ext cx="3524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buNone/>
              <a:defRPr sz="1275" b="1">
                <a:solidFill>
                  <a:srgbClr val="5EEAD4"/>
                </a:solidFill>
              </a:defRPr>
            </a:pPr>
            <a:r>
              <a:rPr sz="1275" b="1">
                <a:solidFill>
                  <a:srgbClr val="5EEAD4"/>
                </a:solidFill>
              </a:rPr>
              <a:t>듣기 (Listening) 추가 기출</a:t>
            </a:r>
          </a:p>
        </p:txBody>
      </p:sp>
      <p:sp>
        <p:nvSpPr>
          <p:cNvPr id="4" name="q-q1_l3-text">
            <a:extLst xmlns:a="http://schemas.openxmlformats.org/drawingml/2006/main">
              <a:ext uri="{FF2B5EF4-FFF2-40B4-BE49-F238E27FC236}">
                <a16:creationId xmlns:a16="http://schemas.microsoft.com/office/drawing/2014/main" id="{52CB100A-129A-47D3-8BE1-04B92667C8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38200"/>
            <a:ext cx="109347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buNone/>
              <a:defRPr sz="2625" b="1">
                <a:solidFill>
                  <a:srgbClr val="FFFFFF"/>
                </a:solidFill>
              </a:defRPr>
            </a:pPr>
            <a:r>
              <a:rPr sz="2625" b="1">
                <a:solidFill>
                  <a:srgbClr val="FFFFFF"/>
                </a:solidFill>
              </a:rPr>
              <a:t>다음을 듣고 이어질 대화로 가장 알맞은 것을 고르십시오.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4B2CC12-3B7E-4EE3-9470-3DC7111803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09800"/>
            <a:ext cx="5400675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475569"/>
            </a:solidFill>
            <a:prstDash val="solid"/>
          </a:ln>
        </p:spPr>
      </p:sp>
      <p:sp>
        <p:nvSpPr>
          <p:cNvPr id="6" name="q-q1_l3-option-1">
            <a:extLst xmlns:a="http://schemas.openxmlformats.org/drawingml/2006/main">
              <a:ext uri="{FF2B5EF4-FFF2-40B4-BE49-F238E27FC236}">
                <a16:creationId xmlns:a16="http://schemas.microsoft.com/office/drawing/2014/main" id="{5AA17FE0-23EA-4E7B-B924-427AD5988D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266950"/>
            <a:ext cx="50577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①  네, 하늘에 구름이 없고 파래요.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A28918D-0A3F-48D4-A099-56F0C55814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2209800"/>
            <a:ext cx="5400675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475569"/>
            </a:solidFill>
            <a:prstDash val="solid"/>
          </a:ln>
        </p:spPr>
      </p:sp>
      <p:sp>
        <p:nvSpPr>
          <p:cNvPr id="8" name="q-q1_l3-option-2">
            <a:extLst xmlns:a="http://schemas.openxmlformats.org/drawingml/2006/main">
              <a:ext uri="{FF2B5EF4-FFF2-40B4-BE49-F238E27FC236}">
                <a16:creationId xmlns:a16="http://schemas.microsoft.com/office/drawing/2014/main" id="{13D12608-F24E-411F-BA2C-E82B43BECF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5075" y="2266950"/>
            <a:ext cx="50577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②  네, 우산을 꼭 가져가세요.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8E6FA0A-8E3C-4AD1-B650-93F9B3CB8C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86100"/>
            <a:ext cx="5400675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475569"/>
            </a:solidFill>
            <a:prstDash val="solid"/>
          </a:ln>
        </p:spPr>
      </p:sp>
      <p:sp>
        <p:nvSpPr>
          <p:cNvPr id="10" name="q-q1_l3-option-3">
            <a:extLst xmlns:a="http://schemas.openxmlformats.org/drawingml/2006/main">
              <a:ext uri="{FF2B5EF4-FFF2-40B4-BE49-F238E27FC236}">
                <a16:creationId xmlns:a16="http://schemas.microsoft.com/office/drawing/2014/main" id="{F187BB8C-7CE1-43C4-8E3F-82AE29EFB7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143250"/>
            <a:ext cx="50577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③  네, 비가 많이 쏟아져요.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CC4FFBC-8766-402A-A766-D721713697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3086100"/>
            <a:ext cx="5400675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475569"/>
            </a:solidFill>
            <a:prstDash val="solid"/>
          </a:ln>
        </p:spPr>
      </p:sp>
      <p:sp>
        <p:nvSpPr>
          <p:cNvPr id="12" name="q-q1_l3-option-4">
            <a:extLst xmlns:a="http://schemas.openxmlformats.org/drawingml/2006/main">
              <a:ext uri="{FF2B5EF4-FFF2-40B4-BE49-F238E27FC236}">
                <a16:creationId xmlns:a16="http://schemas.microsoft.com/office/drawing/2014/main" id="{66163B67-1F8D-4DB5-B467-DA1ED21695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5075" y="3143250"/>
            <a:ext cx="50577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④  네, 바람이 불고 추워요.</a:t>
            </a:r>
          </a:p>
        </p:txBody>
      </p:sp>
      <p:sp>
        <p:nvSpPr>
          <p:cNvPr id="13" name="footer-brand">
            <a:extLst xmlns:a="http://schemas.openxmlformats.org/drawingml/2006/main">
              <a:ext uri="{FF2B5EF4-FFF2-40B4-BE49-F238E27FC236}">
                <a16:creationId xmlns:a16="http://schemas.microsoft.com/office/drawing/2014/main" id="{D3CCC741-A003-4340-920E-B55734C10D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96050"/>
            <a:ext cx="3238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050">
                <a:solidFill>
                  <a:srgbClr val="94A3B8"/>
                </a:solidFill>
              </a:defRPr>
            </a:pPr>
            <a:r>
              <a:rPr sz="1050">
                <a:solidFill>
                  <a:srgbClr val="94A3B8"/>
                </a:solidFill>
              </a:rPr>
              <a:t>TOPIK-Edu Smart Academy</a:t>
            </a:r>
          </a:p>
        </p:txBody>
      </p:sp>
      <p:sp>
        <p:nvSpPr>
          <p:cNvPr id="14" name="footer-page">
            <a:extLst xmlns:a="http://schemas.openxmlformats.org/drawingml/2006/main">
              <a:ext uri="{FF2B5EF4-FFF2-40B4-BE49-F238E27FC236}">
                <a16:creationId xmlns:a16="http://schemas.microsoft.com/office/drawing/2014/main" id="{38C1F61F-067F-47AD-A360-B991DFFF23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6496050"/>
            <a:ext cx="2171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buNone/>
              <a:defRPr sz="1050">
                <a:solidFill>
                  <a:srgbClr val="94A3B8"/>
                </a:solidFill>
              </a:defRPr>
            </a:pPr>
            <a:r>
              <a:rPr sz="1050">
                <a:solidFill>
                  <a:srgbClr val="94A3B8"/>
                </a:solidFill>
              </a:rPr>
              <a:t>1회차 · 8/14</a:t>
            </a:r>
          </a:p>
        </p:txBody>
      </p:sp>
    </p:spTree>
    <p:extLst>
      <p:ext uri="{BB962C8B-B14F-4D97-AF65-F5344CB8AC3E}">
        <p14:creationId xmlns:p14="http://schemas.microsoft.com/office/powerpoint/2010/main" val="1830770360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0F17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01DA7A8-F266-4F94-9551-070B36EA94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228600"/>
            <a:ext cx="11468100" cy="6191250"/>
          </a:xfrm>
          <a:prstGeom xmlns:a="http://schemas.openxmlformats.org/drawingml/2006/main" prst="roundRect">
            <a:avLst>
              <a:gd name="adj" fmla="val 1846"/>
            </a:avLst>
          </a:prstGeom>
          <a:solidFill xmlns:a="http://schemas.openxmlformats.org/drawingml/2006/main">
            <a:srgbClr val="1E293B"/>
          </a:solidFill>
          <a:ln xmlns:a="http://schemas.openxmlformats.org/drawingml/2006/main" w="9525">
            <a:solidFill>
              <a:srgbClr val="334155"/>
            </a:solidFill>
            <a:prstDash val="solid"/>
          </a:ln>
        </p:spPr>
      </p:sp>
      <p:sp>
        <p:nvSpPr>
          <p:cNvPr id="2" name="q-q1_l4-number">
            <a:extLst xmlns:a="http://schemas.openxmlformats.org/drawingml/2006/main">
              <a:ext uri="{FF2B5EF4-FFF2-40B4-BE49-F238E27FC236}">
                <a16:creationId xmlns:a16="http://schemas.microsoft.com/office/drawing/2014/main" id="{01BA5FEF-8AEB-417D-924C-7E9875AE14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00050"/>
            <a:ext cx="1714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C7D2FE"/>
                </a:solidFill>
              </a:defRPr>
            </a:pPr>
            <a:r>
              <a:rPr sz="1350" b="1">
                <a:solidFill>
                  <a:srgbClr val="C7D2FE"/>
                </a:solidFill>
              </a:rPr>
              <a:t>문제 09</a:t>
            </a:r>
          </a:p>
        </p:txBody>
      </p:sp>
      <p:sp>
        <p:nvSpPr>
          <p:cNvPr id="3" name="q-q1_l4-category">
            <a:extLst xmlns:a="http://schemas.openxmlformats.org/drawingml/2006/main">
              <a:ext uri="{FF2B5EF4-FFF2-40B4-BE49-F238E27FC236}">
                <a16:creationId xmlns:a16="http://schemas.microsoft.com/office/drawing/2014/main" id="{8CD701A6-6AC7-4C20-84D2-857E788970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400050"/>
            <a:ext cx="3524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buNone/>
              <a:defRPr sz="1275" b="1">
                <a:solidFill>
                  <a:srgbClr val="5EEAD4"/>
                </a:solidFill>
              </a:defRPr>
            </a:pPr>
            <a:r>
              <a:rPr sz="1275" b="1">
                <a:solidFill>
                  <a:srgbClr val="5EEAD4"/>
                </a:solidFill>
              </a:rPr>
              <a:t>듣기 (Listening) 추가 기출</a:t>
            </a:r>
          </a:p>
        </p:txBody>
      </p:sp>
      <p:sp>
        <p:nvSpPr>
          <p:cNvPr id="4" name="q-q1_l4-text">
            <a:extLst xmlns:a="http://schemas.openxmlformats.org/drawingml/2006/main">
              <a:ext uri="{FF2B5EF4-FFF2-40B4-BE49-F238E27FC236}">
                <a16:creationId xmlns:a16="http://schemas.microsoft.com/office/drawing/2014/main" id="{A7DB156E-3542-4036-80A5-A3E73240BE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38200"/>
            <a:ext cx="109347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buNone/>
              <a:defRPr sz="2625" b="1">
                <a:solidFill>
                  <a:srgbClr val="FFFFFF"/>
                </a:solidFill>
              </a:defRPr>
            </a:pPr>
            <a:r>
              <a:rPr sz="2625" b="1">
                <a:solidFill>
                  <a:srgbClr val="FFFFFF"/>
                </a:solidFill>
              </a:rPr>
              <a:t>다음을 듣고 두 사람이 대화하는 장소로 알맞은 곳을 고르십시오.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72A498E-3E7D-4017-9FF7-52AF76A540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09800"/>
            <a:ext cx="5400675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475569"/>
            </a:solidFill>
            <a:prstDash val="solid"/>
          </a:ln>
        </p:spPr>
      </p:sp>
      <p:sp>
        <p:nvSpPr>
          <p:cNvPr id="6" name="q-q1_l4-option-1">
            <a:extLst xmlns:a="http://schemas.openxmlformats.org/drawingml/2006/main">
              <a:ext uri="{FF2B5EF4-FFF2-40B4-BE49-F238E27FC236}">
                <a16:creationId xmlns:a16="http://schemas.microsoft.com/office/drawing/2014/main" id="{8F048343-82AB-4156-86A3-8107E28D4C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266950"/>
            <a:ext cx="50577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①  우체국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E798824-0C02-4815-BBD0-25F3CCCC88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2209800"/>
            <a:ext cx="5400675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475569"/>
            </a:solidFill>
            <a:prstDash val="solid"/>
          </a:ln>
        </p:spPr>
      </p:sp>
      <p:sp>
        <p:nvSpPr>
          <p:cNvPr id="8" name="q-q1_l4-option-2">
            <a:extLst xmlns:a="http://schemas.openxmlformats.org/drawingml/2006/main">
              <a:ext uri="{FF2B5EF4-FFF2-40B4-BE49-F238E27FC236}">
                <a16:creationId xmlns:a16="http://schemas.microsoft.com/office/drawing/2014/main" id="{4316CAD6-B646-43A4-B19A-F66725EA76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5075" y="2266950"/>
            <a:ext cx="50577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②  옷가게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D1181B5-35E1-4789-9876-721A0326C5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86100"/>
            <a:ext cx="5400675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475569"/>
            </a:solidFill>
            <a:prstDash val="solid"/>
          </a:ln>
        </p:spPr>
      </p:sp>
      <p:sp>
        <p:nvSpPr>
          <p:cNvPr id="10" name="q-q1_l4-option-3">
            <a:extLst xmlns:a="http://schemas.openxmlformats.org/drawingml/2006/main">
              <a:ext uri="{FF2B5EF4-FFF2-40B4-BE49-F238E27FC236}">
                <a16:creationId xmlns:a16="http://schemas.microsoft.com/office/drawing/2014/main" id="{81965C95-7CEE-43EB-A00D-936D280095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143250"/>
            <a:ext cx="50577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③  미술관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227B2B8-E1A1-402F-A366-024604E3D3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3086100"/>
            <a:ext cx="5400675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475569"/>
            </a:solidFill>
            <a:prstDash val="solid"/>
          </a:ln>
        </p:spPr>
      </p:sp>
      <p:sp>
        <p:nvSpPr>
          <p:cNvPr id="12" name="q-q1_l4-option-4">
            <a:extLst xmlns:a="http://schemas.openxmlformats.org/drawingml/2006/main">
              <a:ext uri="{FF2B5EF4-FFF2-40B4-BE49-F238E27FC236}">
                <a16:creationId xmlns:a16="http://schemas.microsoft.com/office/drawing/2014/main" id="{E8D56E98-6F07-41B7-B02A-9429C2249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5075" y="3143250"/>
            <a:ext cx="50577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④  세탁소</a:t>
            </a:r>
          </a:p>
        </p:txBody>
      </p:sp>
      <p:sp>
        <p:nvSpPr>
          <p:cNvPr id="13" name="footer-brand">
            <a:extLst xmlns:a="http://schemas.openxmlformats.org/drawingml/2006/main">
              <a:ext uri="{FF2B5EF4-FFF2-40B4-BE49-F238E27FC236}">
                <a16:creationId xmlns:a16="http://schemas.microsoft.com/office/drawing/2014/main" id="{D47216D2-9B81-4123-8D26-79502C0281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96050"/>
            <a:ext cx="3238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050">
                <a:solidFill>
                  <a:srgbClr val="94A3B8"/>
                </a:solidFill>
              </a:defRPr>
            </a:pPr>
            <a:r>
              <a:rPr sz="1050">
                <a:solidFill>
                  <a:srgbClr val="94A3B8"/>
                </a:solidFill>
              </a:rPr>
              <a:t>TOPIK-Edu Smart Academy</a:t>
            </a:r>
          </a:p>
        </p:txBody>
      </p:sp>
      <p:sp>
        <p:nvSpPr>
          <p:cNvPr id="14" name="footer-page">
            <a:extLst xmlns:a="http://schemas.openxmlformats.org/drawingml/2006/main">
              <a:ext uri="{FF2B5EF4-FFF2-40B4-BE49-F238E27FC236}">
                <a16:creationId xmlns:a16="http://schemas.microsoft.com/office/drawing/2014/main" id="{F4B3A6CB-91D1-4013-A14D-D96F04D2E4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6496050"/>
            <a:ext cx="2171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buNone/>
              <a:defRPr sz="1050">
                <a:solidFill>
                  <a:srgbClr val="94A3B8"/>
                </a:solidFill>
              </a:defRPr>
            </a:pPr>
            <a:r>
              <a:rPr sz="1050">
                <a:solidFill>
                  <a:srgbClr val="94A3B8"/>
                </a:solidFill>
              </a:rPr>
              <a:t>1회차 · 9/14</a:t>
            </a:r>
          </a:p>
        </p:txBody>
      </p:sp>
    </p:spTree>
    <p:extLst>
      <p:ext uri="{BB962C8B-B14F-4D97-AF65-F5344CB8AC3E}">
        <p14:creationId xmlns:p14="http://schemas.microsoft.com/office/powerpoint/2010/main" val="2133318348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0F17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B11B937-0281-4102-9489-4467ECCC9A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228600"/>
            <a:ext cx="11468100" cy="6191250"/>
          </a:xfrm>
          <a:prstGeom xmlns:a="http://schemas.openxmlformats.org/drawingml/2006/main" prst="roundRect">
            <a:avLst>
              <a:gd name="adj" fmla="val 1846"/>
            </a:avLst>
          </a:prstGeom>
          <a:solidFill xmlns:a="http://schemas.openxmlformats.org/drawingml/2006/main">
            <a:srgbClr val="1E293B"/>
          </a:solidFill>
          <a:ln xmlns:a="http://schemas.openxmlformats.org/drawingml/2006/main" w="9525">
            <a:solidFill>
              <a:srgbClr val="334155"/>
            </a:solidFill>
            <a:prstDash val="solid"/>
          </a:ln>
        </p:spPr>
      </p:sp>
      <p:sp>
        <p:nvSpPr>
          <p:cNvPr id="2" name="q-q1_l5-number">
            <a:extLst xmlns:a="http://schemas.openxmlformats.org/drawingml/2006/main">
              <a:ext uri="{FF2B5EF4-FFF2-40B4-BE49-F238E27FC236}">
                <a16:creationId xmlns:a16="http://schemas.microsoft.com/office/drawing/2014/main" id="{18DEC071-722E-4DC5-BC78-079949EF9F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00050"/>
            <a:ext cx="1714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C7D2FE"/>
                </a:solidFill>
              </a:defRPr>
            </a:pPr>
            <a:r>
              <a:rPr sz="1350" b="1">
                <a:solidFill>
                  <a:srgbClr val="C7D2FE"/>
                </a:solidFill>
              </a:rPr>
              <a:t>문제 10</a:t>
            </a:r>
          </a:p>
        </p:txBody>
      </p:sp>
      <p:sp>
        <p:nvSpPr>
          <p:cNvPr id="3" name="q-q1_l5-category">
            <a:extLst xmlns:a="http://schemas.openxmlformats.org/drawingml/2006/main">
              <a:ext uri="{FF2B5EF4-FFF2-40B4-BE49-F238E27FC236}">
                <a16:creationId xmlns:a16="http://schemas.microsoft.com/office/drawing/2014/main" id="{2D85BAE4-F779-4D40-868A-2F014612C4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400050"/>
            <a:ext cx="3524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buNone/>
              <a:defRPr sz="1275" b="1">
                <a:solidFill>
                  <a:srgbClr val="5EEAD4"/>
                </a:solidFill>
              </a:defRPr>
            </a:pPr>
            <a:r>
              <a:rPr sz="1275" b="1">
                <a:solidFill>
                  <a:srgbClr val="5EEAD4"/>
                </a:solidFill>
              </a:rPr>
              <a:t>듣기 (Listening) 추가 기출</a:t>
            </a:r>
          </a:p>
        </p:txBody>
      </p:sp>
      <p:sp>
        <p:nvSpPr>
          <p:cNvPr id="4" name="q-q1_l5-text">
            <a:extLst xmlns:a="http://schemas.openxmlformats.org/drawingml/2006/main">
              <a:ext uri="{FF2B5EF4-FFF2-40B4-BE49-F238E27FC236}">
                <a16:creationId xmlns:a16="http://schemas.microsoft.com/office/drawing/2014/main" id="{0C2E8238-A169-4FC6-9AA5-2AF043F5C0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38200"/>
            <a:ext cx="109347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buNone/>
              <a:defRPr sz="2625" b="1">
                <a:solidFill>
                  <a:srgbClr val="FFFFFF"/>
                </a:solidFill>
              </a:defRPr>
            </a:pPr>
            <a:r>
              <a:rPr sz="2625" b="1">
                <a:solidFill>
                  <a:srgbClr val="FFFFFF"/>
                </a:solidFill>
              </a:rPr>
              <a:t>다음을 듣고 대화 내용과 일치하는 것(같은 내용)을 고르십시오.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F080C26-0F66-4810-AB1F-E42C578E50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09800"/>
            <a:ext cx="5400675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475569"/>
            </a:solidFill>
            <a:prstDash val="solid"/>
          </a:ln>
        </p:spPr>
      </p:sp>
      <p:sp>
        <p:nvSpPr>
          <p:cNvPr id="6" name="q-q1_l5-option-1">
            <a:extLst xmlns:a="http://schemas.openxmlformats.org/drawingml/2006/main">
              <a:ext uri="{FF2B5EF4-FFF2-40B4-BE49-F238E27FC236}">
                <a16:creationId xmlns:a16="http://schemas.microsoft.com/office/drawing/2014/main" id="{F2FA53E2-1CA1-412F-BCF2-FB733048E4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266950"/>
            <a:ext cx="50577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①  남자는 오늘 오후에 아주 바쁩니다.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85DC8D4-CD97-4F16-BBB4-6DF65F1669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2209800"/>
            <a:ext cx="5400675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475569"/>
            </a:solidFill>
            <a:prstDash val="solid"/>
          </a:ln>
        </p:spPr>
      </p:sp>
      <p:sp>
        <p:nvSpPr>
          <p:cNvPr id="8" name="q-q1_l5-option-2">
            <a:extLst xmlns:a="http://schemas.openxmlformats.org/drawingml/2006/main">
              <a:ext uri="{FF2B5EF4-FFF2-40B4-BE49-F238E27FC236}">
                <a16:creationId xmlns:a16="http://schemas.microsoft.com/office/drawing/2014/main" id="{EED0DC4D-0B96-4A4D-BD86-7B4F3E82B3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5075" y="2266950"/>
            <a:ext cx="50577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②  남자는 오늘 집에서 휴식을 취할 것입니다.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A4CA6B2-E05E-4952-9A1F-FE213A3ED3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86100"/>
            <a:ext cx="5400675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475569"/>
            </a:solidFill>
            <a:prstDash val="solid"/>
          </a:ln>
        </p:spPr>
      </p:sp>
      <p:sp>
        <p:nvSpPr>
          <p:cNvPr id="10" name="q-q1_l5-option-3">
            <a:extLst xmlns:a="http://schemas.openxmlformats.org/drawingml/2006/main">
              <a:ext uri="{FF2B5EF4-FFF2-40B4-BE49-F238E27FC236}">
                <a16:creationId xmlns:a16="http://schemas.microsoft.com/office/drawing/2014/main" id="{020168F0-0F39-440C-B8D1-7DD8FCFE4E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143250"/>
            <a:ext cx="50577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③  여자는 오늘 시장에 가서 옷을 살 것입니다.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AF6CBD7-B384-4114-B1E6-161D6D11C0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3086100"/>
            <a:ext cx="5400675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475569"/>
            </a:solidFill>
            <a:prstDash val="solid"/>
          </a:ln>
        </p:spPr>
      </p:sp>
      <p:sp>
        <p:nvSpPr>
          <p:cNvPr id="12" name="q-q1_l5-option-4">
            <a:extLst xmlns:a="http://schemas.openxmlformats.org/drawingml/2006/main">
              <a:ext uri="{FF2B5EF4-FFF2-40B4-BE49-F238E27FC236}">
                <a16:creationId xmlns:a16="http://schemas.microsoft.com/office/drawing/2014/main" id="{1C10C0C7-76F9-428C-8BCD-8EBE3AB621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5075" y="3143250"/>
            <a:ext cx="50577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④  두 사람은 오늘 오후에 만나서 놀기로 했습니다.</a:t>
            </a:r>
          </a:p>
        </p:txBody>
      </p:sp>
      <p:sp>
        <p:nvSpPr>
          <p:cNvPr id="13" name="footer-brand">
            <a:extLst xmlns:a="http://schemas.openxmlformats.org/drawingml/2006/main">
              <a:ext uri="{FF2B5EF4-FFF2-40B4-BE49-F238E27FC236}">
                <a16:creationId xmlns:a16="http://schemas.microsoft.com/office/drawing/2014/main" id="{0E0A642E-F97B-4773-AEE3-86FFCE3CAA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96050"/>
            <a:ext cx="3238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050">
                <a:solidFill>
                  <a:srgbClr val="94A3B8"/>
                </a:solidFill>
              </a:defRPr>
            </a:pPr>
            <a:r>
              <a:rPr sz="1050">
                <a:solidFill>
                  <a:srgbClr val="94A3B8"/>
                </a:solidFill>
              </a:rPr>
              <a:t>TOPIK-Edu Smart Academy</a:t>
            </a:r>
          </a:p>
        </p:txBody>
      </p:sp>
      <p:sp>
        <p:nvSpPr>
          <p:cNvPr id="14" name="footer-page">
            <a:extLst xmlns:a="http://schemas.openxmlformats.org/drawingml/2006/main">
              <a:ext uri="{FF2B5EF4-FFF2-40B4-BE49-F238E27FC236}">
                <a16:creationId xmlns:a16="http://schemas.microsoft.com/office/drawing/2014/main" id="{39EFFB72-161E-424C-B1B8-AE1FBAD304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6496050"/>
            <a:ext cx="2171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buNone/>
              <a:defRPr sz="1050">
                <a:solidFill>
                  <a:srgbClr val="94A3B8"/>
                </a:solidFill>
              </a:defRPr>
            </a:pPr>
            <a:r>
              <a:rPr sz="1050">
                <a:solidFill>
                  <a:srgbClr val="94A3B8"/>
                </a:solidFill>
              </a:rPr>
              <a:t>1회차 · 10/14</a:t>
            </a:r>
          </a:p>
        </p:txBody>
      </p:sp>
    </p:spTree>
    <p:extLst>
      <p:ext uri="{BB962C8B-B14F-4D97-AF65-F5344CB8AC3E}">
        <p14:creationId xmlns:p14="http://schemas.microsoft.com/office/powerpoint/2010/main" val="161610039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0F17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D90BD15-EAAB-47BD-A871-49E5A27230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228600"/>
            <a:ext cx="11468100" cy="6191250"/>
          </a:xfrm>
          <a:prstGeom xmlns:a="http://schemas.openxmlformats.org/drawingml/2006/main" prst="roundRect">
            <a:avLst>
              <a:gd name="adj" fmla="val 1846"/>
            </a:avLst>
          </a:prstGeom>
          <a:solidFill xmlns:a="http://schemas.openxmlformats.org/drawingml/2006/main">
            <a:srgbClr val="1E293B"/>
          </a:solidFill>
          <a:ln xmlns:a="http://schemas.openxmlformats.org/drawingml/2006/main" w="9525">
            <a:solidFill>
              <a:srgbClr val="334155"/>
            </a:solidFill>
            <a:prstDash val="solid"/>
          </a:ln>
        </p:spPr>
      </p:sp>
      <p:sp>
        <p:nvSpPr>
          <p:cNvPr id="2" name="q-q1_r6-number">
            <a:extLst xmlns:a="http://schemas.openxmlformats.org/drawingml/2006/main">
              <a:ext uri="{FF2B5EF4-FFF2-40B4-BE49-F238E27FC236}">
                <a16:creationId xmlns:a16="http://schemas.microsoft.com/office/drawing/2014/main" id="{1CACEA7E-1785-415C-8BA2-301F18E39D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00050"/>
            <a:ext cx="1714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C7D2FE"/>
                </a:solidFill>
              </a:defRPr>
            </a:pPr>
            <a:r>
              <a:rPr sz="1350" b="1">
                <a:solidFill>
                  <a:srgbClr val="C7D2FE"/>
                </a:solidFill>
              </a:rPr>
              <a:t>문제 11</a:t>
            </a:r>
          </a:p>
        </p:txBody>
      </p:sp>
      <p:sp>
        <p:nvSpPr>
          <p:cNvPr id="3" name="q-q1_r6-category">
            <a:extLst xmlns:a="http://schemas.openxmlformats.org/drawingml/2006/main">
              <a:ext uri="{FF2B5EF4-FFF2-40B4-BE49-F238E27FC236}">
                <a16:creationId xmlns:a16="http://schemas.microsoft.com/office/drawing/2014/main" id="{AC75FB60-9BB9-4264-9220-087E8940D5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400050"/>
            <a:ext cx="3524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buNone/>
              <a:defRPr sz="1275" b="1">
                <a:solidFill>
                  <a:srgbClr val="5EEAD4"/>
                </a:solidFill>
              </a:defRPr>
            </a:pPr>
            <a:r>
              <a:rPr sz="1275" b="1">
                <a:solidFill>
                  <a:srgbClr val="5EEAD4"/>
                </a:solidFill>
              </a:rPr>
              <a:t>읽기 (Reading) 추가 실전</a:t>
            </a:r>
          </a:p>
        </p:txBody>
      </p:sp>
      <p:sp>
        <p:nvSpPr>
          <p:cNvPr id="4" name="q-q1_r6-text">
            <a:extLst xmlns:a="http://schemas.openxmlformats.org/drawingml/2006/main">
              <a:ext uri="{FF2B5EF4-FFF2-40B4-BE49-F238E27FC236}">
                <a16:creationId xmlns:a16="http://schemas.microsoft.com/office/drawing/2014/main" id="{279F628A-F86F-492E-AA9C-AA16EC035C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38200"/>
            <a:ext cx="109347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buNone/>
              <a:defRPr sz="2625" b="1">
                <a:solidFill>
                  <a:srgbClr val="FFFFFF"/>
                </a:solidFill>
              </a:defRPr>
            </a:pPr>
            <a:r>
              <a:rPr sz="2625" b="1">
                <a:solidFill>
                  <a:srgbClr val="FFFFFF"/>
                </a:solidFill>
              </a:rPr>
              <a:t>다음 안내문을 볼 수 있는 장소로 가장 알맞은 곳을 고르십시오.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B78D6CB-2DD1-415E-86B1-03B42D02F5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19250"/>
            <a:ext cx="10934700" cy="1381125"/>
          </a:xfrm>
          <a:prstGeom xmlns:a="http://schemas.openxmlformats.org/drawingml/2006/main" prst="roundRect">
            <a:avLst>
              <a:gd name="adj" fmla="val 8276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475569"/>
            </a:solidFill>
            <a:prstDash val="solid"/>
          </a:ln>
        </p:spPr>
      </p:sp>
      <p:sp>
        <p:nvSpPr>
          <p:cNvPr id="6" name="q-q1_r6-passage">
            <a:extLst xmlns:a="http://schemas.openxmlformats.org/drawingml/2006/main">
              <a:ext uri="{FF2B5EF4-FFF2-40B4-BE49-F238E27FC236}">
                <a16:creationId xmlns:a16="http://schemas.microsoft.com/office/drawing/2014/main" id="{A279EB2C-C4AF-4569-889B-06D22C25B3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733550"/>
            <a:ext cx="10553700" cy="1152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buNone/>
              <a:defRPr sz="1875">
                <a:solidFill>
                  <a:srgbClr val="FFFFFF"/>
                </a:solidFill>
              </a:defRPr>
            </a:pPr>
            <a:r>
              <a:rPr sz="1875">
                <a:solidFill>
                  <a:srgbClr val="FFFFFF"/>
                </a:solidFill>
              </a:rPr>
              <a:t>책을 읽는 분들을 위해 조용히 해 주세요.</a:t>
            </a:r>
          </a:p>
          <a:p xmlns:a="http://schemas.openxmlformats.org/drawingml/2006/main">
            <a:pPr>
              <a:buNone/>
              <a:defRPr sz="1875">
                <a:solidFill>
                  <a:srgbClr val="FFFFFF"/>
                </a:solidFill>
              </a:defRPr>
            </a:pPr>
            <a:r>
              <a:rPr sz="1875">
                <a:solidFill>
                  <a:srgbClr val="FFFFFF"/>
                </a:solidFill>
              </a:rPr>
              <a:t>빌린 책은 14일 안에 돌려주세요.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DE3F0C8-B042-43AC-98AE-B884031AA1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19450"/>
            <a:ext cx="5400675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475569"/>
            </a:solidFill>
            <a:prstDash val="solid"/>
          </a:ln>
        </p:spPr>
      </p:sp>
      <p:sp>
        <p:nvSpPr>
          <p:cNvPr id="8" name="q-q1_r6-option-1">
            <a:extLst xmlns:a="http://schemas.openxmlformats.org/drawingml/2006/main">
              <a:ext uri="{FF2B5EF4-FFF2-40B4-BE49-F238E27FC236}">
                <a16:creationId xmlns:a16="http://schemas.microsoft.com/office/drawing/2014/main" id="{78F433A3-E71C-4DCD-B8B6-6DFEFAB652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276600"/>
            <a:ext cx="50577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①  도서관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ABDFF2D-6FB2-418B-8C24-57F41C9D3B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3219450"/>
            <a:ext cx="5400675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475569"/>
            </a:solidFill>
            <a:prstDash val="solid"/>
          </a:ln>
        </p:spPr>
      </p:sp>
      <p:sp>
        <p:nvSpPr>
          <p:cNvPr id="10" name="q-q1_r6-option-2">
            <a:extLst xmlns:a="http://schemas.openxmlformats.org/drawingml/2006/main">
              <a:ext uri="{FF2B5EF4-FFF2-40B4-BE49-F238E27FC236}">
                <a16:creationId xmlns:a16="http://schemas.microsoft.com/office/drawing/2014/main" id="{6A34FCF5-D20E-49B4-ADEB-02A96D1B2E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5075" y="3276600"/>
            <a:ext cx="50577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②  식당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2176012-68F4-46C2-A70A-45887CE69D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95750"/>
            <a:ext cx="5400675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475569"/>
            </a:solidFill>
            <a:prstDash val="solid"/>
          </a:ln>
        </p:spPr>
      </p:sp>
      <p:sp>
        <p:nvSpPr>
          <p:cNvPr id="12" name="q-q1_r6-option-3">
            <a:extLst xmlns:a="http://schemas.openxmlformats.org/drawingml/2006/main">
              <a:ext uri="{FF2B5EF4-FFF2-40B4-BE49-F238E27FC236}">
                <a16:creationId xmlns:a16="http://schemas.microsoft.com/office/drawing/2014/main" id="{DC3055A7-15AE-4A7F-8524-4D70B43AFE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152900"/>
            <a:ext cx="50577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③  은행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E27DE98-9082-4ABE-B78F-68B0FA450A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4095750"/>
            <a:ext cx="5400675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475569"/>
            </a:solidFill>
            <a:prstDash val="solid"/>
          </a:ln>
        </p:spPr>
      </p:sp>
      <p:sp>
        <p:nvSpPr>
          <p:cNvPr id="14" name="q-q1_r6-option-4">
            <a:extLst xmlns:a="http://schemas.openxmlformats.org/drawingml/2006/main">
              <a:ext uri="{FF2B5EF4-FFF2-40B4-BE49-F238E27FC236}">
                <a16:creationId xmlns:a16="http://schemas.microsoft.com/office/drawing/2014/main" id="{2512105C-17EB-4F0D-8E1F-3FAA639F30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5075" y="4152900"/>
            <a:ext cx="50577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④  병원</a:t>
            </a:r>
          </a:p>
        </p:txBody>
      </p:sp>
      <p:sp>
        <p:nvSpPr>
          <p:cNvPr id="15" name="footer-brand">
            <a:extLst xmlns:a="http://schemas.openxmlformats.org/drawingml/2006/main">
              <a:ext uri="{FF2B5EF4-FFF2-40B4-BE49-F238E27FC236}">
                <a16:creationId xmlns:a16="http://schemas.microsoft.com/office/drawing/2014/main" id="{33F8D660-C63B-42CF-8494-30FBA866D9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96050"/>
            <a:ext cx="3238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050">
                <a:solidFill>
                  <a:srgbClr val="94A3B8"/>
                </a:solidFill>
              </a:defRPr>
            </a:pPr>
            <a:r>
              <a:rPr sz="1050">
                <a:solidFill>
                  <a:srgbClr val="94A3B8"/>
                </a:solidFill>
              </a:rPr>
              <a:t>TOPIK-Edu Smart Academy</a:t>
            </a:r>
          </a:p>
        </p:txBody>
      </p:sp>
      <p:sp>
        <p:nvSpPr>
          <p:cNvPr id="16" name="footer-page">
            <a:extLst xmlns:a="http://schemas.openxmlformats.org/drawingml/2006/main">
              <a:ext uri="{FF2B5EF4-FFF2-40B4-BE49-F238E27FC236}">
                <a16:creationId xmlns:a16="http://schemas.microsoft.com/office/drawing/2014/main" id="{4586B410-8720-4B0E-89A3-7BA717AA76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6496050"/>
            <a:ext cx="2171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buNone/>
              <a:defRPr sz="1050">
                <a:solidFill>
                  <a:srgbClr val="94A3B8"/>
                </a:solidFill>
              </a:defRPr>
            </a:pPr>
            <a:r>
              <a:rPr sz="1050">
                <a:solidFill>
                  <a:srgbClr val="94A3B8"/>
                </a:solidFill>
              </a:rPr>
              <a:t>1회차 · 11/14</a:t>
            </a:r>
          </a:p>
        </p:txBody>
      </p:sp>
    </p:spTree>
    <p:extLst>
      <p:ext uri="{BB962C8B-B14F-4D97-AF65-F5344CB8AC3E}">
        <p14:creationId xmlns:p14="http://schemas.microsoft.com/office/powerpoint/2010/main" val="2008219393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0F17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1CB3086-93D9-4CB0-9706-0102343EE5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228600"/>
            <a:ext cx="11468100" cy="6191250"/>
          </a:xfrm>
          <a:prstGeom xmlns:a="http://schemas.openxmlformats.org/drawingml/2006/main" prst="roundRect">
            <a:avLst>
              <a:gd name="adj" fmla="val 1846"/>
            </a:avLst>
          </a:prstGeom>
          <a:solidFill xmlns:a="http://schemas.openxmlformats.org/drawingml/2006/main">
            <a:srgbClr val="1E293B"/>
          </a:solidFill>
          <a:ln xmlns:a="http://schemas.openxmlformats.org/drawingml/2006/main" w="9525">
            <a:solidFill>
              <a:srgbClr val="334155"/>
            </a:solidFill>
            <a:prstDash val="solid"/>
          </a:ln>
        </p:spPr>
      </p:sp>
      <p:sp>
        <p:nvSpPr>
          <p:cNvPr id="2" name="q-q1_r7-number">
            <a:extLst xmlns:a="http://schemas.openxmlformats.org/drawingml/2006/main">
              <a:ext uri="{FF2B5EF4-FFF2-40B4-BE49-F238E27FC236}">
                <a16:creationId xmlns:a16="http://schemas.microsoft.com/office/drawing/2014/main" id="{D2917962-BA7C-4CC5-B8E6-2E8B34667B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00050"/>
            <a:ext cx="1714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C7D2FE"/>
                </a:solidFill>
              </a:defRPr>
            </a:pPr>
            <a:r>
              <a:rPr sz="1350" b="1">
                <a:solidFill>
                  <a:srgbClr val="C7D2FE"/>
                </a:solidFill>
              </a:rPr>
              <a:t>문제 12</a:t>
            </a:r>
          </a:p>
        </p:txBody>
      </p:sp>
      <p:sp>
        <p:nvSpPr>
          <p:cNvPr id="3" name="q-q1_r7-category">
            <a:extLst xmlns:a="http://schemas.openxmlformats.org/drawingml/2006/main">
              <a:ext uri="{FF2B5EF4-FFF2-40B4-BE49-F238E27FC236}">
                <a16:creationId xmlns:a16="http://schemas.microsoft.com/office/drawing/2014/main" id="{EA433711-4AE1-4676-ABB8-D1C8519C3C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400050"/>
            <a:ext cx="3524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buNone/>
              <a:defRPr sz="1275" b="1">
                <a:solidFill>
                  <a:srgbClr val="5EEAD4"/>
                </a:solidFill>
              </a:defRPr>
            </a:pPr>
            <a:r>
              <a:rPr sz="1275" b="1">
                <a:solidFill>
                  <a:srgbClr val="5EEAD4"/>
                </a:solidFill>
              </a:rPr>
              <a:t>읽기 (Reading) 추가 실전</a:t>
            </a:r>
          </a:p>
        </p:txBody>
      </p:sp>
      <p:sp>
        <p:nvSpPr>
          <p:cNvPr id="4" name="q-q1_r7-text">
            <a:extLst xmlns:a="http://schemas.openxmlformats.org/drawingml/2006/main">
              <a:ext uri="{FF2B5EF4-FFF2-40B4-BE49-F238E27FC236}">
                <a16:creationId xmlns:a16="http://schemas.microsoft.com/office/drawing/2014/main" id="{CD2EBC48-A9A4-4436-B61A-456850B2D0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38200"/>
            <a:ext cx="109347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buNone/>
              <a:defRPr sz="2625" b="1">
                <a:solidFill>
                  <a:srgbClr val="FFFFFF"/>
                </a:solidFill>
              </a:defRPr>
            </a:pPr>
            <a:r>
              <a:rPr sz="2625" b="1">
                <a:solidFill>
                  <a:srgbClr val="FFFFFF"/>
                </a:solidFill>
              </a:rPr>
              <a:t>다음 빈칸에 들어갈 가장 알맞은 조사를 고르십시오.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CA46925-10CB-4B01-BC09-46DAE74FCF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19250"/>
            <a:ext cx="10934700" cy="1381125"/>
          </a:xfrm>
          <a:prstGeom xmlns:a="http://schemas.openxmlformats.org/drawingml/2006/main" prst="roundRect">
            <a:avLst>
              <a:gd name="adj" fmla="val 8276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475569"/>
            </a:solidFill>
            <a:prstDash val="solid"/>
          </a:ln>
        </p:spPr>
      </p:sp>
      <p:sp>
        <p:nvSpPr>
          <p:cNvPr id="6" name="q-q1_r7-passage">
            <a:extLst xmlns:a="http://schemas.openxmlformats.org/drawingml/2006/main">
              <a:ext uri="{FF2B5EF4-FFF2-40B4-BE49-F238E27FC236}">
                <a16:creationId xmlns:a16="http://schemas.microsoft.com/office/drawing/2014/main" id="{150B254E-7A85-41CA-82F2-7A134805BC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733550"/>
            <a:ext cx="10553700" cy="1152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buNone/>
              <a:defRPr sz="1875">
                <a:solidFill>
                  <a:srgbClr val="FFFFFF"/>
                </a:solidFill>
              </a:defRPr>
            </a:pPr>
            <a:r>
              <a:rPr sz="1875">
                <a:solidFill>
                  <a:srgbClr val="FFFFFF"/>
                </a:solidFill>
              </a:rPr>
              <a:t>선생님(     ) 교실에서 한국어를 가르칩니다.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A2A7B29-0C88-4886-AB15-C701A77294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19450"/>
            <a:ext cx="5400675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475569"/>
            </a:solidFill>
            <a:prstDash val="solid"/>
          </a:ln>
        </p:spPr>
      </p:sp>
      <p:sp>
        <p:nvSpPr>
          <p:cNvPr id="8" name="q-q1_r7-option-1">
            <a:extLst xmlns:a="http://schemas.openxmlformats.org/drawingml/2006/main">
              <a:ext uri="{FF2B5EF4-FFF2-40B4-BE49-F238E27FC236}">
                <a16:creationId xmlns:a16="http://schemas.microsoft.com/office/drawing/2014/main" id="{CB135D28-F1A8-4EAB-B417-905038BD56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276600"/>
            <a:ext cx="50577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①  이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9D2DC9F-C62E-40A8-AE8C-5B7290450E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3219450"/>
            <a:ext cx="5400675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475569"/>
            </a:solidFill>
            <a:prstDash val="solid"/>
          </a:ln>
        </p:spPr>
      </p:sp>
      <p:sp>
        <p:nvSpPr>
          <p:cNvPr id="10" name="q-q1_r7-option-2">
            <a:extLst xmlns:a="http://schemas.openxmlformats.org/drawingml/2006/main">
              <a:ext uri="{FF2B5EF4-FFF2-40B4-BE49-F238E27FC236}">
                <a16:creationId xmlns:a16="http://schemas.microsoft.com/office/drawing/2014/main" id="{F81F7FBF-3FAC-47A8-BEEE-EAE473E7D0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5075" y="3276600"/>
            <a:ext cx="50577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②  을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2873F87-A73D-48A6-A722-D5F64F6FF6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95750"/>
            <a:ext cx="5400675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475569"/>
            </a:solidFill>
            <a:prstDash val="solid"/>
          </a:ln>
        </p:spPr>
      </p:sp>
      <p:sp>
        <p:nvSpPr>
          <p:cNvPr id="12" name="q-q1_r7-option-3">
            <a:extLst xmlns:a="http://schemas.openxmlformats.org/drawingml/2006/main">
              <a:ext uri="{FF2B5EF4-FFF2-40B4-BE49-F238E27FC236}">
                <a16:creationId xmlns:a16="http://schemas.microsoft.com/office/drawing/2014/main" id="{09B0E3D6-1153-4C4F-8986-D5E116BBAE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152900"/>
            <a:ext cx="50577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③  에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9805657-6053-48DF-A156-E627412DA9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4095750"/>
            <a:ext cx="5400675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475569"/>
            </a:solidFill>
            <a:prstDash val="solid"/>
          </a:ln>
        </p:spPr>
      </p:sp>
      <p:sp>
        <p:nvSpPr>
          <p:cNvPr id="14" name="q-q1_r7-option-4">
            <a:extLst xmlns:a="http://schemas.openxmlformats.org/drawingml/2006/main">
              <a:ext uri="{FF2B5EF4-FFF2-40B4-BE49-F238E27FC236}">
                <a16:creationId xmlns:a16="http://schemas.microsoft.com/office/drawing/2014/main" id="{0633396F-A66D-4467-8D10-57EECB5ED5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5075" y="4152900"/>
            <a:ext cx="50577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④  와</a:t>
            </a:r>
          </a:p>
        </p:txBody>
      </p:sp>
      <p:sp>
        <p:nvSpPr>
          <p:cNvPr id="15" name="footer-brand">
            <a:extLst xmlns:a="http://schemas.openxmlformats.org/drawingml/2006/main">
              <a:ext uri="{FF2B5EF4-FFF2-40B4-BE49-F238E27FC236}">
                <a16:creationId xmlns:a16="http://schemas.microsoft.com/office/drawing/2014/main" id="{A856EA38-EBAC-4478-BE3C-D8AD4E6FD4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96050"/>
            <a:ext cx="3238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050">
                <a:solidFill>
                  <a:srgbClr val="94A3B8"/>
                </a:solidFill>
              </a:defRPr>
            </a:pPr>
            <a:r>
              <a:rPr sz="1050">
                <a:solidFill>
                  <a:srgbClr val="94A3B8"/>
                </a:solidFill>
              </a:rPr>
              <a:t>TOPIK-Edu Smart Academy</a:t>
            </a:r>
          </a:p>
        </p:txBody>
      </p:sp>
      <p:sp>
        <p:nvSpPr>
          <p:cNvPr id="16" name="footer-page">
            <a:extLst xmlns:a="http://schemas.openxmlformats.org/drawingml/2006/main">
              <a:ext uri="{FF2B5EF4-FFF2-40B4-BE49-F238E27FC236}">
                <a16:creationId xmlns:a16="http://schemas.microsoft.com/office/drawing/2014/main" id="{C5A5C579-EFE2-4B1E-ACAC-D8D5614154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6496050"/>
            <a:ext cx="2171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buNone/>
              <a:defRPr sz="1050">
                <a:solidFill>
                  <a:srgbClr val="94A3B8"/>
                </a:solidFill>
              </a:defRPr>
            </a:pPr>
            <a:r>
              <a:rPr sz="1050">
                <a:solidFill>
                  <a:srgbClr val="94A3B8"/>
                </a:solidFill>
              </a:rPr>
              <a:t>1회차 · 12/14</a:t>
            </a:r>
          </a:p>
        </p:txBody>
      </p:sp>
    </p:spTree>
    <p:extLst>
      <p:ext uri="{BB962C8B-B14F-4D97-AF65-F5344CB8AC3E}">
        <p14:creationId xmlns:p14="http://schemas.microsoft.com/office/powerpoint/2010/main" val="1192146289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0F17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25555B3-F796-4C46-B1FE-0D4F922D7B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228600"/>
            <a:ext cx="11468100" cy="6191250"/>
          </a:xfrm>
          <a:prstGeom xmlns:a="http://schemas.openxmlformats.org/drawingml/2006/main" prst="roundRect">
            <a:avLst>
              <a:gd name="adj" fmla="val 1846"/>
            </a:avLst>
          </a:prstGeom>
          <a:solidFill xmlns:a="http://schemas.openxmlformats.org/drawingml/2006/main">
            <a:srgbClr val="1E293B"/>
          </a:solidFill>
          <a:ln xmlns:a="http://schemas.openxmlformats.org/drawingml/2006/main" w="9525">
            <a:solidFill>
              <a:srgbClr val="334155"/>
            </a:solidFill>
            <a:prstDash val="solid"/>
          </a:ln>
        </p:spPr>
      </p:sp>
      <p:sp>
        <p:nvSpPr>
          <p:cNvPr id="2" name="q-q1_l6-number">
            <a:extLst xmlns:a="http://schemas.openxmlformats.org/drawingml/2006/main">
              <a:ext uri="{FF2B5EF4-FFF2-40B4-BE49-F238E27FC236}">
                <a16:creationId xmlns:a16="http://schemas.microsoft.com/office/drawing/2014/main" id="{29E24630-E4D3-47E1-A1DD-EAEC755C3E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00050"/>
            <a:ext cx="1714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C7D2FE"/>
                </a:solidFill>
              </a:defRPr>
            </a:pPr>
            <a:r>
              <a:rPr sz="1350" b="1">
                <a:solidFill>
                  <a:srgbClr val="C7D2FE"/>
                </a:solidFill>
              </a:rPr>
              <a:t>문제 13</a:t>
            </a:r>
          </a:p>
        </p:txBody>
      </p:sp>
      <p:sp>
        <p:nvSpPr>
          <p:cNvPr id="3" name="q-q1_l6-category">
            <a:extLst xmlns:a="http://schemas.openxmlformats.org/drawingml/2006/main">
              <a:ext uri="{FF2B5EF4-FFF2-40B4-BE49-F238E27FC236}">
                <a16:creationId xmlns:a16="http://schemas.microsoft.com/office/drawing/2014/main" id="{F79B97C0-752B-4A70-8B18-FFDFED6934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400050"/>
            <a:ext cx="3524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buNone/>
              <a:defRPr sz="1275" b="1">
                <a:solidFill>
                  <a:srgbClr val="5EEAD4"/>
                </a:solidFill>
              </a:defRPr>
            </a:pPr>
            <a:r>
              <a:rPr sz="1275" b="1">
                <a:solidFill>
                  <a:srgbClr val="5EEAD4"/>
                </a:solidFill>
              </a:rPr>
              <a:t>듣기 (Listening) 추가 실전</a:t>
            </a:r>
          </a:p>
        </p:txBody>
      </p:sp>
      <p:sp>
        <p:nvSpPr>
          <p:cNvPr id="4" name="q-q1_l6-text">
            <a:extLst xmlns:a="http://schemas.openxmlformats.org/drawingml/2006/main">
              <a:ext uri="{FF2B5EF4-FFF2-40B4-BE49-F238E27FC236}">
                <a16:creationId xmlns:a16="http://schemas.microsoft.com/office/drawing/2014/main" id="{640F81FC-0E47-4C17-9920-B2D0F604A0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38200"/>
            <a:ext cx="109347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buNone/>
              <a:defRPr sz="2625" b="1">
                <a:solidFill>
                  <a:srgbClr val="FFFFFF"/>
                </a:solidFill>
              </a:defRPr>
            </a:pPr>
            <a:r>
              <a:rPr sz="2625" b="1">
                <a:solidFill>
                  <a:srgbClr val="FFFFFF"/>
                </a:solidFill>
              </a:rPr>
              <a:t>다음을 듣고 여자가 누구인지 고르십시오.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D778501-5706-4862-979E-2EB73DA226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09800"/>
            <a:ext cx="5400675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475569"/>
            </a:solidFill>
            <a:prstDash val="solid"/>
          </a:ln>
        </p:spPr>
      </p:sp>
      <p:sp>
        <p:nvSpPr>
          <p:cNvPr id="6" name="q-q1_l6-option-1">
            <a:extLst xmlns:a="http://schemas.openxmlformats.org/drawingml/2006/main">
              <a:ext uri="{FF2B5EF4-FFF2-40B4-BE49-F238E27FC236}">
                <a16:creationId xmlns:a16="http://schemas.microsoft.com/office/drawing/2014/main" id="{53C57A96-FB85-4011-B02E-410DD702E0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266950"/>
            <a:ext cx="50577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①  학생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EC90B1A-7C0F-43FC-A69D-AFB92E379D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2209800"/>
            <a:ext cx="5400675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475569"/>
            </a:solidFill>
            <a:prstDash val="solid"/>
          </a:ln>
        </p:spPr>
      </p:sp>
      <p:sp>
        <p:nvSpPr>
          <p:cNvPr id="8" name="q-q1_l6-option-2">
            <a:extLst xmlns:a="http://schemas.openxmlformats.org/drawingml/2006/main">
              <a:ext uri="{FF2B5EF4-FFF2-40B4-BE49-F238E27FC236}">
                <a16:creationId xmlns:a16="http://schemas.microsoft.com/office/drawing/2014/main" id="{7A6C7A16-2378-4A04-BB4E-A0600F7C66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5075" y="2266950"/>
            <a:ext cx="50577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②  선생님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04C283B-60B3-48BC-8FDA-F1F2D9539B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86100"/>
            <a:ext cx="5400675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475569"/>
            </a:solidFill>
            <a:prstDash val="solid"/>
          </a:ln>
        </p:spPr>
      </p:sp>
      <p:sp>
        <p:nvSpPr>
          <p:cNvPr id="10" name="q-q1_l6-option-3">
            <a:extLst xmlns:a="http://schemas.openxmlformats.org/drawingml/2006/main">
              <a:ext uri="{FF2B5EF4-FFF2-40B4-BE49-F238E27FC236}">
                <a16:creationId xmlns:a16="http://schemas.microsoft.com/office/drawing/2014/main" id="{47BAA25F-71C0-464C-893A-08941E6319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143250"/>
            <a:ext cx="50577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③  의사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57E48FC-92E9-4A4A-88CA-031DBC3A6F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3086100"/>
            <a:ext cx="5400675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475569"/>
            </a:solidFill>
            <a:prstDash val="solid"/>
          </a:ln>
        </p:spPr>
      </p:sp>
      <p:sp>
        <p:nvSpPr>
          <p:cNvPr id="12" name="q-q1_l6-option-4">
            <a:extLst xmlns:a="http://schemas.openxmlformats.org/drawingml/2006/main">
              <a:ext uri="{FF2B5EF4-FFF2-40B4-BE49-F238E27FC236}">
                <a16:creationId xmlns:a16="http://schemas.microsoft.com/office/drawing/2014/main" id="{1E365A43-6A15-4AF2-9833-B6BA060F3D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5075" y="3143250"/>
            <a:ext cx="50577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④  요리사</a:t>
            </a:r>
          </a:p>
        </p:txBody>
      </p:sp>
      <p:sp>
        <p:nvSpPr>
          <p:cNvPr id="13" name="footer-brand">
            <a:extLst xmlns:a="http://schemas.openxmlformats.org/drawingml/2006/main">
              <a:ext uri="{FF2B5EF4-FFF2-40B4-BE49-F238E27FC236}">
                <a16:creationId xmlns:a16="http://schemas.microsoft.com/office/drawing/2014/main" id="{820E8C8D-21D6-405A-8F0F-275DF50B17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96050"/>
            <a:ext cx="3238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050">
                <a:solidFill>
                  <a:srgbClr val="94A3B8"/>
                </a:solidFill>
              </a:defRPr>
            </a:pPr>
            <a:r>
              <a:rPr sz="1050">
                <a:solidFill>
                  <a:srgbClr val="94A3B8"/>
                </a:solidFill>
              </a:rPr>
              <a:t>TOPIK-Edu Smart Academy</a:t>
            </a:r>
          </a:p>
        </p:txBody>
      </p:sp>
      <p:sp>
        <p:nvSpPr>
          <p:cNvPr id="14" name="footer-page">
            <a:extLst xmlns:a="http://schemas.openxmlformats.org/drawingml/2006/main">
              <a:ext uri="{FF2B5EF4-FFF2-40B4-BE49-F238E27FC236}">
                <a16:creationId xmlns:a16="http://schemas.microsoft.com/office/drawing/2014/main" id="{70948502-D247-4769-B094-D86FAEC424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6496050"/>
            <a:ext cx="2171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buNone/>
              <a:defRPr sz="1050">
                <a:solidFill>
                  <a:srgbClr val="94A3B8"/>
                </a:solidFill>
              </a:defRPr>
            </a:pPr>
            <a:r>
              <a:rPr sz="1050">
                <a:solidFill>
                  <a:srgbClr val="94A3B8"/>
                </a:solidFill>
              </a:rPr>
              <a:t>1회차 · 13/14</a:t>
            </a:r>
          </a:p>
        </p:txBody>
      </p:sp>
    </p:spTree>
    <p:extLst>
      <p:ext uri="{BB962C8B-B14F-4D97-AF65-F5344CB8AC3E}">
        <p14:creationId xmlns:p14="http://schemas.microsoft.com/office/powerpoint/2010/main" val="2054029460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0F17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D01525B-DE56-4145-A877-6C594ADADA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228600"/>
            <a:ext cx="11468100" cy="6191250"/>
          </a:xfrm>
          <a:prstGeom xmlns:a="http://schemas.openxmlformats.org/drawingml/2006/main" prst="roundRect">
            <a:avLst>
              <a:gd name="adj" fmla="val 1846"/>
            </a:avLst>
          </a:prstGeom>
          <a:solidFill xmlns:a="http://schemas.openxmlformats.org/drawingml/2006/main">
            <a:srgbClr val="1E293B"/>
          </a:solidFill>
          <a:ln xmlns:a="http://schemas.openxmlformats.org/drawingml/2006/main" w="9525">
            <a:solidFill>
              <a:srgbClr val="334155"/>
            </a:solidFill>
            <a:prstDash val="solid"/>
          </a:ln>
        </p:spPr>
      </p:sp>
      <p:sp>
        <p:nvSpPr>
          <p:cNvPr id="2" name="q-q1_l7-number">
            <a:extLst xmlns:a="http://schemas.openxmlformats.org/drawingml/2006/main">
              <a:ext uri="{FF2B5EF4-FFF2-40B4-BE49-F238E27FC236}">
                <a16:creationId xmlns:a16="http://schemas.microsoft.com/office/drawing/2014/main" id="{07B41B25-0C4B-4875-966E-91CD333AD7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00050"/>
            <a:ext cx="1714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C7D2FE"/>
                </a:solidFill>
              </a:defRPr>
            </a:pPr>
            <a:r>
              <a:rPr sz="1350" b="1">
                <a:solidFill>
                  <a:srgbClr val="C7D2FE"/>
                </a:solidFill>
              </a:rPr>
              <a:t>문제 14</a:t>
            </a:r>
          </a:p>
        </p:txBody>
      </p:sp>
      <p:sp>
        <p:nvSpPr>
          <p:cNvPr id="3" name="q-q1_l7-category">
            <a:extLst xmlns:a="http://schemas.openxmlformats.org/drawingml/2006/main">
              <a:ext uri="{FF2B5EF4-FFF2-40B4-BE49-F238E27FC236}">
                <a16:creationId xmlns:a16="http://schemas.microsoft.com/office/drawing/2014/main" id="{C321A147-6234-49A3-A91F-82497A8EC4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400050"/>
            <a:ext cx="3524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buNone/>
              <a:defRPr sz="1275" b="1">
                <a:solidFill>
                  <a:srgbClr val="5EEAD4"/>
                </a:solidFill>
              </a:defRPr>
            </a:pPr>
            <a:r>
              <a:rPr sz="1275" b="1">
                <a:solidFill>
                  <a:srgbClr val="5EEAD4"/>
                </a:solidFill>
              </a:rPr>
              <a:t>듣기 (Listening) 추가 실전</a:t>
            </a:r>
          </a:p>
        </p:txBody>
      </p:sp>
      <p:sp>
        <p:nvSpPr>
          <p:cNvPr id="4" name="q-q1_l7-text">
            <a:extLst xmlns:a="http://schemas.openxmlformats.org/drawingml/2006/main">
              <a:ext uri="{FF2B5EF4-FFF2-40B4-BE49-F238E27FC236}">
                <a16:creationId xmlns:a16="http://schemas.microsoft.com/office/drawing/2014/main" id="{17569794-0E5A-47AE-A510-669A818332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38200"/>
            <a:ext cx="109347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buNone/>
              <a:defRPr sz="2625" b="1">
                <a:solidFill>
                  <a:srgbClr val="FFFFFF"/>
                </a:solidFill>
              </a:defRPr>
            </a:pPr>
            <a:r>
              <a:rPr sz="2625" b="1">
                <a:solidFill>
                  <a:srgbClr val="FFFFFF"/>
                </a:solidFill>
              </a:rPr>
              <a:t>다음을 듣고 이어질 말로 가장 알맞은 것을 고르십시오.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9206CBD-BFCE-40A1-9A5D-B15D0DFAED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09800"/>
            <a:ext cx="5400675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475569"/>
            </a:solidFill>
            <a:prstDash val="solid"/>
          </a:ln>
        </p:spPr>
      </p:sp>
      <p:sp>
        <p:nvSpPr>
          <p:cNvPr id="6" name="q-q1_l7-option-1">
            <a:extLst xmlns:a="http://schemas.openxmlformats.org/drawingml/2006/main">
              <a:ext uri="{FF2B5EF4-FFF2-40B4-BE49-F238E27FC236}">
                <a16:creationId xmlns:a16="http://schemas.microsoft.com/office/drawing/2014/main" id="{FEA2FCF5-DBCF-4C8B-B450-C5D4787300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266950"/>
            <a:ext cx="50577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①  학교에 가요.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7CCF603-DDC6-4E73-A707-88AA2904A9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2209800"/>
            <a:ext cx="5400675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475569"/>
            </a:solidFill>
            <a:prstDash val="solid"/>
          </a:ln>
        </p:spPr>
      </p:sp>
      <p:sp>
        <p:nvSpPr>
          <p:cNvPr id="8" name="q-q1_l7-option-2">
            <a:extLst xmlns:a="http://schemas.openxmlformats.org/drawingml/2006/main">
              <a:ext uri="{FF2B5EF4-FFF2-40B4-BE49-F238E27FC236}">
                <a16:creationId xmlns:a16="http://schemas.microsoft.com/office/drawing/2014/main" id="{44C4F48B-99B0-4AF8-B859-2DBE891596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5075" y="2266950"/>
            <a:ext cx="50577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②  학교에서 공부했어요.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C043A6E-B052-4A43-B95E-4DB0B0DAC1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86100"/>
            <a:ext cx="5400675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475569"/>
            </a:solidFill>
            <a:prstDash val="solid"/>
          </a:ln>
        </p:spPr>
      </p:sp>
      <p:sp>
        <p:nvSpPr>
          <p:cNvPr id="10" name="q-q1_l7-option-3">
            <a:extLst xmlns:a="http://schemas.openxmlformats.org/drawingml/2006/main">
              <a:ext uri="{FF2B5EF4-FFF2-40B4-BE49-F238E27FC236}">
                <a16:creationId xmlns:a16="http://schemas.microsoft.com/office/drawing/2014/main" id="{D0DB4DC8-A415-4EC5-80C2-4DA91514F1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143250"/>
            <a:ext cx="50577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③  학생이 많아요.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847BB0E-4D0C-403B-B94A-0028FFA7A7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3086100"/>
            <a:ext cx="5400675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475569"/>
            </a:solidFill>
            <a:prstDash val="solid"/>
          </a:ln>
        </p:spPr>
      </p:sp>
      <p:sp>
        <p:nvSpPr>
          <p:cNvPr id="12" name="q-q1_l7-option-4">
            <a:extLst xmlns:a="http://schemas.openxmlformats.org/drawingml/2006/main">
              <a:ext uri="{FF2B5EF4-FFF2-40B4-BE49-F238E27FC236}">
                <a16:creationId xmlns:a16="http://schemas.microsoft.com/office/drawing/2014/main" id="{40F1D2A7-F050-4DBC-855A-6F8745F6D9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5075" y="3143250"/>
            <a:ext cx="50577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④  책이 재미있어요.</a:t>
            </a:r>
          </a:p>
        </p:txBody>
      </p:sp>
      <p:sp>
        <p:nvSpPr>
          <p:cNvPr id="13" name="footer-brand">
            <a:extLst xmlns:a="http://schemas.openxmlformats.org/drawingml/2006/main">
              <a:ext uri="{FF2B5EF4-FFF2-40B4-BE49-F238E27FC236}">
                <a16:creationId xmlns:a16="http://schemas.microsoft.com/office/drawing/2014/main" id="{89F9129E-F24C-45DC-8B73-DF8B594BF7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96050"/>
            <a:ext cx="3238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050">
                <a:solidFill>
                  <a:srgbClr val="94A3B8"/>
                </a:solidFill>
              </a:defRPr>
            </a:pPr>
            <a:r>
              <a:rPr sz="1050">
                <a:solidFill>
                  <a:srgbClr val="94A3B8"/>
                </a:solidFill>
              </a:rPr>
              <a:t>TOPIK-Edu Smart Academy</a:t>
            </a:r>
          </a:p>
        </p:txBody>
      </p:sp>
      <p:sp>
        <p:nvSpPr>
          <p:cNvPr id="14" name="footer-page">
            <a:extLst xmlns:a="http://schemas.openxmlformats.org/drawingml/2006/main">
              <a:ext uri="{FF2B5EF4-FFF2-40B4-BE49-F238E27FC236}">
                <a16:creationId xmlns:a16="http://schemas.microsoft.com/office/drawing/2014/main" id="{4BD7491D-F6F2-4F3F-9D4A-483FAE20E2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6496050"/>
            <a:ext cx="2171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buNone/>
              <a:defRPr sz="1050">
                <a:solidFill>
                  <a:srgbClr val="94A3B8"/>
                </a:solidFill>
              </a:defRPr>
            </a:pPr>
            <a:r>
              <a:rPr sz="1050">
                <a:solidFill>
                  <a:srgbClr val="94A3B8"/>
                </a:solidFill>
              </a:rPr>
              <a:t>1회차 · 14/14</a:t>
            </a:r>
          </a:p>
        </p:txBody>
      </p:sp>
    </p:spTree>
    <p:extLst>
      <p:ext uri="{BB962C8B-B14F-4D97-AF65-F5344CB8AC3E}">
        <p14:creationId xmlns:p14="http://schemas.microsoft.com/office/powerpoint/2010/main" val="576112518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0F17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session-2-kicker">
            <a:extLst xmlns:a="http://schemas.openxmlformats.org/drawingml/2006/main">
              <a:ext uri="{FF2B5EF4-FFF2-40B4-BE49-F238E27FC236}">
                <a16:creationId xmlns:a16="http://schemas.microsoft.com/office/drawing/2014/main" id="{763FC579-1AAD-4C7D-A6AE-2F23CCB821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876300"/>
            <a:ext cx="4286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2100" b="1">
                <a:solidFill>
                  <a:srgbClr val="67E8F9"/>
                </a:solidFill>
              </a:defRPr>
            </a:pPr>
            <a:r>
              <a:rPr sz="2100" b="1">
                <a:solidFill>
                  <a:srgbClr val="67E8F9"/>
                </a:solidFill>
              </a:rPr>
              <a:t>SESSION 02</a:t>
            </a:r>
          </a:p>
        </p:txBody>
      </p:sp>
      <p:sp>
        <p:nvSpPr>
          <p:cNvPr id="2" name="session-2-title">
            <a:extLst xmlns:a="http://schemas.openxmlformats.org/drawingml/2006/main">
              <a:ext uri="{FF2B5EF4-FFF2-40B4-BE49-F238E27FC236}">
                <a16:creationId xmlns:a16="http://schemas.microsoft.com/office/drawing/2014/main" id="{13C6D9AC-29B7-42E3-82BF-558D9FEA76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676400"/>
            <a:ext cx="105727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3750" b="1">
                <a:solidFill>
                  <a:srgbClr val="FFFFFF"/>
                </a:solidFill>
              </a:defRPr>
            </a:pPr>
            <a:r>
              <a:rPr sz="3750" b="1">
                <a:solidFill>
                  <a:srgbClr val="FFFFFF"/>
                </a:solidFill>
              </a:rPr>
              <a:t>2회차: 일상생활과 물건 쇼핑</a:t>
            </a:r>
          </a:p>
        </p:txBody>
      </p:sp>
      <p:sp>
        <p:nvSpPr>
          <p:cNvPr id="3" name="session-2-subtitle">
            <a:extLst xmlns:a="http://schemas.openxmlformats.org/drawingml/2006/main">
              <a:ext uri="{FF2B5EF4-FFF2-40B4-BE49-F238E27FC236}">
                <a16:creationId xmlns:a16="http://schemas.microsoft.com/office/drawing/2014/main" id="{284F7293-25AD-4F63-9C37-836505A824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333750"/>
            <a:ext cx="10096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800">
                <a:solidFill>
                  <a:srgbClr val="CBD5E1"/>
                </a:solidFill>
              </a:defRPr>
            </a:pPr>
            <a:r>
              <a:rPr sz="1800">
                <a:solidFill>
                  <a:srgbClr val="CBD5E1"/>
                </a:solidFill>
              </a:rPr>
              <a:t>가장 실용적인 한국어 표현! 물건 구매, 식사, 그리고 조사 결합 형태를 훈련합니다.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9267611-375F-4A15-9590-8A29E1A988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762500"/>
            <a:ext cx="3429000" cy="704850"/>
          </a:xfrm>
          <a:prstGeom xmlns:a="http://schemas.openxmlformats.org/drawingml/2006/main" prst="roundRect">
            <a:avLst>
              <a:gd name="adj" fmla="val 16216"/>
            </a:avLst>
          </a:prstGeom>
          <a:solidFill xmlns:a="http://schemas.openxmlformats.org/drawingml/2006/main">
            <a:srgbClr val="1E293B"/>
          </a:solidFill>
          <a:ln xmlns:a="http://schemas.openxmlformats.org/drawingml/2006/main" w="9525">
            <a:solidFill>
              <a:srgbClr val="4F46E5"/>
            </a:solidFill>
            <a:prstDash val="solid"/>
          </a:ln>
        </p:spPr>
      </p:sp>
      <p:sp>
        <p:nvSpPr>
          <p:cNvPr id="5" name="session-2-count">
            <a:extLst xmlns:a="http://schemas.openxmlformats.org/drawingml/2006/main">
              <a:ext uri="{FF2B5EF4-FFF2-40B4-BE49-F238E27FC236}">
                <a16:creationId xmlns:a16="http://schemas.microsoft.com/office/drawing/2014/main" id="{E7994DA8-1F74-4208-A3EA-B9DACBB81B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886325"/>
            <a:ext cx="2952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650" b="1">
                <a:solidFill>
                  <a:srgbClr val="C7D2FE"/>
                </a:solidFill>
              </a:defRPr>
            </a:pPr>
            <a:r>
              <a:rPr sz="1650" b="1">
                <a:solidFill>
                  <a:srgbClr val="C7D2FE"/>
                </a:solidFill>
              </a:rPr>
              <a:t>13문항 · 약 2시간</a:t>
            </a:r>
          </a:p>
        </p:txBody>
      </p:sp>
      <p:sp>
        <p:nvSpPr>
          <p:cNvPr id="6" name="footer-brand">
            <a:extLst xmlns:a="http://schemas.openxmlformats.org/drawingml/2006/main">
              <a:ext uri="{FF2B5EF4-FFF2-40B4-BE49-F238E27FC236}">
                <a16:creationId xmlns:a16="http://schemas.microsoft.com/office/drawing/2014/main" id="{FD645590-FA77-49B5-BEF7-344FBAF3BD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96050"/>
            <a:ext cx="3238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050">
                <a:solidFill>
                  <a:srgbClr val="94A3B8"/>
                </a:solidFill>
              </a:defRPr>
            </a:pPr>
            <a:r>
              <a:rPr sz="1050">
                <a:solidFill>
                  <a:srgbClr val="94A3B8"/>
                </a:solidFill>
              </a:rPr>
              <a:t>TOPIK-Edu Smart Academy</a:t>
            </a:r>
          </a:p>
        </p:txBody>
      </p:sp>
      <p:sp>
        <p:nvSpPr>
          <p:cNvPr id="7" name="footer-page">
            <a:extLst xmlns:a="http://schemas.openxmlformats.org/drawingml/2006/main">
              <a:ext uri="{FF2B5EF4-FFF2-40B4-BE49-F238E27FC236}">
                <a16:creationId xmlns:a16="http://schemas.microsoft.com/office/drawing/2014/main" id="{10336C76-B068-4330-AADC-431FA01D9A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6496050"/>
            <a:ext cx="2171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buNone/>
              <a:defRPr sz="1050">
                <a:solidFill>
                  <a:srgbClr val="94A3B8"/>
                </a:solidFill>
              </a:defRPr>
            </a:pPr>
            <a:r>
              <a:rPr sz="1050">
                <a:solidFill>
                  <a:srgbClr val="94A3B8"/>
                </a:solidFill>
              </a:rPr>
              <a:t>2회차 시작</a:t>
            </a:r>
          </a:p>
        </p:txBody>
      </p:sp>
    </p:spTree>
    <p:extLst>
      <p:ext uri="{BB962C8B-B14F-4D97-AF65-F5344CB8AC3E}">
        <p14:creationId xmlns:p14="http://schemas.microsoft.com/office/powerpoint/2010/main" val="1156440509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0F17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D9C9D70-B69C-43B2-B498-982E919867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228600"/>
            <a:ext cx="11468100" cy="6191250"/>
          </a:xfrm>
          <a:prstGeom xmlns:a="http://schemas.openxmlformats.org/drawingml/2006/main" prst="roundRect">
            <a:avLst>
              <a:gd name="adj" fmla="val 1846"/>
            </a:avLst>
          </a:prstGeom>
          <a:solidFill xmlns:a="http://schemas.openxmlformats.org/drawingml/2006/main">
            <a:srgbClr val="1E293B"/>
          </a:solidFill>
          <a:ln xmlns:a="http://schemas.openxmlformats.org/drawingml/2006/main" w="9525">
            <a:solidFill>
              <a:srgbClr val="334155"/>
            </a:solidFill>
            <a:prstDash val="solid"/>
          </a:ln>
        </p:spPr>
      </p:sp>
      <p:sp>
        <p:nvSpPr>
          <p:cNvPr id="2" name="q-q1_r2-number">
            <a:extLst xmlns:a="http://schemas.openxmlformats.org/drawingml/2006/main">
              <a:ext uri="{FF2B5EF4-FFF2-40B4-BE49-F238E27FC236}">
                <a16:creationId xmlns:a16="http://schemas.microsoft.com/office/drawing/2014/main" id="{BB3A0ABC-B92F-4971-A2BF-11CBA1D7D0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00050"/>
            <a:ext cx="1714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C7D2FE"/>
                </a:solidFill>
              </a:defRPr>
            </a:pPr>
            <a:r>
              <a:rPr sz="1350" b="1">
                <a:solidFill>
                  <a:srgbClr val="C7D2FE"/>
                </a:solidFill>
              </a:rPr>
              <a:t>문제 02</a:t>
            </a:r>
          </a:p>
        </p:txBody>
      </p:sp>
      <p:sp>
        <p:nvSpPr>
          <p:cNvPr id="3" name="q-q1_r2-category">
            <a:extLst xmlns:a="http://schemas.openxmlformats.org/drawingml/2006/main">
              <a:ext uri="{FF2B5EF4-FFF2-40B4-BE49-F238E27FC236}">
                <a16:creationId xmlns:a16="http://schemas.microsoft.com/office/drawing/2014/main" id="{AB645A83-7B09-4FEE-BF92-8B72C6E2F9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400050"/>
            <a:ext cx="3524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buNone/>
              <a:defRPr sz="1275" b="1">
                <a:solidFill>
                  <a:srgbClr val="5EEAD4"/>
                </a:solidFill>
              </a:defRPr>
            </a:pPr>
            <a:r>
              <a:rPr sz="1275" b="1">
                <a:solidFill>
                  <a:srgbClr val="5EEAD4"/>
                </a:solidFill>
              </a:rPr>
              <a:t>읽기 (Reading) 기출</a:t>
            </a:r>
          </a:p>
        </p:txBody>
      </p:sp>
      <p:sp>
        <p:nvSpPr>
          <p:cNvPr id="4" name="q-q1_r2-text">
            <a:extLst xmlns:a="http://schemas.openxmlformats.org/drawingml/2006/main">
              <a:ext uri="{FF2B5EF4-FFF2-40B4-BE49-F238E27FC236}">
                <a16:creationId xmlns:a16="http://schemas.microsoft.com/office/drawing/2014/main" id="{55318403-7D75-4BD2-9A4A-7163BCDA4B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38200"/>
            <a:ext cx="109347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buNone/>
              <a:defRPr sz="2625" b="1">
                <a:solidFill>
                  <a:srgbClr val="FFFFFF"/>
                </a:solidFill>
              </a:defRPr>
            </a:pPr>
            <a:r>
              <a:rPr sz="2625" b="1">
                <a:solidFill>
                  <a:srgbClr val="FFFFFF"/>
                </a:solidFill>
              </a:rPr>
              <a:t>다음 빈칸에 들어갈 가장 알맞은 조사를 고르십시오. (TOPIK I 기출)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7EBB5B8-B645-4668-BF4D-546BB00007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19250"/>
            <a:ext cx="10934700" cy="1381125"/>
          </a:xfrm>
          <a:prstGeom xmlns:a="http://schemas.openxmlformats.org/drawingml/2006/main" prst="roundRect">
            <a:avLst>
              <a:gd name="adj" fmla="val 8276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475569"/>
            </a:solidFill>
            <a:prstDash val="solid"/>
          </a:ln>
        </p:spPr>
      </p:sp>
      <p:sp>
        <p:nvSpPr>
          <p:cNvPr id="6" name="q-q1_r2-passage">
            <a:extLst xmlns:a="http://schemas.openxmlformats.org/drawingml/2006/main">
              <a:ext uri="{FF2B5EF4-FFF2-40B4-BE49-F238E27FC236}">
                <a16:creationId xmlns:a16="http://schemas.microsoft.com/office/drawing/2014/main" id="{0CE84012-9CAD-4AD7-A171-47EC22CB2B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733550"/>
            <a:ext cx="10553700" cy="1152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buNone/>
              <a:defRPr sz="1875">
                <a:solidFill>
                  <a:srgbClr val="FFFFFF"/>
                </a:solidFill>
              </a:defRPr>
            </a:pPr>
            <a:r>
              <a:rPr sz="1875">
                <a:solidFill>
                  <a:srgbClr val="FFFFFF"/>
                </a:solidFill>
              </a:rPr>
              <a:t>저는 오늘 시장에 갑니다. 시장에서 사과(         ) 배를 삽니다.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179CC3F-F20E-4BF0-9B7A-4FA8EAFCD2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19450"/>
            <a:ext cx="5400675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475569"/>
            </a:solidFill>
            <a:prstDash val="solid"/>
          </a:ln>
        </p:spPr>
      </p:sp>
      <p:sp>
        <p:nvSpPr>
          <p:cNvPr id="8" name="q-q1_r2-option-1">
            <a:extLst xmlns:a="http://schemas.openxmlformats.org/drawingml/2006/main">
              <a:ext uri="{FF2B5EF4-FFF2-40B4-BE49-F238E27FC236}">
                <a16:creationId xmlns:a16="http://schemas.microsoft.com/office/drawing/2014/main" id="{5C8B5226-9D2B-4BF9-885A-B256FE7ACC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276600"/>
            <a:ext cx="50577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①  가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565BFD4-AC68-41C0-9ABF-AAA6500C6F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3219450"/>
            <a:ext cx="5400675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475569"/>
            </a:solidFill>
            <a:prstDash val="solid"/>
          </a:ln>
        </p:spPr>
      </p:sp>
      <p:sp>
        <p:nvSpPr>
          <p:cNvPr id="10" name="q-q1_r2-option-2">
            <a:extLst xmlns:a="http://schemas.openxmlformats.org/drawingml/2006/main">
              <a:ext uri="{FF2B5EF4-FFF2-40B4-BE49-F238E27FC236}">
                <a16:creationId xmlns:a16="http://schemas.microsoft.com/office/drawing/2014/main" id="{E9FF776D-398D-4903-A457-E839C97F1A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5075" y="3276600"/>
            <a:ext cx="50577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②  와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4C049A0-17C4-4FA6-BB23-C414ADC25B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95750"/>
            <a:ext cx="5400675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475569"/>
            </a:solidFill>
            <a:prstDash val="solid"/>
          </a:ln>
        </p:spPr>
      </p:sp>
      <p:sp>
        <p:nvSpPr>
          <p:cNvPr id="12" name="q-q1_r2-option-3">
            <a:extLst xmlns:a="http://schemas.openxmlformats.org/drawingml/2006/main">
              <a:ext uri="{FF2B5EF4-FFF2-40B4-BE49-F238E27FC236}">
                <a16:creationId xmlns:a16="http://schemas.microsoft.com/office/drawing/2014/main" id="{7EDA89B1-ACDE-41DF-B0E3-5418B6A1BB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152900"/>
            <a:ext cx="50577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③  를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6ED8BB2-2E7E-4D6D-B058-EE3D177804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4095750"/>
            <a:ext cx="5400675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475569"/>
            </a:solidFill>
            <a:prstDash val="solid"/>
          </a:ln>
        </p:spPr>
      </p:sp>
      <p:sp>
        <p:nvSpPr>
          <p:cNvPr id="14" name="q-q1_r2-option-4">
            <a:extLst xmlns:a="http://schemas.openxmlformats.org/drawingml/2006/main">
              <a:ext uri="{FF2B5EF4-FFF2-40B4-BE49-F238E27FC236}">
                <a16:creationId xmlns:a16="http://schemas.microsoft.com/office/drawing/2014/main" id="{697E7079-0C9C-4192-BBC3-C15048D50C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5075" y="4152900"/>
            <a:ext cx="50577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④  로</a:t>
            </a:r>
          </a:p>
        </p:txBody>
      </p:sp>
      <p:sp>
        <p:nvSpPr>
          <p:cNvPr id="15" name="footer-brand">
            <a:extLst xmlns:a="http://schemas.openxmlformats.org/drawingml/2006/main">
              <a:ext uri="{FF2B5EF4-FFF2-40B4-BE49-F238E27FC236}">
                <a16:creationId xmlns:a16="http://schemas.microsoft.com/office/drawing/2014/main" id="{94C49589-E594-4B3B-A07F-B8B677C5F4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96050"/>
            <a:ext cx="3238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050">
                <a:solidFill>
                  <a:srgbClr val="94A3B8"/>
                </a:solidFill>
              </a:defRPr>
            </a:pPr>
            <a:r>
              <a:rPr sz="1050">
                <a:solidFill>
                  <a:srgbClr val="94A3B8"/>
                </a:solidFill>
              </a:rPr>
              <a:t>TOPIK-Edu Smart Academy</a:t>
            </a:r>
          </a:p>
        </p:txBody>
      </p:sp>
      <p:sp>
        <p:nvSpPr>
          <p:cNvPr id="16" name="footer-page">
            <a:extLst xmlns:a="http://schemas.openxmlformats.org/drawingml/2006/main">
              <a:ext uri="{FF2B5EF4-FFF2-40B4-BE49-F238E27FC236}">
                <a16:creationId xmlns:a16="http://schemas.microsoft.com/office/drawing/2014/main" id="{62B9622B-C90E-4AD3-8FA6-E9902C8F2C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6496050"/>
            <a:ext cx="2171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buNone/>
              <a:defRPr sz="1050">
                <a:solidFill>
                  <a:srgbClr val="94A3B8"/>
                </a:solidFill>
              </a:defRPr>
            </a:pPr>
            <a:r>
              <a:rPr sz="1050">
                <a:solidFill>
                  <a:srgbClr val="94A3B8"/>
                </a:solidFill>
              </a:rPr>
              <a:t>1회차 · 2/14</a:t>
            </a:r>
          </a:p>
        </p:txBody>
      </p:sp>
    </p:spTree>
    <p:extLst>
      <p:ext uri="{BB962C8B-B14F-4D97-AF65-F5344CB8AC3E}">
        <p14:creationId xmlns:p14="http://schemas.microsoft.com/office/powerpoint/2010/main" val="439361950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0F17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D9C9D70-B69C-43B2-B498-982E919867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228600"/>
            <a:ext cx="11468100" cy="6191250"/>
          </a:xfrm>
          <a:prstGeom xmlns:a="http://schemas.openxmlformats.org/drawingml/2006/main" prst="roundRect">
            <a:avLst>
              <a:gd name="adj" fmla="val 1846"/>
            </a:avLst>
          </a:prstGeom>
          <a:solidFill xmlns:a="http://schemas.openxmlformats.org/drawingml/2006/main">
            <a:srgbClr val="1E293B"/>
          </a:solidFill>
          <a:ln xmlns:a="http://schemas.openxmlformats.org/drawingml/2006/main" w="9525">
            <a:solidFill>
              <a:srgbClr val="334155"/>
            </a:solidFill>
            <a:prstDash val="solid"/>
          </a:ln>
        </p:spPr>
      </p:sp>
      <p:sp>
        <p:nvSpPr>
          <p:cNvPr id="2" name="q-q1_r2-number">
            <a:extLst xmlns:a="http://schemas.openxmlformats.org/drawingml/2006/main">
              <a:ext uri="{FF2B5EF4-FFF2-40B4-BE49-F238E27FC236}">
                <a16:creationId xmlns:a16="http://schemas.microsoft.com/office/drawing/2014/main" id="{BB3A0ABC-B92F-4971-A2BF-11CBA1D7D0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00050"/>
            <a:ext cx="1714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C7D2FE"/>
                </a:solidFill>
              </a:defRPr>
            </a:pPr>
            <a:r>
              <a:rPr sz="1350" b="1">
                <a:solidFill>
                  <a:srgbClr val="C7D2FE"/>
                </a:solidFill>
              </a:rPr>
              <a:t>문제 02</a:t>
            </a:r>
          </a:p>
        </p:txBody>
      </p:sp>
      <p:sp>
        <p:nvSpPr>
          <p:cNvPr id="3" name="q-q1_r2-category">
            <a:extLst xmlns:a="http://schemas.openxmlformats.org/drawingml/2006/main">
              <a:ext uri="{FF2B5EF4-FFF2-40B4-BE49-F238E27FC236}">
                <a16:creationId xmlns:a16="http://schemas.microsoft.com/office/drawing/2014/main" id="{AB645A83-7B09-4FEE-BF92-8B72C6E2F9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400050"/>
            <a:ext cx="3524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buNone/>
              <a:defRPr sz="1275" b="1">
                <a:solidFill>
                  <a:srgbClr val="5EEAD4"/>
                </a:solidFill>
              </a:defRPr>
            </a:pPr>
            <a:r>
              <a:rPr sz="1275" b="1">
                <a:solidFill>
                  <a:srgbClr val="5EEAD4"/>
                </a:solidFill>
              </a:rPr>
              <a:t>읽기 (Reading) 기출</a:t>
            </a:r>
          </a:p>
        </p:txBody>
      </p:sp>
      <p:sp>
        <p:nvSpPr>
          <p:cNvPr id="4" name="q-q1_r2-text">
            <a:extLst xmlns:a="http://schemas.openxmlformats.org/drawingml/2006/main">
              <a:ext uri="{FF2B5EF4-FFF2-40B4-BE49-F238E27FC236}">
                <a16:creationId xmlns:a16="http://schemas.microsoft.com/office/drawing/2014/main" id="{55318403-7D75-4BD2-9A4A-7163BCDA4B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38200"/>
            <a:ext cx="109347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buNone/>
              <a:defRPr sz="2625" b="1">
                <a:solidFill>
                  <a:srgbClr val="FFFFFF"/>
                </a:solidFill>
              </a:defRPr>
            </a:pPr>
            <a:r>
              <a:rPr sz="2625" b="1">
                <a:solidFill>
                  <a:srgbClr val="FFFFFF"/>
                </a:solidFill>
              </a:rPr>
              <a:t>다음 빈칸에 들어갈 가장 알맞은 조사를 고르십시오. (TOPIK I 기출)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7EBB5B8-B645-4668-BF4D-546BB00007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19250"/>
            <a:ext cx="10934700" cy="1381125"/>
          </a:xfrm>
          <a:prstGeom xmlns:a="http://schemas.openxmlformats.org/drawingml/2006/main" prst="roundRect">
            <a:avLst>
              <a:gd name="adj" fmla="val 8276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475569"/>
            </a:solidFill>
            <a:prstDash val="solid"/>
          </a:ln>
        </p:spPr>
      </p:sp>
      <p:sp>
        <p:nvSpPr>
          <p:cNvPr id="6" name="q-q1_r2-passage">
            <a:extLst xmlns:a="http://schemas.openxmlformats.org/drawingml/2006/main">
              <a:ext uri="{FF2B5EF4-FFF2-40B4-BE49-F238E27FC236}">
                <a16:creationId xmlns:a16="http://schemas.microsoft.com/office/drawing/2014/main" id="{0CE84012-9CAD-4AD7-A171-47EC22CB2B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733550"/>
            <a:ext cx="10553700" cy="1152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buNone/>
              <a:defRPr sz="1875">
                <a:solidFill>
                  <a:srgbClr val="FFFFFF"/>
                </a:solidFill>
              </a:defRPr>
            </a:pPr>
            <a:r>
              <a:rPr sz="1875">
                <a:solidFill>
                  <a:srgbClr val="FFFFFF"/>
                </a:solidFill>
              </a:rPr>
              <a:t>저는 오늘 시장에 갑니다. 시장에서 사과(         ) 배를 삽니다.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179CC3F-F20E-4BF0-9B7A-4FA8EAFCD2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19450"/>
            <a:ext cx="5400675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475569"/>
            </a:solidFill>
            <a:prstDash val="solid"/>
          </a:ln>
        </p:spPr>
      </p:sp>
      <p:sp>
        <p:nvSpPr>
          <p:cNvPr id="8" name="q-q1_r2-option-1">
            <a:extLst xmlns:a="http://schemas.openxmlformats.org/drawingml/2006/main">
              <a:ext uri="{FF2B5EF4-FFF2-40B4-BE49-F238E27FC236}">
                <a16:creationId xmlns:a16="http://schemas.microsoft.com/office/drawing/2014/main" id="{5C8B5226-9D2B-4BF9-885A-B256FE7ACC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276600"/>
            <a:ext cx="50577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①  가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565BFD4-AC68-41C0-9ABF-AAA6500C6F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3219450"/>
            <a:ext cx="5400675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475569"/>
            </a:solidFill>
            <a:prstDash val="solid"/>
          </a:ln>
        </p:spPr>
      </p:sp>
      <p:sp>
        <p:nvSpPr>
          <p:cNvPr id="10" name="q-q1_r2-option-2">
            <a:extLst xmlns:a="http://schemas.openxmlformats.org/drawingml/2006/main">
              <a:ext uri="{FF2B5EF4-FFF2-40B4-BE49-F238E27FC236}">
                <a16:creationId xmlns:a16="http://schemas.microsoft.com/office/drawing/2014/main" id="{E9FF776D-398D-4903-A457-E839C97F1A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5075" y="3276600"/>
            <a:ext cx="50577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②  와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4C049A0-17C4-4FA6-BB23-C414ADC25B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95750"/>
            <a:ext cx="5400675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475569"/>
            </a:solidFill>
            <a:prstDash val="solid"/>
          </a:ln>
        </p:spPr>
      </p:sp>
      <p:sp>
        <p:nvSpPr>
          <p:cNvPr id="12" name="q-q1_r2-option-3">
            <a:extLst xmlns:a="http://schemas.openxmlformats.org/drawingml/2006/main">
              <a:ext uri="{FF2B5EF4-FFF2-40B4-BE49-F238E27FC236}">
                <a16:creationId xmlns:a16="http://schemas.microsoft.com/office/drawing/2014/main" id="{7EDA89B1-ACDE-41DF-B0E3-5418B6A1BB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152900"/>
            <a:ext cx="50577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③  를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6ED8BB2-2E7E-4D6D-B058-EE3D177804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4095750"/>
            <a:ext cx="5400675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475569"/>
            </a:solidFill>
            <a:prstDash val="solid"/>
          </a:ln>
        </p:spPr>
      </p:sp>
      <p:sp>
        <p:nvSpPr>
          <p:cNvPr id="14" name="q-q1_r2-option-4">
            <a:extLst xmlns:a="http://schemas.openxmlformats.org/drawingml/2006/main">
              <a:ext uri="{FF2B5EF4-FFF2-40B4-BE49-F238E27FC236}">
                <a16:creationId xmlns:a16="http://schemas.microsoft.com/office/drawing/2014/main" id="{697E7079-0C9C-4192-BBC3-C15048D50C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5075" y="4152900"/>
            <a:ext cx="50577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④  로</a:t>
            </a:r>
          </a:p>
        </p:txBody>
      </p:sp>
      <p:sp>
        <p:nvSpPr>
          <p:cNvPr id="15" name="footer-brand">
            <a:extLst xmlns:a="http://schemas.openxmlformats.org/drawingml/2006/main">
              <a:ext uri="{FF2B5EF4-FFF2-40B4-BE49-F238E27FC236}">
                <a16:creationId xmlns:a16="http://schemas.microsoft.com/office/drawing/2014/main" id="{94C49589-E594-4B3B-A07F-B8B677C5F4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96050"/>
            <a:ext cx="3238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050">
                <a:solidFill>
                  <a:srgbClr val="94A3B8"/>
                </a:solidFill>
              </a:defRPr>
            </a:pPr>
            <a:r>
              <a:rPr sz="1050">
                <a:solidFill>
                  <a:srgbClr val="94A3B8"/>
                </a:solidFill>
              </a:rPr>
              <a:t>TOPIK-Edu Smart Academy</a:t>
            </a:r>
          </a:p>
        </p:txBody>
      </p:sp>
      <p:sp>
        <p:nvSpPr>
          <p:cNvPr id="16" name="footer-page">
            <a:extLst xmlns:a="http://schemas.openxmlformats.org/drawingml/2006/main">
              <a:ext uri="{FF2B5EF4-FFF2-40B4-BE49-F238E27FC236}">
                <a16:creationId xmlns:a16="http://schemas.microsoft.com/office/drawing/2014/main" id="{62B9622B-C90E-4AD3-8FA6-E9902C8F2C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6496050"/>
            <a:ext cx="2171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buNone/>
              <a:defRPr sz="1050">
                <a:solidFill>
                  <a:srgbClr val="94A3B8"/>
                </a:solidFill>
              </a:defRPr>
            </a:pPr>
            <a:r>
              <a:rPr sz="1050">
                <a:solidFill>
                  <a:srgbClr val="94A3B8"/>
                </a:solidFill>
              </a:rPr>
              <a:t>1회차 · 2/14</a:t>
            </a:r>
          </a:p>
        </p:txBody>
      </p:sp>
    </p:spTree>
    <p:extLst>
      <p:ext uri="{BB962C8B-B14F-4D97-AF65-F5344CB8AC3E}">
        <p14:creationId xmlns:p14="http://schemas.microsoft.com/office/powerpoint/2010/main" val="439361950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0F17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9795683-A9AB-4656-891B-AC02F99873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228600"/>
            <a:ext cx="11468100" cy="6191250"/>
          </a:xfrm>
          <a:prstGeom xmlns:a="http://schemas.openxmlformats.org/drawingml/2006/main" prst="roundRect">
            <a:avLst>
              <a:gd name="adj" fmla="val 1846"/>
            </a:avLst>
          </a:prstGeom>
          <a:solidFill xmlns:a="http://schemas.openxmlformats.org/drawingml/2006/main">
            <a:srgbClr val="1E293B"/>
          </a:solidFill>
          <a:ln xmlns:a="http://schemas.openxmlformats.org/drawingml/2006/main" w="9525">
            <a:solidFill>
              <a:srgbClr val="334155"/>
            </a:solidFill>
            <a:prstDash val="solid"/>
          </a:ln>
        </p:spPr>
      </p:sp>
      <p:sp>
        <p:nvSpPr>
          <p:cNvPr id="2" name="q-q2_r1-number">
            <a:extLst xmlns:a="http://schemas.openxmlformats.org/drawingml/2006/main">
              <a:ext uri="{FF2B5EF4-FFF2-40B4-BE49-F238E27FC236}">
                <a16:creationId xmlns:a16="http://schemas.microsoft.com/office/drawing/2014/main" id="{D94D18C6-34E9-46AC-A4D8-F7C0406552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00050"/>
            <a:ext cx="1714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C7D2FE"/>
                </a:solidFill>
              </a:defRPr>
            </a:pPr>
            <a:r>
              <a:rPr sz="1350" b="1">
                <a:solidFill>
                  <a:srgbClr val="C7D2FE"/>
                </a:solidFill>
              </a:rPr>
              <a:t>문제 01</a:t>
            </a:r>
          </a:p>
        </p:txBody>
      </p:sp>
      <p:sp>
        <p:nvSpPr>
          <p:cNvPr id="3" name="q-q2_r1-category">
            <a:extLst xmlns:a="http://schemas.openxmlformats.org/drawingml/2006/main">
              <a:ext uri="{FF2B5EF4-FFF2-40B4-BE49-F238E27FC236}">
                <a16:creationId xmlns:a16="http://schemas.microsoft.com/office/drawing/2014/main" id="{C95F5AD3-9E3D-4821-9D8F-650E7A6A8A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400050"/>
            <a:ext cx="3524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buNone/>
              <a:defRPr sz="1275" b="1">
                <a:solidFill>
                  <a:srgbClr val="5EEAD4"/>
                </a:solidFill>
              </a:defRPr>
            </a:pPr>
            <a:r>
              <a:rPr sz="1275" b="1">
                <a:solidFill>
                  <a:srgbClr val="5EEAD4"/>
                </a:solidFill>
              </a:rPr>
              <a:t>읽기 (Reading) 기출</a:t>
            </a:r>
          </a:p>
        </p:txBody>
      </p:sp>
      <p:sp>
        <p:nvSpPr>
          <p:cNvPr id="4" name="q-q2_r1-text">
            <a:extLst xmlns:a="http://schemas.openxmlformats.org/drawingml/2006/main">
              <a:ext uri="{FF2B5EF4-FFF2-40B4-BE49-F238E27FC236}">
                <a16:creationId xmlns:a16="http://schemas.microsoft.com/office/drawing/2014/main" id="{217E3071-3BC3-4F8E-BD21-FB6B9B01CF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38200"/>
            <a:ext cx="109347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buNone/>
              <a:defRPr sz="2625" b="1">
                <a:solidFill>
                  <a:srgbClr val="FFFFFF"/>
                </a:solidFill>
              </a:defRPr>
            </a:pPr>
            <a:r>
              <a:rPr sz="2625" b="1">
                <a:solidFill>
                  <a:srgbClr val="FFFFFF"/>
                </a:solidFill>
              </a:rPr>
              <a:t>다음 안내문의 내용과 같은 것을 고르십시오. (TOPIK I 기출)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CB19DF2-A186-4BB2-B7CC-06F75859D0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19250"/>
            <a:ext cx="10934700" cy="1381125"/>
          </a:xfrm>
          <a:prstGeom xmlns:a="http://schemas.openxmlformats.org/drawingml/2006/main" prst="roundRect">
            <a:avLst>
              <a:gd name="adj" fmla="val 8276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475569"/>
            </a:solidFill>
            <a:prstDash val="solid"/>
          </a:ln>
        </p:spPr>
      </p:sp>
      <p:sp>
        <p:nvSpPr>
          <p:cNvPr id="6" name="q-q2_r1-passage">
            <a:extLst xmlns:a="http://schemas.openxmlformats.org/drawingml/2006/main">
              <a:ext uri="{FF2B5EF4-FFF2-40B4-BE49-F238E27FC236}">
                <a16:creationId xmlns:a16="http://schemas.microsoft.com/office/drawing/2014/main" id="{969FD5DF-21D6-4BAC-875A-3DC29095E9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733550"/>
            <a:ext cx="10553700" cy="1152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buNone/>
              <a:defRPr sz="1875">
                <a:solidFill>
                  <a:srgbClr val="FFFFFF"/>
                </a:solidFill>
              </a:defRPr>
            </a:pPr>
            <a:r>
              <a:rPr sz="1875">
                <a:solidFill>
                  <a:srgbClr val="FFFFFF"/>
                </a:solidFill>
              </a:rPr>
              <a:t>[미술관 안내]</a:t>
            </a:r>
          </a:p>
          <a:p xmlns:a="http://schemas.openxmlformats.org/drawingml/2006/main">
            <a:pPr>
              <a:buNone/>
              <a:defRPr sz="1875">
                <a:solidFill>
                  <a:srgbClr val="FFFFFF"/>
                </a:solidFill>
              </a:defRPr>
            </a:pPr>
            <a:r>
              <a:rPr sz="1875">
                <a:solidFill>
                  <a:srgbClr val="FFFFFF"/>
                </a:solidFill>
              </a:rPr>
              <a:t>- 이용 시간: 오전 10시 ~ 오후 6시</a:t>
            </a:r>
          </a:p>
          <a:p xmlns:a="http://schemas.openxmlformats.org/drawingml/2006/main">
            <a:pPr>
              <a:buNone/>
              <a:defRPr sz="1875">
                <a:solidFill>
                  <a:srgbClr val="FFFFFF"/>
                </a:solidFill>
              </a:defRPr>
            </a:pPr>
            <a:r>
              <a:rPr sz="1875">
                <a:solidFill>
                  <a:srgbClr val="FFFFFF"/>
                </a:solidFill>
              </a:rPr>
              <a:t>- 입장 요금: 5,000원</a:t>
            </a:r>
          </a:p>
          <a:p xmlns:a="http://schemas.openxmlformats.org/drawingml/2006/main">
            <a:pPr>
              <a:buNone/>
              <a:defRPr sz="1875">
                <a:solidFill>
                  <a:srgbClr val="FFFFFF"/>
                </a:solidFill>
              </a:defRPr>
            </a:pPr>
            <a:r>
              <a:rPr sz="1875">
                <a:solidFill>
                  <a:srgbClr val="FFFFFF"/>
                </a:solidFill>
              </a:rPr>
              <a:t>- (※ 매주 월요일은 쉽니다.)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8DBA519-8521-4ADF-92C5-FE8235F3FD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19450"/>
            <a:ext cx="5400675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475569"/>
            </a:solidFill>
            <a:prstDash val="solid"/>
          </a:ln>
        </p:spPr>
      </p:sp>
      <p:sp>
        <p:nvSpPr>
          <p:cNvPr id="8" name="q-q2_r1-option-1">
            <a:extLst xmlns:a="http://schemas.openxmlformats.org/drawingml/2006/main">
              <a:ext uri="{FF2B5EF4-FFF2-40B4-BE49-F238E27FC236}">
                <a16:creationId xmlns:a16="http://schemas.microsoft.com/office/drawing/2014/main" id="{D00B8DA4-8971-4884-BAFF-8253DB694B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276600"/>
            <a:ext cx="50577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①  미술관은 월요일에 문을 엽니다.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01E4824-AE3A-4EE4-B68F-DF8349F445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3219450"/>
            <a:ext cx="5400675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475569"/>
            </a:solidFill>
            <a:prstDash val="solid"/>
          </a:ln>
        </p:spPr>
      </p:sp>
      <p:sp>
        <p:nvSpPr>
          <p:cNvPr id="10" name="q-q2_r1-option-2">
            <a:extLst xmlns:a="http://schemas.openxmlformats.org/drawingml/2006/main">
              <a:ext uri="{FF2B5EF4-FFF2-40B4-BE49-F238E27FC236}">
                <a16:creationId xmlns:a16="http://schemas.microsoft.com/office/drawing/2014/main" id="{66E339DB-B8B8-4F43-83FB-6D5DDD645D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5075" y="3276600"/>
            <a:ext cx="50577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②  미술관은 저녁 8시에 문을 닫습니다.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215871A-A9F1-4F7F-A1B2-1ED82E334F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95750"/>
            <a:ext cx="5400675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475569"/>
            </a:solidFill>
            <a:prstDash val="solid"/>
          </a:ln>
        </p:spPr>
      </p:sp>
      <p:sp>
        <p:nvSpPr>
          <p:cNvPr id="12" name="q-q2_r1-option-3">
            <a:extLst xmlns:a="http://schemas.openxmlformats.org/drawingml/2006/main">
              <a:ext uri="{FF2B5EF4-FFF2-40B4-BE49-F238E27FC236}">
                <a16:creationId xmlns:a16="http://schemas.microsoft.com/office/drawing/2014/main" id="{85B00A8F-9BFE-4937-A080-0A658C8944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152900"/>
            <a:ext cx="50577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③  미술관 입장 요금은 오천 원입니다.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8F7FC71-FD4A-4186-8CF3-A14613EF85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4095750"/>
            <a:ext cx="5400675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475569"/>
            </a:solidFill>
            <a:prstDash val="solid"/>
          </a:ln>
        </p:spPr>
      </p:sp>
      <p:sp>
        <p:nvSpPr>
          <p:cNvPr id="14" name="q-q2_r1-option-4">
            <a:extLst xmlns:a="http://schemas.openxmlformats.org/drawingml/2006/main">
              <a:ext uri="{FF2B5EF4-FFF2-40B4-BE49-F238E27FC236}">
                <a16:creationId xmlns:a16="http://schemas.microsoft.com/office/drawing/2014/main" id="{C6847DAA-9BE8-4A8F-B4D5-810929EE12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5075" y="4152900"/>
            <a:ext cx="50577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④  오전 9시부터 입장하여 볼 수 있습니다.</a:t>
            </a:r>
          </a:p>
        </p:txBody>
      </p:sp>
      <p:sp>
        <p:nvSpPr>
          <p:cNvPr id="15" name="footer-brand">
            <a:extLst xmlns:a="http://schemas.openxmlformats.org/drawingml/2006/main">
              <a:ext uri="{FF2B5EF4-FFF2-40B4-BE49-F238E27FC236}">
                <a16:creationId xmlns:a16="http://schemas.microsoft.com/office/drawing/2014/main" id="{E201970E-7F93-4F3F-A91D-10767DDD79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96050"/>
            <a:ext cx="3238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050">
                <a:solidFill>
                  <a:srgbClr val="94A3B8"/>
                </a:solidFill>
              </a:defRPr>
            </a:pPr>
            <a:r>
              <a:rPr sz="1050">
                <a:solidFill>
                  <a:srgbClr val="94A3B8"/>
                </a:solidFill>
              </a:rPr>
              <a:t>TOPIK-Edu Smart Academy</a:t>
            </a:r>
          </a:p>
        </p:txBody>
      </p:sp>
      <p:sp>
        <p:nvSpPr>
          <p:cNvPr id="16" name="footer-page">
            <a:extLst xmlns:a="http://schemas.openxmlformats.org/drawingml/2006/main">
              <a:ext uri="{FF2B5EF4-FFF2-40B4-BE49-F238E27FC236}">
                <a16:creationId xmlns:a16="http://schemas.microsoft.com/office/drawing/2014/main" id="{09EC858E-7F88-41D6-9ECD-1D9EFBF18A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6496050"/>
            <a:ext cx="2171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buNone/>
              <a:defRPr sz="1050">
                <a:solidFill>
                  <a:srgbClr val="94A3B8"/>
                </a:solidFill>
              </a:defRPr>
            </a:pPr>
            <a:r>
              <a:rPr sz="1050">
                <a:solidFill>
                  <a:srgbClr val="94A3B8"/>
                </a:solidFill>
              </a:rPr>
              <a:t>2회차 · 1/13</a:t>
            </a:r>
          </a:p>
        </p:txBody>
      </p:sp>
    </p:spTree>
    <p:extLst>
      <p:ext uri="{BB962C8B-B14F-4D97-AF65-F5344CB8AC3E}">
        <p14:creationId xmlns:p14="http://schemas.microsoft.com/office/powerpoint/2010/main" val="1770081821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0F17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AAD5175-A898-4155-BC03-85F2D4F6E9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228600"/>
            <a:ext cx="11468100" cy="6191250"/>
          </a:xfrm>
          <a:prstGeom xmlns:a="http://schemas.openxmlformats.org/drawingml/2006/main" prst="roundRect">
            <a:avLst>
              <a:gd name="adj" fmla="val 1846"/>
            </a:avLst>
          </a:prstGeom>
          <a:solidFill xmlns:a="http://schemas.openxmlformats.org/drawingml/2006/main">
            <a:srgbClr val="1E293B"/>
          </a:solidFill>
          <a:ln xmlns:a="http://schemas.openxmlformats.org/drawingml/2006/main" w="9525">
            <a:solidFill>
              <a:srgbClr val="334155"/>
            </a:solidFill>
            <a:prstDash val="solid"/>
          </a:ln>
        </p:spPr>
      </p:sp>
      <p:sp>
        <p:nvSpPr>
          <p:cNvPr id="2" name="q-q2_r2-number">
            <a:extLst xmlns:a="http://schemas.openxmlformats.org/drawingml/2006/main">
              <a:ext uri="{FF2B5EF4-FFF2-40B4-BE49-F238E27FC236}">
                <a16:creationId xmlns:a16="http://schemas.microsoft.com/office/drawing/2014/main" id="{A69F0DE7-04EB-40B7-B74B-5C7D0B831C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00050"/>
            <a:ext cx="1714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C7D2FE"/>
                </a:solidFill>
              </a:defRPr>
            </a:pPr>
            <a:r>
              <a:rPr sz="1350" b="1">
                <a:solidFill>
                  <a:srgbClr val="C7D2FE"/>
                </a:solidFill>
              </a:rPr>
              <a:t>문제 02</a:t>
            </a:r>
          </a:p>
        </p:txBody>
      </p:sp>
      <p:sp>
        <p:nvSpPr>
          <p:cNvPr id="3" name="q-q2_r2-category">
            <a:extLst xmlns:a="http://schemas.openxmlformats.org/drawingml/2006/main">
              <a:ext uri="{FF2B5EF4-FFF2-40B4-BE49-F238E27FC236}">
                <a16:creationId xmlns:a16="http://schemas.microsoft.com/office/drawing/2014/main" id="{0F3A8936-5F95-489F-840C-48F6151A2A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400050"/>
            <a:ext cx="3524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buNone/>
              <a:defRPr sz="1275" b="1">
                <a:solidFill>
                  <a:srgbClr val="5EEAD4"/>
                </a:solidFill>
              </a:defRPr>
            </a:pPr>
            <a:r>
              <a:rPr sz="1275" b="1">
                <a:solidFill>
                  <a:srgbClr val="5EEAD4"/>
                </a:solidFill>
              </a:rPr>
              <a:t>읽기 (Reading) 기출</a:t>
            </a:r>
          </a:p>
        </p:txBody>
      </p:sp>
      <p:sp>
        <p:nvSpPr>
          <p:cNvPr id="4" name="q-q2_r2-text">
            <a:extLst xmlns:a="http://schemas.openxmlformats.org/drawingml/2006/main">
              <a:ext uri="{FF2B5EF4-FFF2-40B4-BE49-F238E27FC236}">
                <a16:creationId xmlns:a16="http://schemas.microsoft.com/office/drawing/2014/main" id="{493A24DD-F8E5-4BED-B002-36D16922A2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38200"/>
            <a:ext cx="109347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buNone/>
              <a:defRPr sz="2625" b="1">
                <a:solidFill>
                  <a:srgbClr val="FFFFFF"/>
                </a:solidFill>
              </a:defRPr>
            </a:pPr>
            <a:r>
              <a:rPr sz="2625" b="1">
                <a:solidFill>
                  <a:srgbClr val="FFFFFF"/>
                </a:solidFill>
              </a:rPr>
              <a:t>다음 빈칸에 들어갈 가장 알맞은 단어를 고르십시오. (TOPIK I 기출 유형)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9A4BBAD-A274-4F38-8B43-A5752435B9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19250"/>
            <a:ext cx="10934700" cy="1381125"/>
          </a:xfrm>
          <a:prstGeom xmlns:a="http://schemas.openxmlformats.org/drawingml/2006/main" prst="roundRect">
            <a:avLst>
              <a:gd name="adj" fmla="val 8276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475569"/>
            </a:solidFill>
            <a:prstDash val="solid"/>
          </a:ln>
        </p:spPr>
      </p:sp>
      <p:sp>
        <p:nvSpPr>
          <p:cNvPr id="6" name="q-q2_r2-passage">
            <a:extLst xmlns:a="http://schemas.openxmlformats.org/drawingml/2006/main">
              <a:ext uri="{FF2B5EF4-FFF2-40B4-BE49-F238E27FC236}">
                <a16:creationId xmlns:a16="http://schemas.microsoft.com/office/drawing/2014/main" id="{57B19A5A-7CF9-425C-99C1-B571EFA370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733550"/>
            <a:ext cx="10553700" cy="1152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buNone/>
              <a:defRPr sz="1875">
                <a:solidFill>
                  <a:srgbClr val="FFFFFF"/>
                </a:solidFill>
              </a:defRPr>
            </a:pPr>
            <a:r>
              <a:rPr sz="1875">
                <a:solidFill>
                  <a:srgbClr val="FFFFFF"/>
                </a:solidFill>
              </a:rPr>
              <a:t>저는 지난 주말에 친구를 (         ). 그리고 같이 재미있는 영화를 봤습니다.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C272A38-FBD3-4D44-AC51-97FFA9D489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19450"/>
            <a:ext cx="5400675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475569"/>
            </a:solidFill>
            <a:prstDash val="solid"/>
          </a:ln>
        </p:spPr>
      </p:sp>
      <p:sp>
        <p:nvSpPr>
          <p:cNvPr id="8" name="q-q2_r2-option-1">
            <a:extLst xmlns:a="http://schemas.openxmlformats.org/drawingml/2006/main">
              <a:ext uri="{FF2B5EF4-FFF2-40B4-BE49-F238E27FC236}">
                <a16:creationId xmlns:a16="http://schemas.microsoft.com/office/drawing/2014/main" id="{43D3F757-4B79-4742-BE61-9597C4AA44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276600"/>
            <a:ext cx="50577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①  만났습니다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3C25F4C-1AED-4A30-B7CA-AA189E6141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3219450"/>
            <a:ext cx="5400675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475569"/>
            </a:solidFill>
            <a:prstDash val="solid"/>
          </a:ln>
        </p:spPr>
      </p:sp>
      <p:sp>
        <p:nvSpPr>
          <p:cNvPr id="10" name="q-q2_r2-option-2">
            <a:extLst xmlns:a="http://schemas.openxmlformats.org/drawingml/2006/main">
              <a:ext uri="{FF2B5EF4-FFF2-40B4-BE49-F238E27FC236}">
                <a16:creationId xmlns:a16="http://schemas.microsoft.com/office/drawing/2014/main" id="{848E7070-9714-4A41-B3DE-F0481ECDC0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5075" y="3276600"/>
            <a:ext cx="50577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②  만납니다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B6479C9-6AB7-4F2C-992E-EB2F54E0AA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95750"/>
            <a:ext cx="5400675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475569"/>
            </a:solidFill>
            <a:prstDash val="solid"/>
          </a:ln>
        </p:spPr>
      </p:sp>
      <p:sp>
        <p:nvSpPr>
          <p:cNvPr id="12" name="q-q2_r2-option-3">
            <a:extLst xmlns:a="http://schemas.openxmlformats.org/drawingml/2006/main">
              <a:ext uri="{FF2B5EF4-FFF2-40B4-BE49-F238E27FC236}">
                <a16:creationId xmlns:a16="http://schemas.microsoft.com/office/drawing/2014/main" id="{7C7C9A0D-21A4-4E35-A7AE-851D9209B6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152900"/>
            <a:ext cx="50577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③  만날 것입니다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DAA64B1-ED9C-4AEE-BD45-3404B42F00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4095750"/>
            <a:ext cx="5400675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475569"/>
            </a:solidFill>
            <a:prstDash val="solid"/>
          </a:ln>
        </p:spPr>
      </p:sp>
      <p:sp>
        <p:nvSpPr>
          <p:cNvPr id="14" name="q-q2_r2-option-4">
            <a:extLst xmlns:a="http://schemas.openxmlformats.org/drawingml/2006/main">
              <a:ext uri="{FF2B5EF4-FFF2-40B4-BE49-F238E27FC236}">
                <a16:creationId xmlns:a16="http://schemas.microsoft.com/office/drawing/2014/main" id="{EE769ADF-9C80-44AD-9A2B-A51E983301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5075" y="4152900"/>
            <a:ext cx="50577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④  만나서</a:t>
            </a:r>
          </a:p>
        </p:txBody>
      </p:sp>
      <p:sp>
        <p:nvSpPr>
          <p:cNvPr id="15" name="footer-brand">
            <a:extLst xmlns:a="http://schemas.openxmlformats.org/drawingml/2006/main">
              <a:ext uri="{FF2B5EF4-FFF2-40B4-BE49-F238E27FC236}">
                <a16:creationId xmlns:a16="http://schemas.microsoft.com/office/drawing/2014/main" id="{F82C209A-5D94-4B13-B564-E53DED7CC0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96050"/>
            <a:ext cx="3238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050">
                <a:solidFill>
                  <a:srgbClr val="94A3B8"/>
                </a:solidFill>
              </a:defRPr>
            </a:pPr>
            <a:r>
              <a:rPr sz="1050">
                <a:solidFill>
                  <a:srgbClr val="94A3B8"/>
                </a:solidFill>
              </a:rPr>
              <a:t>TOPIK-Edu Smart Academy</a:t>
            </a:r>
          </a:p>
        </p:txBody>
      </p:sp>
      <p:sp>
        <p:nvSpPr>
          <p:cNvPr id="16" name="footer-page">
            <a:extLst xmlns:a="http://schemas.openxmlformats.org/drawingml/2006/main">
              <a:ext uri="{FF2B5EF4-FFF2-40B4-BE49-F238E27FC236}">
                <a16:creationId xmlns:a16="http://schemas.microsoft.com/office/drawing/2014/main" id="{408E89D0-E15B-4398-895E-EAC23F8108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6496050"/>
            <a:ext cx="2171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buNone/>
              <a:defRPr sz="1050">
                <a:solidFill>
                  <a:srgbClr val="94A3B8"/>
                </a:solidFill>
              </a:defRPr>
            </a:pPr>
            <a:r>
              <a:rPr sz="1050">
                <a:solidFill>
                  <a:srgbClr val="94A3B8"/>
                </a:solidFill>
              </a:rPr>
              <a:t>2회차 · 2/13</a:t>
            </a:r>
          </a:p>
        </p:txBody>
      </p:sp>
    </p:spTree>
    <p:extLst>
      <p:ext uri="{BB962C8B-B14F-4D97-AF65-F5344CB8AC3E}">
        <p14:creationId xmlns:p14="http://schemas.microsoft.com/office/powerpoint/2010/main" val="778999045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0F17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145A728-7754-4497-878F-36000FF340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228600"/>
            <a:ext cx="11468100" cy="6191250"/>
          </a:xfrm>
          <a:prstGeom xmlns:a="http://schemas.openxmlformats.org/drawingml/2006/main" prst="roundRect">
            <a:avLst>
              <a:gd name="adj" fmla="val 1846"/>
            </a:avLst>
          </a:prstGeom>
          <a:solidFill xmlns:a="http://schemas.openxmlformats.org/drawingml/2006/main">
            <a:srgbClr val="1E293B"/>
          </a:solidFill>
          <a:ln xmlns:a="http://schemas.openxmlformats.org/drawingml/2006/main" w="9525">
            <a:solidFill>
              <a:srgbClr val="334155"/>
            </a:solidFill>
            <a:prstDash val="solid"/>
          </a:ln>
        </p:spPr>
      </p:sp>
      <p:sp>
        <p:nvSpPr>
          <p:cNvPr id="2" name="q-q2_r3-number">
            <a:extLst xmlns:a="http://schemas.openxmlformats.org/drawingml/2006/main">
              <a:ext uri="{FF2B5EF4-FFF2-40B4-BE49-F238E27FC236}">
                <a16:creationId xmlns:a16="http://schemas.microsoft.com/office/drawing/2014/main" id="{A16C42F3-AB0C-4CB1-ADBA-89C83EE8A6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00050"/>
            <a:ext cx="1714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C7D2FE"/>
                </a:solidFill>
              </a:defRPr>
            </a:pPr>
            <a:r>
              <a:rPr sz="1350" b="1">
                <a:solidFill>
                  <a:srgbClr val="C7D2FE"/>
                </a:solidFill>
              </a:rPr>
              <a:t>문제 03</a:t>
            </a:r>
          </a:p>
        </p:txBody>
      </p:sp>
      <p:sp>
        <p:nvSpPr>
          <p:cNvPr id="3" name="q-q2_r3-category">
            <a:extLst xmlns:a="http://schemas.openxmlformats.org/drawingml/2006/main">
              <a:ext uri="{FF2B5EF4-FFF2-40B4-BE49-F238E27FC236}">
                <a16:creationId xmlns:a16="http://schemas.microsoft.com/office/drawing/2014/main" id="{4CDD646C-4B74-4528-8829-9F5C88DAD7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400050"/>
            <a:ext cx="3524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buNone/>
              <a:defRPr sz="1275" b="1">
                <a:solidFill>
                  <a:srgbClr val="5EEAD4"/>
                </a:solidFill>
              </a:defRPr>
            </a:pPr>
            <a:r>
              <a:rPr sz="1275" b="1">
                <a:solidFill>
                  <a:srgbClr val="5EEAD4"/>
                </a:solidFill>
              </a:rPr>
              <a:t>읽기 (Reading) 추가 기출</a:t>
            </a:r>
          </a:p>
        </p:txBody>
      </p:sp>
      <p:sp>
        <p:nvSpPr>
          <p:cNvPr id="4" name="q-q2_r3-text">
            <a:extLst xmlns:a="http://schemas.openxmlformats.org/drawingml/2006/main">
              <a:ext uri="{FF2B5EF4-FFF2-40B4-BE49-F238E27FC236}">
                <a16:creationId xmlns:a16="http://schemas.microsoft.com/office/drawing/2014/main" id="{B7C97704-FDC8-42C9-AB14-C9B99D8E26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38200"/>
            <a:ext cx="109347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buNone/>
              <a:defRPr sz="2625" b="1">
                <a:solidFill>
                  <a:srgbClr val="FFFFFF"/>
                </a:solidFill>
              </a:defRPr>
            </a:pPr>
            <a:r>
              <a:rPr sz="2625" b="1">
                <a:solidFill>
                  <a:srgbClr val="FFFFFF"/>
                </a:solidFill>
              </a:rPr>
              <a:t>다음 그림 상황에 맞는 문장으로 가장 알맞은 것을 고르십시오.</a:t>
            </a:r>
          </a:p>
        </p:txBody>
      </p:sp>
      <p:pic>
        <p:nvPicPr>
          <p:cNvPr id="2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e934ae4bb6b4727"/>
          <a:stretch xmlns:a="http://schemas.openxmlformats.org/drawingml/2006/main"/>
        </p:blipFill>
        <p:spPr>
          <a:xfrm xmlns:a="http://schemas.openxmlformats.org/drawingml/2006/main">
            <a:off x="1095375" y="2114550"/>
            <a:ext cx="2857500" cy="2857500"/>
          </a:xfrm>
          <a:prstGeom xmlns:a="http://schemas.openxmlformats.org/drawingml/2006/main" prst="roundRect">
            <a:avLst>
              <a:gd name="adj" fmla="val 4000"/>
            </a:avLst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0745D7C-1EBE-4AB9-ACA4-1532CB4961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114550"/>
            <a:ext cx="6743700" cy="666750"/>
          </a:xfrm>
          <a:prstGeom xmlns:a="http://schemas.openxmlformats.org/drawingml/2006/main" prst="roundRect">
            <a:avLst>
              <a:gd name="adj" fmla="val 17143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475569"/>
            </a:solidFill>
            <a:prstDash val="solid"/>
          </a:ln>
        </p:spPr>
      </p:sp>
      <p:sp>
        <p:nvSpPr>
          <p:cNvPr id="7" name="q-q2_r3-option-1">
            <a:extLst xmlns:a="http://schemas.openxmlformats.org/drawingml/2006/main">
              <a:ext uri="{FF2B5EF4-FFF2-40B4-BE49-F238E27FC236}">
                <a16:creationId xmlns:a16="http://schemas.microsoft.com/office/drawing/2014/main" id="{105B5ED1-D59F-4213-A79B-B4ED00D1D5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2171700"/>
            <a:ext cx="64008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①  음식을 주문합니다.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52E7367-7D67-4CB2-994F-E97C2135AE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876550"/>
            <a:ext cx="6743700" cy="666750"/>
          </a:xfrm>
          <a:prstGeom xmlns:a="http://schemas.openxmlformats.org/drawingml/2006/main" prst="roundRect">
            <a:avLst>
              <a:gd name="adj" fmla="val 17143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475569"/>
            </a:solidFill>
            <a:prstDash val="solid"/>
          </a:ln>
        </p:spPr>
      </p:sp>
      <p:sp>
        <p:nvSpPr>
          <p:cNvPr id="9" name="q-q2_r3-option-2">
            <a:extLst xmlns:a="http://schemas.openxmlformats.org/drawingml/2006/main">
              <a:ext uri="{FF2B5EF4-FFF2-40B4-BE49-F238E27FC236}">
                <a16:creationId xmlns:a16="http://schemas.microsoft.com/office/drawing/2014/main" id="{666265A5-F480-451C-B323-D359971E74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2933700"/>
            <a:ext cx="64008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②  요리를 만듭니다.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89FA216-601A-43FB-9D49-5DA53334CB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3638550"/>
            <a:ext cx="6743700" cy="666750"/>
          </a:xfrm>
          <a:prstGeom xmlns:a="http://schemas.openxmlformats.org/drawingml/2006/main" prst="roundRect">
            <a:avLst>
              <a:gd name="adj" fmla="val 17143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475569"/>
            </a:solidFill>
            <a:prstDash val="solid"/>
          </a:ln>
        </p:spPr>
      </p:sp>
      <p:sp>
        <p:nvSpPr>
          <p:cNvPr id="11" name="q-q2_r3-option-3">
            <a:extLst xmlns:a="http://schemas.openxmlformats.org/drawingml/2006/main">
              <a:ext uri="{FF2B5EF4-FFF2-40B4-BE49-F238E27FC236}">
                <a16:creationId xmlns:a16="http://schemas.microsoft.com/office/drawing/2014/main" id="{6C33FDE5-36BF-4FE8-904D-3C99E4661A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3695700"/>
            <a:ext cx="64008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③  청소를 열심히 합니다.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CEF32E5-BBDD-4747-A92D-BF3E087146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4400550"/>
            <a:ext cx="6743700" cy="666750"/>
          </a:xfrm>
          <a:prstGeom xmlns:a="http://schemas.openxmlformats.org/drawingml/2006/main" prst="roundRect">
            <a:avLst>
              <a:gd name="adj" fmla="val 17143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475569"/>
            </a:solidFill>
            <a:prstDash val="solid"/>
          </a:ln>
        </p:spPr>
      </p:sp>
      <p:sp>
        <p:nvSpPr>
          <p:cNvPr id="13" name="q-q2_r3-option-4">
            <a:extLst xmlns:a="http://schemas.openxmlformats.org/drawingml/2006/main">
              <a:ext uri="{FF2B5EF4-FFF2-40B4-BE49-F238E27FC236}">
                <a16:creationId xmlns:a16="http://schemas.microsoft.com/office/drawing/2014/main" id="{1918C452-4A85-4880-B931-7B701406DA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4457700"/>
            <a:ext cx="64008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④  그릇을 닦습니다.</a:t>
            </a:r>
          </a:p>
        </p:txBody>
      </p:sp>
      <p:sp>
        <p:nvSpPr>
          <p:cNvPr id="14" name="footer-brand">
            <a:extLst xmlns:a="http://schemas.openxmlformats.org/drawingml/2006/main">
              <a:ext uri="{FF2B5EF4-FFF2-40B4-BE49-F238E27FC236}">
                <a16:creationId xmlns:a16="http://schemas.microsoft.com/office/drawing/2014/main" id="{5A205AF9-41C6-4EA4-A90E-40101B5005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96050"/>
            <a:ext cx="3238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050">
                <a:solidFill>
                  <a:srgbClr val="94A3B8"/>
                </a:solidFill>
              </a:defRPr>
            </a:pPr>
            <a:r>
              <a:rPr sz="1050">
                <a:solidFill>
                  <a:srgbClr val="94A3B8"/>
                </a:solidFill>
              </a:rPr>
              <a:t>TOPIK-Edu Smart Academy</a:t>
            </a:r>
          </a:p>
        </p:txBody>
      </p:sp>
      <p:sp>
        <p:nvSpPr>
          <p:cNvPr id="15" name="footer-page">
            <a:extLst xmlns:a="http://schemas.openxmlformats.org/drawingml/2006/main">
              <a:ext uri="{FF2B5EF4-FFF2-40B4-BE49-F238E27FC236}">
                <a16:creationId xmlns:a16="http://schemas.microsoft.com/office/drawing/2014/main" id="{F28A405D-8990-4663-8566-799929FC1C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6496050"/>
            <a:ext cx="2171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buNone/>
              <a:defRPr sz="1050">
                <a:solidFill>
                  <a:srgbClr val="94A3B8"/>
                </a:solidFill>
              </a:defRPr>
            </a:pPr>
            <a:r>
              <a:rPr sz="1050">
                <a:solidFill>
                  <a:srgbClr val="94A3B8"/>
                </a:solidFill>
              </a:rPr>
              <a:t>2회차 · 3/13</a:t>
            </a:r>
          </a:p>
        </p:txBody>
      </p:sp>
    </p:spTree>
    <p:extLst>
      <p:ext uri="{BB962C8B-B14F-4D97-AF65-F5344CB8AC3E}">
        <p14:creationId xmlns:p14="http://schemas.microsoft.com/office/powerpoint/2010/main" val="1464009760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0F17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599E100-E3BD-4748-9E8D-F2A1AD8106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228600"/>
            <a:ext cx="11468100" cy="6191250"/>
          </a:xfrm>
          <a:prstGeom xmlns:a="http://schemas.openxmlformats.org/drawingml/2006/main" prst="roundRect">
            <a:avLst>
              <a:gd name="adj" fmla="val 1846"/>
            </a:avLst>
          </a:prstGeom>
          <a:solidFill xmlns:a="http://schemas.openxmlformats.org/drawingml/2006/main">
            <a:srgbClr val="1E293B"/>
          </a:solidFill>
          <a:ln xmlns:a="http://schemas.openxmlformats.org/drawingml/2006/main" w="9525">
            <a:solidFill>
              <a:srgbClr val="334155"/>
            </a:solidFill>
            <a:prstDash val="solid"/>
          </a:ln>
        </p:spPr>
      </p:sp>
      <p:sp>
        <p:nvSpPr>
          <p:cNvPr id="2" name="q-q2_r4-number">
            <a:extLst xmlns:a="http://schemas.openxmlformats.org/drawingml/2006/main">
              <a:ext uri="{FF2B5EF4-FFF2-40B4-BE49-F238E27FC236}">
                <a16:creationId xmlns:a16="http://schemas.microsoft.com/office/drawing/2014/main" id="{A8396F12-7EF6-47B0-8832-AD65274837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00050"/>
            <a:ext cx="1714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C7D2FE"/>
                </a:solidFill>
              </a:defRPr>
            </a:pPr>
            <a:r>
              <a:rPr sz="1350" b="1">
                <a:solidFill>
                  <a:srgbClr val="C7D2FE"/>
                </a:solidFill>
              </a:rPr>
              <a:t>문제 04</a:t>
            </a:r>
          </a:p>
        </p:txBody>
      </p:sp>
      <p:sp>
        <p:nvSpPr>
          <p:cNvPr id="3" name="q-q2_r4-category">
            <a:extLst xmlns:a="http://schemas.openxmlformats.org/drawingml/2006/main">
              <a:ext uri="{FF2B5EF4-FFF2-40B4-BE49-F238E27FC236}">
                <a16:creationId xmlns:a16="http://schemas.microsoft.com/office/drawing/2014/main" id="{C9C71151-1B09-443B-BEE4-C46552E999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400050"/>
            <a:ext cx="3524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buNone/>
              <a:defRPr sz="1275" b="1">
                <a:solidFill>
                  <a:srgbClr val="5EEAD4"/>
                </a:solidFill>
              </a:defRPr>
            </a:pPr>
            <a:r>
              <a:rPr sz="1275" b="1">
                <a:solidFill>
                  <a:srgbClr val="5EEAD4"/>
                </a:solidFill>
              </a:rPr>
              <a:t>읽기 (Reading) 추가 기출</a:t>
            </a:r>
          </a:p>
        </p:txBody>
      </p:sp>
      <p:sp>
        <p:nvSpPr>
          <p:cNvPr id="4" name="q-q2_r4-text">
            <a:extLst xmlns:a="http://schemas.openxmlformats.org/drawingml/2006/main">
              <a:ext uri="{FF2B5EF4-FFF2-40B4-BE49-F238E27FC236}">
                <a16:creationId xmlns:a16="http://schemas.microsoft.com/office/drawing/2014/main" id="{6ECF9573-AE5D-4A62-A44D-460DA6112E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38200"/>
            <a:ext cx="109347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buNone/>
              <a:defRPr sz="2625" b="1">
                <a:solidFill>
                  <a:srgbClr val="FFFFFF"/>
                </a:solidFill>
              </a:defRPr>
            </a:pPr>
            <a:r>
              <a:rPr sz="2625" b="1">
                <a:solidFill>
                  <a:srgbClr val="FFFFFF"/>
                </a:solidFill>
              </a:rPr>
              <a:t>다음 빈칸에 들어갈 알맞은 표현을 고르십시오.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71D307E-3EB8-4E46-A86E-A3D1F04298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19250"/>
            <a:ext cx="10934700" cy="1381125"/>
          </a:xfrm>
          <a:prstGeom xmlns:a="http://schemas.openxmlformats.org/drawingml/2006/main" prst="roundRect">
            <a:avLst>
              <a:gd name="adj" fmla="val 8276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475569"/>
            </a:solidFill>
            <a:prstDash val="solid"/>
          </a:ln>
        </p:spPr>
      </p:sp>
      <p:sp>
        <p:nvSpPr>
          <p:cNvPr id="6" name="q-q2_r4-passage">
            <a:extLst xmlns:a="http://schemas.openxmlformats.org/drawingml/2006/main">
              <a:ext uri="{FF2B5EF4-FFF2-40B4-BE49-F238E27FC236}">
                <a16:creationId xmlns:a16="http://schemas.microsoft.com/office/drawing/2014/main" id="{26AD761D-DE36-415A-808B-380540C2EB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733550"/>
            <a:ext cx="10553700" cy="1152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buNone/>
              <a:defRPr sz="1875">
                <a:solidFill>
                  <a:srgbClr val="FFFFFF"/>
                </a:solidFill>
              </a:defRPr>
            </a:pPr>
            <a:r>
              <a:rPr sz="1875">
                <a:solidFill>
                  <a:srgbClr val="FFFFFF"/>
                </a:solidFill>
              </a:rPr>
              <a:t>저는 지난 주말에 부모님과 함께 제주도로 여행을 (         ).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68BEEDF-8249-4A07-B93A-5458DC979F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19450"/>
            <a:ext cx="5400675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475569"/>
            </a:solidFill>
            <a:prstDash val="solid"/>
          </a:ln>
        </p:spPr>
      </p:sp>
      <p:sp>
        <p:nvSpPr>
          <p:cNvPr id="8" name="q-q2_r4-option-1">
            <a:extLst xmlns:a="http://schemas.openxmlformats.org/drawingml/2006/main">
              <a:ext uri="{FF2B5EF4-FFF2-40B4-BE49-F238E27FC236}">
                <a16:creationId xmlns:a16="http://schemas.microsoft.com/office/drawing/2014/main" id="{2092693C-B593-43C4-9508-5F94970AFD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276600"/>
            <a:ext cx="50577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①  갔습니다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A76E795-8E29-43C3-90EF-02E09128E1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3219450"/>
            <a:ext cx="5400675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475569"/>
            </a:solidFill>
            <a:prstDash val="solid"/>
          </a:ln>
        </p:spPr>
      </p:sp>
      <p:sp>
        <p:nvSpPr>
          <p:cNvPr id="10" name="q-q2_r4-option-2">
            <a:extLst xmlns:a="http://schemas.openxmlformats.org/drawingml/2006/main">
              <a:ext uri="{FF2B5EF4-FFF2-40B4-BE49-F238E27FC236}">
                <a16:creationId xmlns:a16="http://schemas.microsoft.com/office/drawing/2014/main" id="{8BB22AE2-FF4E-4676-93E0-1E5EDABC3A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5075" y="3276600"/>
            <a:ext cx="50577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②  갑니다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D30160B-731D-4AB5-9601-08484D8643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95750"/>
            <a:ext cx="5400675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475569"/>
            </a:solidFill>
            <a:prstDash val="solid"/>
          </a:ln>
        </p:spPr>
      </p:sp>
      <p:sp>
        <p:nvSpPr>
          <p:cNvPr id="12" name="q-q2_r4-option-3">
            <a:extLst xmlns:a="http://schemas.openxmlformats.org/drawingml/2006/main">
              <a:ext uri="{FF2B5EF4-FFF2-40B4-BE49-F238E27FC236}">
                <a16:creationId xmlns:a16="http://schemas.microsoft.com/office/drawing/2014/main" id="{D1EDCC35-2C69-42BB-843E-C250668516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152900"/>
            <a:ext cx="50577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③  갈 것입니다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5128DB0-F662-47E1-9143-78B2F21697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4095750"/>
            <a:ext cx="5400675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475569"/>
            </a:solidFill>
            <a:prstDash val="solid"/>
          </a:ln>
        </p:spPr>
      </p:sp>
      <p:sp>
        <p:nvSpPr>
          <p:cNvPr id="14" name="q-q2_r4-option-4">
            <a:extLst xmlns:a="http://schemas.openxmlformats.org/drawingml/2006/main">
              <a:ext uri="{FF2B5EF4-FFF2-40B4-BE49-F238E27FC236}">
                <a16:creationId xmlns:a16="http://schemas.microsoft.com/office/drawing/2014/main" id="{E73646FD-4DE8-40B0-82C8-56186F1260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5075" y="4152900"/>
            <a:ext cx="50577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④  가고 싶습니다</a:t>
            </a:r>
          </a:p>
        </p:txBody>
      </p:sp>
      <p:sp>
        <p:nvSpPr>
          <p:cNvPr id="15" name="footer-brand">
            <a:extLst xmlns:a="http://schemas.openxmlformats.org/drawingml/2006/main">
              <a:ext uri="{FF2B5EF4-FFF2-40B4-BE49-F238E27FC236}">
                <a16:creationId xmlns:a16="http://schemas.microsoft.com/office/drawing/2014/main" id="{E3616BC3-F017-4268-8A66-4AF9E88BF3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96050"/>
            <a:ext cx="3238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050">
                <a:solidFill>
                  <a:srgbClr val="94A3B8"/>
                </a:solidFill>
              </a:defRPr>
            </a:pPr>
            <a:r>
              <a:rPr sz="1050">
                <a:solidFill>
                  <a:srgbClr val="94A3B8"/>
                </a:solidFill>
              </a:rPr>
              <a:t>TOPIK-Edu Smart Academy</a:t>
            </a:r>
          </a:p>
        </p:txBody>
      </p:sp>
      <p:sp>
        <p:nvSpPr>
          <p:cNvPr id="16" name="footer-page">
            <a:extLst xmlns:a="http://schemas.openxmlformats.org/drawingml/2006/main">
              <a:ext uri="{FF2B5EF4-FFF2-40B4-BE49-F238E27FC236}">
                <a16:creationId xmlns:a16="http://schemas.microsoft.com/office/drawing/2014/main" id="{142C1000-1141-45DB-8036-5271D5CA95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6496050"/>
            <a:ext cx="2171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buNone/>
              <a:defRPr sz="1050">
                <a:solidFill>
                  <a:srgbClr val="94A3B8"/>
                </a:solidFill>
              </a:defRPr>
            </a:pPr>
            <a:r>
              <a:rPr sz="1050">
                <a:solidFill>
                  <a:srgbClr val="94A3B8"/>
                </a:solidFill>
              </a:rPr>
              <a:t>2회차 · 4/13</a:t>
            </a:r>
          </a:p>
        </p:txBody>
      </p:sp>
    </p:spTree>
    <p:extLst>
      <p:ext uri="{BB962C8B-B14F-4D97-AF65-F5344CB8AC3E}">
        <p14:creationId xmlns:p14="http://schemas.microsoft.com/office/powerpoint/2010/main" val="68637946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0F17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6725E52-FC8C-4C6E-85C2-7841163716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228600"/>
            <a:ext cx="11468100" cy="6191250"/>
          </a:xfrm>
          <a:prstGeom xmlns:a="http://schemas.openxmlformats.org/drawingml/2006/main" prst="roundRect">
            <a:avLst>
              <a:gd name="adj" fmla="val 1846"/>
            </a:avLst>
          </a:prstGeom>
          <a:solidFill xmlns:a="http://schemas.openxmlformats.org/drawingml/2006/main">
            <a:srgbClr val="1E293B"/>
          </a:solidFill>
          <a:ln xmlns:a="http://schemas.openxmlformats.org/drawingml/2006/main" w="9525">
            <a:solidFill>
              <a:srgbClr val="334155"/>
            </a:solidFill>
            <a:prstDash val="solid"/>
          </a:ln>
        </p:spPr>
      </p:sp>
      <p:sp>
        <p:nvSpPr>
          <p:cNvPr id="2" name="q-q2_r5-number">
            <a:extLst xmlns:a="http://schemas.openxmlformats.org/drawingml/2006/main">
              <a:ext uri="{FF2B5EF4-FFF2-40B4-BE49-F238E27FC236}">
                <a16:creationId xmlns:a16="http://schemas.microsoft.com/office/drawing/2014/main" id="{7FACC955-402C-4F2C-9CAF-024A560163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00050"/>
            <a:ext cx="1714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C7D2FE"/>
                </a:solidFill>
              </a:defRPr>
            </a:pPr>
            <a:r>
              <a:rPr sz="1350" b="1">
                <a:solidFill>
                  <a:srgbClr val="C7D2FE"/>
                </a:solidFill>
              </a:rPr>
              <a:t>문제 05</a:t>
            </a:r>
          </a:p>
        </p:txBody>
      </p:sp>
      <p:sp>
        <p:nvSpPr>
          <p:cNvPr id="3" name="q-q2_r5-category">
            <a:extLst xmlns:a="http://schemas.openxmlformats.org/drawingml/2006/main">
              <a:ext uri="{FF2B5EF4-FFF2-40B4-BE49-F238E27FC236}">
                <a16:creationId xmlns:a16="http://schemas.microsoft.com/office/drawing/2014/main" id="{0ACEA6F5-C2EF-42B5-9219-A6679CA64B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400050"/>
            <a:ext cx="3524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buNone/>
              <a:defRPr sz="1275" b="1">
                <a:solidFill>
                  <a:srgbClr val="5EEAD4"/>
                </a:solidFill>
              </a:defRPr>
            </a:pPr>
            <a:r>
              <a:rPr sz="1275" b="1">
                <a:solidFill>
                  <a:srgbClr val="5EEAD4"/>
                </a:solidFill>
              </a:rPr>
              <a:t>읽기 (Reading) 추가 기출</a:t>
            </a:r>
          </a:p>
        </p:txBody>
      </p:sp>
      <p:sp>
        <p:nvSpPr>
          <p:cNvPr id="4" name="q-q2_r5-text">
            <a:extLst xmlns:a="http://schemas.openxmlformats.org/drawingml/2006/main">
              <a:ext uri="{FF2B5EF4-FFF2-40B4-BE49-F238E27FC236}">
                <a16:creationId xmlns:a16="http://schemas.microsoft.com/office/drawing/2014/main" id="{EB5258C0-6B48-4257-AD3E-DCB2B4DB66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38200"/>
            <a:ext cx="109347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buNone/>
              <a:defRPr sz="2625" b="1">
                <a:solidFill>
                  <a:srgbClr val="FFFFFF"/>
                </a:solidFill>
              </a:defRPr>
            </a:pPr>
            <a:r>
              <a:rPr sz="2625" b="1">
                <a:solidFill>
                  <a:srgbClr val="FFFFFF"/>
                </a:solidFill>
              </a:rPr>
              <a:t>다음 글의 중심 생각을 고르십시오.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7915362-BBBB-4E17-AD4E-99927A1F64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19250"/>
            <a:ext cx="10934700" cy="1381125"/>
          </a:xfrm>
          <a:prstGeom xmlns:a="http://schemas.openxmlformats.org/drawingml/2006/main" prst="roundRect">
            <a:avLst>
              <a:gd name="adj" fmla="val 8276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475569"/>
            </a:solidFill>
            <a:prstDash val="solid"/>
          </a:ln>
        </p:spPr>
      </p:sp>
      <p:sp>
        <p:nvSpPr>
          <p:cNvPr id="6" name="q-q2_r5-passage">
            <a:extLst xmlns:a="http://schemas.openxmlformats.org/drawingml/2006/main">
              <a:ext uri="{FF2B5EF4-FFF2-40B4-BE49-F238E27FC236}">
                <a16:creationId xmlns:a16="http://schemas.microsoft.com/office/drawing/2014/main" id="{3F80BA42-D010-4AFE-9B0C-B20124EDC9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733550"/>
            <a:ext cx="10553700" cy="1152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buNone/>
              <a:defRPr sz="1875">
                <a:solidFill>
                  <a:srgbClr val="FFFFFF"/>
                </a:solidFill>
              </a:defRPr>
            </a:pPr>
            <a:r>
              <a:rPr sz="1875">
                <a:solidFill>
                  <a:srgbClr val="FFFFFF"/>
                </a:solidFill>
              </a:rPr>
              <a:t>이 신발은 제 발에 잘 맞고 걸을 때 아주 편합니다. 파란색 색상과 모양도 정말 마음에 듭니다. 그래서 저는 매일 이 신발을 신고 밖으로 나갑니다.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E32F40E-F3E2-452F-B707-D3A1D80067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19450"/>
            <a:ext cx="5400675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475569"/>
            </a:solidFill>
            <a:prstDash val="solid"/>
          </a:ln>
        </p:spPr>
      </p:sp>
      <p:sp>
        <p:nvSpPr>
          <p:cNvPr id="8" name="q-q2_r5-option-1">
            <a:extLst xmlns:a="http://schemas.openxmlformats.org/drawingml/2006/main">
              <a:ext uri="{FF2B5EF4-FFF2-40B4-BE49-F238E27FC236}">
                <a16:creationId xmlns:a16="http://schemas.microsoft.com/office/drawing/2014/main" id="{4C8D0E43-90D1-4BF9-8FE4-AAC9A2883A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276600"/>
            <a:ext cx="50577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①  저는 매일 운동을 합니다.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0008D6F-D527-4881-9BAD-F6D54B1C0B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3219450"/>
            <a:ext cx="5400675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475569"/>
            </a:solidFill>
            <a:prstDash val="solid"/>
          </a:ln>
        </p:spPr>
      </p:sp>
      <p:sp>
        <p:nvSpPr>
          <p:cNvPr id="10" name="q-q2_r5-option-2">
            <a:extLst xmlns:a="http://schemas.openxmlformats.org/drawingml/2006/main">
              <a:ext uri="{FF2B5EF4-FFF2-40B4-BE49-F238E27FC236}">
                <a16:creationId xmlns:a16="http://schemas.microsoft.com/office/drawing/2014/main" id="{6153F925-F728-4C83-AC6A-8F1E1C5E38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5075" y="3276600"/>
            <a:ext cx="50577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②  이 신발은 아주 마음에 듭니다.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1D3F867-A76F-416F-8FEB-9B66462383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95750"/>
            <a:ext cx="5400675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475569"/>
            </a:solidFill>
            <a:prstDash val="solid"/>
          </a:ln>
        </p:spPr>
      </p:sp>
      <p:sp>
        <p:nvSpPr>
          <p:cNvPr id="12" name="q-q2_r5-option-3">
            <a:extLst xmlns:a="http://schemas.openxmlformats.org/drawingml/2006/main">
              <a:ext uri="{FF2B5EF4-FFF2-40B4-BE49-F238E27FC236}">
                <a16:creationId xmlns:a16="http://schemas.microsoft.com/office/drawing/2014/main" id="{4444F067-9F03-4A27-9FBF-418D56B878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152900"/>
            <a:ext cx="50577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③  저는 새 신발을 사고 싶습니다.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2213A81-2CAF-49C8-88A5-A0BE11C7CF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4095750"/>
            <a:ext cx="5400675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475569"/>
            </a:solidFill>
            <a:prstDash val="solid"/>
          </a:ln>
        </p:spPr>
      </p:sp>
      <p:sp>
        <p:nvSpPr>
          <p:cNvPr id="14" name="q-q2_r5-option-4">
            <a:extLst xmlns:a="http://schemas.openxmlformats.org/drawingml/2006/main">
              <a:ext uri="{FF2B5EF4-FFF2-40B4-BE49-F238E27FC236}">
                <a16:creationId xmlns:a16="http://schemas.microsoft.com/office/drawing/2014/main" id="{9B624BFB-0F67-4AB1-B650-BF57F3A087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5075" y="4152900"/>
            <a:ext cx="50577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④  이 신발은 가격이 비쌉니다.</a:t>
            </a:r>
          </a:p>
        </p:txBody>
      </p:sp>
      <p:sp>
        <p:nvSpPr>
          <p:cNvPr id="15" name="footer-brand">
            <a:extLst xmlns:a="http://schemas.openxmlformats.org/drawingml/2006/main">
              <a:ext uri="{FF2B5EF4-FFF2-40B4-BE49-F238E27FC236}">
                <a16:creationId xmlns:a16="http://schemas.microsoft.com/office/drawing/2014/main" id="{8D04798C-75D5-40DE-98F5-369C3BEEEE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96050"/>
            <a:ext cx="3238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050">
                <a:solidFill>
                  <a:srgbClr val="94A3B8"/>
                </a:solidFill>
              </a:defRPr>
            </a:pPr>
            <a:r>
              <a:rPr sz="1050">
                <a:solidFill>
                  <a:srgbClr val="94A3B8"/>
                </a:solidFill>
              </a:rPr>
              <a:t>TOPIK-Edu Smart Academy</a:t>
            </a:r>
          </a:p>
        </p:txBody>
      </p:sp>
      <p:sp>
        <p:nvSpPr>
          <p:cNvPr id="16" name="footer-page">
            <a:extLst xmlns:a="http://schemas.openxmlformats.org/drawingml/2006/main">
              <a:ext uri="{FF2B5EF4-FFF2-40B4-BE49-F238E27FC236}">
                <a16:creationId xmlns:a16="http://schemas.microsoft.com/office/drawing/2014/main" id="{F0CD478B-0AE2-4D3E-A552-EC32E50D8F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6496050"/>
            <a:ext cx="2171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buNone/>
              <a:defRPr sz="1050">
                <a:solidFill>
                  <a:srgbClr val="94A3B8"/>
                </a:solidFill>
              </a:defRPr>
            </a:pPr>
            <a:r>
              <a:rPr sz="1050">
                <a:solidFill>
                  <a:srgbClr val="94A3B8"/>
                </a:solidFill>
              </a:rPr>
              <a:t>2회차 · 5/13</a:t>
            </a:r>
          </a:p>
        </p:txBody>
      </p:sp>
    </p:spTree>
    <p:extLst>
      <p:ext uri="{BB962C8B-B14F-4D97-AF65-F5344CB8AC3E}">
        <p14:creationId xmlns:p14="http://schemas.microsoft.com/office/powerpoint/2010/main" val="1810172528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0F17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3984CB3-7A33-4B0B-8692-1371950316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228600"/>
            <a:ext cx="11468100" cy="6191250"/>
          </a:xfrm>
          <a:prstGeom xmlns:a="http://schemas.openxmlformats.org/drawingml/2006/main" prst="roundRect">
            <a:avLst>
              <a:gd name="adj" fmla="val 1846"/>
            </a:avLst>
          </a:prstGeom>
          <a:solidFill xmlns:a="http://schemas.openxmlformats.org/drawingml/2006/main">
            <a:srgbClr val="1E293B"/>
          </a:solidFill>
          <a:ln xmlns:a="http://schemas.openxmlformats.org/drawingml/2006/main" w="9525">
            <a:solidFill>
              <a:srgbClr val="334155"/>
            </a:solidFill>
            <a:prstDash val="solid"/>
          </a:ln>
        </p:spPr>
      </p:sp>
      <p:sp>
        <p:nvSpPr>
          <p:cNvPr id="2" name="q-q2_l1-number">
            <a:extLst xmlns:a="http://schemas.openxmlformats.org/drawingml/2006/main">
              <a:ext uri="{FF2B5EF4-FFF2-40B4-BE49-F238E27FC236}">
                <a16:creationId xmlns:a16="http://schemas.microsoft.com/office/drawing/2014/main" id="{D848B10F-F59A-4527-AA5C-B8CA215927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00050"/>
            <a:ext cx="1714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C7D2FE"/>
                </a:solidFill>
              </a:defRPr>
            </a:pPr>
            <a:r>
              <a:rPr sz="1350" b="1">
                <a:solidFill>
                  <a:srgbClr val="C7D2FE"/>
                </a:solidFill>
              </a:rPr>
              <a:t>문제 06</a:t>
            </a:r>
          </a:p>
        </p:txBody>
      </p:sp>
      <p:sp>
        <p:nvSpPr>
          <p:cNvPr id="3" name="q-q2_l1-category">
            <a:extLst xmlns:a="http://schemas.openxmlformats.org/drawingml/2006/main">
              <a:ext uri="{FF2B5EF4-FFF2-40B4-BE49-F238E27FC236}">
                <a16:creationId xmlns:a16="http://schemas.microsoft.com/office/drawing/2014/main" id="{F3538D2A-6C8D-42CA-90B8-AA69FBA506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400050"/>
            <a:ext cx="3524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buNone/>
              <a:defRPr sz="1275" b="1">
                <a:solidFill>
                  <a:srgbClr val="5EEAD4"/>
                </a:solidFill>
              </a:defRPr>
            </a:pPr>
            <a:r>
              <a:rPr sz="1275" b="1">
                <a:solidFill>
                  <a:srgbClr val="5EEAD4"/>
                </a:solidFill>
              </a:rPr>
              <a:t>듣기 (Listening) 기출</a:t>
            </a:r>
          </a:p>
        </p:txBody>
      </p:sp>
      <p:sp>
        <p:nvSpPr>
          <p:cNvPr id="4" name="q-q2_l1-text">
            <a:extLst xmlns:a="http://schemas.openxmlformats.org/drawingml/2006/main">
              <a:ext uri="{FF2B5EF4-FFF2-40B4-BE49-F238E27FC236}">
                <a16:creationId xmlns:a16="http://schemas.microsoft.com/office/drawing/2014/main" id="{9C2F9841-2474-41C1-AB53-03CBA65C0B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38200"/>
            <a:ext cx="109347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buNone/>
              <a:defRPr sz="2625" b="1">
                <a:solidFill>
                  <a:srgbClr val="FFFFFF"/>
                </a:solidFill>
              </a:defRPr>
            </a:pPr>
            <a:r>
              <a:rPr sz="2625" b="1">
                <a:solidFill>
                  <a:srgbClr val="FFFFFF"/>
                </a:solidFill>
              </a:rPr>
              <a:t>다음을 듣고 이어질 대화로 가장 알맞은 것을 고르십시오. (TOPIK I 기출)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F5BD8F4-2755-4447-9701-59DFF45195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09800"/>
            <a:ext cx="5400675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475569"/>
            </a:solidFill>
            <a:prstDash val="solid"/>
          </a:ln>
        </p:spPr>
      </p:sp>
      <p:sp>
        <p:nvSpPr>
          <p:cNvPr id="6" name="q-q2_l1-option-1">
            <a:extLst xmlns:a="http://schemas.openxmlformats.org/drawingml/2006/main">
              <a:ext uri="{FF2B5EF4-FFF2-40B4-BE49-F238E27FC236}">
                <a16:creationId xmlns:a16="http://schemas.microsoft.com/office/drawing/2014/main" id="{68BE5875-09B2-45DD-8CBA-0BB7C35743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266950"/>
            <a:ext cx="50577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①  반갑습니다. 저는 이수진입니다.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4A5B08E-55A5-454E-BFDC-2FD33ABF9D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2209800"/>
            <a:ext cx="5400675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475569"/>
            </a:solidFill>
            <a:prstDash val="solid"/>
          </a:ln>
        </p:spPr>
      </p:sp>
      <p:sp>
        <p:nvSpPr>
          <p:cNvPr id="8" name="q-q2_l1-option-2">
            <a:extLst xmlns:a="http://schemas.openxmlformats.org/drawingml/2006/main">
              <a:ext uri="{FF2B5EF4-FFF2-40B4-BE49-F238E27FC236}">
                <a16:creationId xmlns:a16="http://schemas.microsoft.com/office/drawing/2014/main" id="{BB64B294-3F04-43AB-B678-4899E438A5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5075" y="2266950"/>
            <a:ext cx="50577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②  네, 안녕히 계세요.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E85DFF4-1502-4EBF-9021-7D2FAEE4B5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86100"/>
            <a:ext cx="5400675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475569"/>
            </a:solidFill>
            <a:prstDash val="solid"/>
          </a:ln>
        </p:spPr>
      </p:sp>
      <p:sp>
        <p:nvSpPr>
          <p:cNvPr id="10" name="q-q2_l1-option-3">
            <a:extLst xmlns:a="http://schemas.openxmlformats.org/drawingml/2006/main">
              <a:ext uri="{FF2B5EF4-FFF2-40B4-BE49-F238E27FC236}">
                <a16:creationId xmlns:a16="http://schemas.microsoft.com/office/drawing/2014/main" id="{EE874C1C-0053-49CD-A794-3C54BB921E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143250"/>
            <a:ext cx="50577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③  미안합니다. 괜찮습니다.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F0AD65A-90F0-4574-9624-02094A251D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3086100"/>
            <a:ext cx="5400675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475569"/>
            </a:solidFill>
            <a:prstDash val="solid"/>
          </a:ln>
        </p:spPr>
      </p:sp>
      <p:sp>
        <p:nvSpPr>
          <p:cNvPr id="12" name="q-q2_l1-option-4">
            <a:extLst xmlns:a="http://schemas.openxmlformats.org/drawingml/2006/main">
              <a:ext uri="{FF2B5EF4-FFF2-40B4-BE49-F238E27FC236}">
                <a16:creationId xmlns:a16="http://schemas.microsoft.com/office/drawing/2014/main" id="{2CE45988-92BB-4284-8DC9-73885DAF3F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5075" y="3143250"/>
            <a:ext cx="50577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④  축하합니다. 고맙습니다.</a:t>
            </a:r>
          </a:p>
        </p:txBody>
      </p:sp>
      <p:sp>
        <p:nvSpPr>
          <p:cNvPr id="13" name="footer-brand">
            <a:extLst xmlns:a="http://schemas.openxmlformats.org/drawingml/2006/main">
              <a:ext uri="{FF2B5EF4-FFF2-40B4-BE49-F238E27FC236}">
                <a16:creationId xmlns:a16="http://schemas.microsoft.com/office/drawing/2014/main" id="{09F52557-5032-4B44-9D8C-4CA5CB3A3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96050"/>
            <a:ext cx="3238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050">
                <a:solidFill>
                  <a:srgbClr val="94A3B8"/>
                </a:solidFill>
              </a:defRPr>
            </a:pPr>
            <a:r>
              <a:rPr sz="1050">
                <a:solidFill>
                  <a:srgbClr val="94A3B8"/>
                </a:solidFill>
              </a:rPr>
              <a:t>TOPIK-Edu Smart Academy</a:t>
            </a:r>
          </a:p>
        </p:txBody>
      </p:sp>
      <p:sp>
        <p:nvSpPr>
          <p:cNvPr id="14" name="footer-page">
            <a:extLst xmlns:a="http://schemas.openxmlformats.org/drawingml/2006/main">
              <a:ext uri="{FF2B5EF4-FFF2-40B4-BE49-F238E27FC236}">
                <a16:creationId xmlns:a16="http://schemas.microsoft.com/office/drawing/2014/main" id="{A3D9F2A4-87ED-4214-8E66-9F6AF3547A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6496050"/>
            <a:ext cx="2171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buNone/>
              <a:defRPr sz="1050">
                <a:solidFill>
                  <a:srgbClr val="94A3B8"/>
                </a:solidFill>
              </a:defRPr>
            </a:pPr>
            <a:r>
              <a:rPr sz="1050">
                <a:solidFill>
                  <a:srgbClr val="94A3B8"/>
                </a:solidFill>
              </a:rPr>
              <a:t>2회차 · 6/13</a:t>
            </a:r>
          </a:p>
        </p:txBody>
      </p:sp>
    </p:spTree>
    <p:extLst>
      <p:ext uri="{BB962C8B-B14F-4D97-AF65-F5344CB8AC3E}">
        <p14:creationId xmlns:p14="http://schemas.microsoft.com/office/powerpoint/2010/main" val="1215928398"/>
      </p:ext>
    </p:extLst>
  </p:cSld>
</p:sld>
</file>

<file path=ppt/slides/slide28.xml><?xml version="1.0" encoding="utf-8"?>
<p:sld xmlns:p="http://schemas.openxmlformats.org/presentationml/2006/main">
  <p:cSld>
    <p:bg>
      <p:bgPr>
        <a:solidFill xmlns:a="http://schemas.openxmlformats.org/drawingml/2006/main">
          <a:srgbClr val="0F17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F62AB01-6D76-4AD3-ACAE-880B3C97DF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228600"/>
            <a:ext cx="11468100" cy="6191250"/>
          </a:xfrm>
          <a:prstGeom xmlns:a="http://schemas.openxmlformats.org/drawingml/2006/main" prst="roundRect">
            <a:avLst>
              <a:gd name="adj" fmla="val 1846"/>
            </a:avLst>
          </a:prstGeom>
          <a:solidFill xmlns:a="http://schemas.openxmlformats.org/drawingml/2006/main">
            <a:srgbClr val="1E293B"/>
          </a:solidFill>
          <a:ln xmlns:a="http://schemas.openxmlformats.org/drawingml/2006/main" w="9525">
            <a:solidFill>
              <a:srgbClr val="334155"/>
            </a:solidFill>
            <a:prstDash val="solid"/>
          </a:ln>
        </p:spPr>
      </p:sp>
      <p:sp>
        <p:nvSpPr>
          <p:cNvPr id="2" name="q-q2_l2-number">
            <a:extLst xmlns:a="http://schemas.openxmlformats.org/drawingml/2006/main">
              <a:ext uri="{FF2B5EF4-FFF2-40B4-BE49-F238E27FC236}">
                <a16:creationId xmlns:a16="http://schemas.microsoft.com/office/drawing/2014/main" id="{2D966E6D-C420-422D-A8D7-D7349C8BA8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00050"/>
            <a:ext cx="1714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C7D2FE"/>
                </a:solidFill>
              </a:defRPr>
            </a:pPr>
            <a:r>
              <a:rPr sz="1350" b="1">
                <a:solidFill>
                  <a:srgbClr val="C7D2FE"/>
                </a:solidFill>
              </a:rPr>
              <a:t>문제 07</a:t>
            </a:r>
          </a:p>
        </p:txBody>
      </p:sp>
      <p:sp>
        <p:nvSpPr>
          <p:cNvPr id="3" name="q-q2_l2-category">
            <a:extLst xmlns:a="http://schemas.openxmlformats.org/drawingml/2006/main">
              <a:ext uri="{FF2B5EF4-FFF2-40B4-BE49-F238E27FC236}">
                <a16:creationId xmlns:a16="http://schemas.microsoft.com/office/drawing/2014/main" id="{61BDF821-482E-4903-9EB9-64B02FC4B2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400050"/>
            <a:ext cx="3524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buNone/>
              <a:defRPr sz="1275" b="1">
                <a:solidFill>
                  <a:srgbClr val="5EEAD4"/>
                </a:solidFill>
              </a:defRPr>
            </a:pPr>
            <a:r>
              <a:rPr sz="1275" b="1">
                <a:solidFill>
                  <a:srgbClr val="5EEAD4"/>
                </a:solidFill>
              </a:rPr>
              <a:t>듣기 (Listening) 기출</a:t>
            </a:r>
          </a:p>
        </p:txBody>
      </p:sp>
      <p:sp>
        <p:nvSpPr>
          <p:cNvPr id="4" name="q-q2_l2-text">
            <a:extLst xmlns:a="http://schemas.openxmlformats.org/drawingml/2006/main">
              <a:ext uri="{FF2B5EF4-FFF2-40B4-BE49-F238E27FC236}">
                <a16:creationId xmlns:a16="http://schemas.microsoft.com/office/drawing/2014/main" id="{A9F0A221-48C2-49D2-B02D-956166CD1F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38200"/>
            <a:ext cx="109347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buNone/>
              <a:defRPr sz="2625" b="1">
                <a:solidFill>
                  <a:srgbClr val="FFFFFF"/>
                </a:solidFill>
              </a:defRPr>
            </a:pPr>
            <a:r>
              <a:rPr sz="2625" b="1">
                <a:solidFill>
                  <a:srgbClr val="FFFFFF"/>
                </a:solidFill>
              </a:rPr>
              <a:t>다음을 듣고 대화 내용과 일치하는 것(같은 내용)을 고르십시오. (TOPIK I 기출)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32BE0C1-4009-48FA-9F93-7012C2D38E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09800"/>
            <a:ext cx="5400675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475569"/>
            </a:solidFill>
            <a:prstDash val="solid"/>
          </a:ln>
        </p:spPr>
      </p:sp>
      <p:sp>
        <p:nvSpPr>
          <p:cNvPr id="6" name="q-q2_l2-option-1">
            <a:extLst xmlns:a="http://schemas.openxmlformats.org/drawingml/2006/main">
              <a:ext uri="{FF2B5EF4-FFF2-40B4-BE49-F238E27FC236}">
                <a16:creationId xmlns:a16="http://schemas.microsoft.com/office/drawing/2014/main" id="{F2AC9129-3276-481A-8019-96DF7175FC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266950"/>
            <a:ext cx="50577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①  남자는 컴퓨터 수리를 완전히 끝냈습니다.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12EC5A3-A5B3-44BB-AF2B-05A987BD77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2209800"/>
            <a:ext cx="5400675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475569"/>
            </a:solidFill>
            <a:prstDash val="solid"/>
          </a:ln>
        </p:spPr>
      </p:sp>
      <p:sp>
        <p:nvSpPr>
          <p:cNvPr id="8" name="q-q2_l2-option-2">
            <a:extLst xmlns:a="http://schemas.openxmlformats.org/drawingml/2006/main">
              <a:ext uri="{FF2B5EF4-FFF2-40B4-BE49-F238E27FC236}">
                <a16:creationId xmlns:a16="http://schemas.microsoft.com/office/drawing/2014/main" id="{013F50F9-C158-4ED7-B48B-9A5CE93657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5075" y="2266950"/>
            <a:ext cx="50577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②  여자가 직접 도구를 들고 컴퓨터를 고치고 있습니다.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8FCE635-B858-4205-94D0-847C7EAA71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86100"/>
            <a:ext cx="5400675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475569"/>
            </a:solidFill>
            <a:prstDash val="solid"/>
          </a:ln>
        </p:spPr>
      </p:sp>
      <p:sp>
        <p:nvSpPr>
          <p:cNvPr id="10" name="q-q2_l2-option-3">
            <a:extLst xmlns:a="http://schemas.openxmlformats.org/drawingml/2006/main">
              <a:ext uri="{FF2B5EF4-FFF2-40B4-BE49-F238E27FC236}">
                <a16:creationId xmlns:a16="http://schemas.microsoft.com/office/drawing/2014/main" id="{F7AFAF15-44A8-472A-B0CD-290B31D0D5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143250"/>
            <a:ext cx="50577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③  남자는 지금 현재 컴퓨터를 고치고 있습니다.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F528A31-0546-42F3-B658-132FAB50D7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3086100"/>
            <a:ext cx="5400675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475569"/>
            </a:solidFill>
            <a:prstDash val="solid"/>
          </a:ln>
        </p:spPr>
      </p:sp>
      <p:sp>
        <p:nvSpPr>
          <p:cNvPr id="12" name="q-q2_l2-option-4">
            <a:extLst xmlns:a="http://schemas.openxmlformats.org/drawingml/2006/main">
              <a:ext uri="{FF2B5EF4-FFF2-40B4-BE49-F238E27FC236}">
                <a16:creationId xmlns:a16="http://schemas.microsoft.com/office/drawing/2014/main" id="{B85E0756-1C50-4C43-A084-48B41025AA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5075" y="3143250"/>
            <a:ext cx="50577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④  두 사람은 오늘 매장에 가서 컴퓨터를 새로 살 것입니다.</a:t>
            </a:r>
          </a:p>
        </p:txBody>
      </p:sp>
      <p:sp>
        <p:nvSpPr>
          <p:cNvPr id="13" name="footer-brand">
            <a:extLst xmlns:a="http://schemas.openxmlformats.org/drawingml/2006/main">
              <a:ext uri="{FF2B5EF4-FFF2-40B4-BE49-F238E27FC236}">
                <a16:creationId xmlns:a16="http://schemas.microsoft.com/office/drawing/2014/main" id="{F85F00FD-676D-4CDA-9040-FFEB76DA04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96050"/>
            <a:ext cx="3238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050">
                <a:solidFill>
                  <a:srgbClr val="94A3B8"/>
                </a:solidFill>
              </a:defRPr>
            </a:pPr>
            <a:r>
              <a:rPr sz="1050">
                <a:solidFill>
                  <a:srgbClr val="94A3B8"/>
                </a:solidFill>
              </a:rPr>
              <a:t>TOPIK-Edu Smart Academy</a:t>
            </a:r>
          </a:p>
        </p:txBody>
      </p:sp>
      <p:sp>
        <p:nvSpPr>
          <p:cNvPr id="14" name="footer-page">
            <a:extLst xmlns:a="http://schemas.openxmlformats.org/drawingml/2006/main">
              <a:ext uri="{FF2B5EF4-FFF2-40B4-BE49-F238E27FC236}">
                <a16:creationId xmlns:a16="http://schemas.microsoft.com/office/drawing/2014/main" id="{AB43EEAC-A40A-4D4E-ACB4-FFDD718181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6496050"/>
            <a:ext cx="2171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buNone/>
              <a:defRPr sz="1050">
                <a:solidFill>
                  <a:srgbClr val="94A3B8"/>
                </a:solidFill>
              </a:defRPr>
            </a:pPr>
            <a:r>
              <a:rPr sz="1050">
                <a:solidFill>
                  <a:srgbClr val="94A3B8"/>
                </a:solidFill>
              </a:rPr>
              <a:t>2회차 · 7/13</a:t>
            </a:r>
          </a:p>
        </p:txBody>
      </p:sp>
    </p:spTree>
    <p:extLst>
      <p:ext uri="{BB962C8B-B14F-4D97-AF65-F5344CB8AC3E}">
        <p14:creationId xmlns:p14="http://schemas.microsoft.com/office/powerpoint/2010/main" val="7834183"/>
      </p:ext>
    </p:extLst>
  </p:cSld>
</p:sld>
</file>

<file path=ppt/slides/slide29.xml><?xml version="1.0" encoding="utf-8"?>
<p:sld xmlns:p="http://schemas.openxmlformats.org/presentationml/2006/main">
  <p:cSld>
    <p:bg>
      <p:bgPr>
        <a:solidFill xmlns:a="http://schemas.openxmlformats.org/drawingml/2006/main">
          <a:srgbClr val="0F17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FE5B80D-25DB-497E-96B7-5BF90DB152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228600"/>
            <a:ext cx="11468100" cy="6191250"/>
          </a:xfrm>
          <a:prstGeom xmlns:a="http://schemas.openxmlformats.org/drawingml/2006/main" prst="roundRect">
            <a:avLst>
              <a:gd name="adj" fmla="val 1846"/>
            </a:avLst>
          </a:prstGeom>
          <a:solidFill xmlns:a="http://schemas.openxmlformats.org/drawingml/2006/main">
            <a:srgbClr val="1E293B"/>
          </a:solidFill>
          <a:ln xmlns:a="http://schemas.openxmlformats.org/drawingml/2006/main" w="9525">
            <a:solidFill>
              <a:srgbClr val="334155"/>
            </a:solidFill>
            <a:prstDash val="solid"/>
          </a:ln>
        </p:spPr>
      </p:sp>
      <p:sp>
        <p:nvSpPr>
          <p:cNvPr id="2" name="q-q2_l3-number">
            <a:extLst xmlns:a="http://schemas.openxmlformats.org/drawingml/2006/main">
              <a:ext uri="{FF2B5EF4-FFF2-40B4-BE49-F238E27FC236}">
                <a16:creationId xmlns:a16="http://schemas.microsoft.com/office/drawing/2014/main" id="{FD4DA213-EFAD-40AC-B557-50945E3A39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00050"/>
            <a:ext cx="1714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C7D2FE"/>
                </a:solidFill>
              </a:defRPr>
            </a:pPr>
            <a:r>
              <a:rPr sz="1350" b="1">
                <a:solidFill>
                  <a:srgbClr val="C7D2FE"/>
                </a:solidFill>
              </a:rPr>
              <a:t>문제 08</a:t>
            </a:r>
          </a:p>
        </p:txBody>
      </p:sp>
      <p:sp>
        <p:nvSpPr>
          <p:cNvPr id="3" name="q-q2_l3-category">
            <a:extLst xmlns:a="http://schemas.openxmlformats.org/drawingml/2006/main">
              <a:ext uri="{FF2B5EF4-FFF2-40B4-BE49-F238E27FC236}">
                <a16:creationId xmlns:a16="http://schemas.microsoft.com/office/drawing/2014/main" id="{03DD7DA4-06F8-4EB1-BB62-221BF93666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400050"/>
            <a:ext cx="3524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buNone/>
              <a:defRPr sz="1275" b="1">
                <a:solidFill>
                  <a:srgbClr val="5EEAD4"/>
                </a:solidFill>
              </a:defRPr>
            </a:pPr>
            <a:r>
              <a:rPr sz="1275" b="1">
                <a:solidFill>
                  <a:srgbClr val="5EEAD4"/>
                </a:solidFill>
              </a:rPr>
              <a:t>듣기 (Listening) 추가 기출</a:t>
            </a:r>
          </a:p>
        </p:txBody>
      </p:sp>
      <p:sp>
        <p:nvSpPr>
          <p:cNvPr id="4" name="q-q2_l3-text">
            <a:extLst xmlns:a="http://schemas.openxmlformats.org/drawingml/2006/main">
              <a:ext uri="{FF2B5EF4-FFF2-40B4-BE49-F238E27FC236}">
                <a16:creationId xmlns:a16="http://schemas.microsoft.com/office/drawing/2014/main" id="{ACC0ED78-2AD2-4304-BB85-DD0825F911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38200"/>
            <a:ext cx="109347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buNone/>
              <a:defRPr sz="2625" b="1">
                <a:solidFill>
                  <a:srgbClr val="FFFFFF"/>
                </a:solidFill>
              </a:defRPr>
            </a:pPr>
            <a:r>
              <a:rPr sz="2625" b="1">
                <a:solidFill>
                  <a:srgbClr val="FFFFFF"/>
                </a:solidFill>
              </a:rPr>
              <a:t>다음을 듣고 이어질 대화로 가장 알맞은 것을 고르십시오.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15A4345-0BA7-4D3F-8B92-153C41E584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09800"/>
            <a:ext cx="5400675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475569"/>
            </a:solidFill>
            <a:prstDash val="solid"/>
          </a:ln>
        </p:spPr>
      </p:sp>
      <p:sp>
        <p:nvSpPr>
          <p:cNvPr id="6" name="q-q2_l3-option-1">
            <a:extLst xmlns:a="http://schemas.openxmlformats.org/drawingml/2006/main">
              <a:ext uri="{FF2B5EF4-FFF2-40B4-BE49-F238E27FC236}">
                <a16:creationId xmlns:a16="http://schemas.microsoft.com/office/drawing/2014/main" id="{E4B07814-D446-4057-B2BD-D4FA974884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266950"/>
            <a:ext cx="50577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①  정말 고마워요. 마음에 들어요.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B79C618-97B2-4A15-A6D6-1415648B2B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2209800"/>
            <a:ext cx="5400675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475569"/>
            </a:solidFill>
            <a:prstDash val="solid"/>
          </a:ln>
        </p:spPr>
      </p:sp>
      <p:sp>
        <p:nvSpPr>
          <p:cNvPr id="8" name="q-q2_l3-option-2">
            <a:extLst xmlns:a="http://schemas.openxmlformats.org/drawingml/2006/main">
              <a:ext uri="{FF2B5EF4-FFF2-40B4-BE49-F238E27FC236}">
                <a16:creationId xmlns:a16="http://schemas.microsoft.com/office/drawing/2014/main" id="{46AF5A12-1CE2-440E-91E3-326BBBCE79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5075" y="2266950"/>
            <a:ext cx="50577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②  네, 안녕히 계세요.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96CC3AE-3EFC-4E12-90A1-7BDF4E95B6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86100"/>
            <a:ext cx="5400675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475569"/>
            </a:solidFill>
            <a:prstDash val="solid"/>
          </a:ln>
        </p:spPr>
      </p:sp>
      <p:sp>
        <p:nvSpPr>
          <p:cNvPr id="10" name="q-q2_l3-option-3">
            <a:extLst xmlns:a="http://schemas.openxmlformats.org/drawingml/2006/main">
              <a:ext uri="{FF2B5EF4-FFF2-40B4-BE49-F238E27FC236}">
                <a16:creationId xmlns:a16="http://schemas.microsoft.com/office/drawing/2014/main" id="{E3AA89C4-67A5-4705-8BC9-DBF73C7DD4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143250"/>
            <a:ext cx="50577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③  죄송합니다. 늦었습니다.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1D9B8F2-F669-464B-BCE2-02580C465A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3086100"/>
            <a:ext cx="5400675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475569"/>
            </a:solidFill>
            <a:prstDash val="solid"/>
          </a:ln>
        </p:spPr>
      </p:sp>
      <p:sp>
        <p:nvSpPr>
          <p:cNvPr id="12" name="q-q2_l3-option-4">
            <a:extLst xmlns:a="http://schemas.openxmlformats.org/drawingml/2006/main">
              <a:ext uri="{FF2B5EF4-FFF2-40B4-BE49-F238E27FC236}">
                <a16:creationId xmlns:a16="http://schemas.microsoft.com/office/drawing/2014/main" id="{93781504-9F8E-4BCE-B9B9-4428B6F184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5075" y="3143250"/>
            <a:ext cx="50577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④  아니요, 저는 선물이 없어요.</a:t>
            </a:r>
          </a:p>
        </p:txBody>
      </p:sp>
      <p:sp>
        <p:nvSpPr>
          <p:cNvPr id="13" name="footer-brand">
            <a:extLst xmlns:a="http://schemas.openxmlformats.org/drawingml/2006/main">
              <a:ext uri="{FF2B5EF4-FFF2-40B4-BE49-F238E27FC236}">
                <a16:creationId xmlns:a16="http://schemas.microsoft.com/office/drawing/2014/main" id="{AB08CB32-B2EC-4ADD-821C-85A0BFB940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96050"/>
            <a:ext cx="3238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050">
                <a:solidFill>
                  <a:srgbClr val="94A3B8"/>
                </a:solidFill>
              </a:defRPr>
            </a:pPr>
            <a:r>
              <a:rPr sz="1050">
                <a:solidFill>
                  <a:srgbClr val="94A3B8"/>
                </a:solidFill>
              </a:rPr>
              <a:t>TOPIK-Edu Smart Academy</a:t>
            </a:r>
          </a:p>
        </p:txBody>
      </p:sp>
      <p:sp>
        <p:nvSpPr>
          <p:cNvPr id="14" name="footer-page">
            <a:extLst xmlns:a="http://schemas.openxmlformats.org/drawingml/2006/main">
              <a:ext uri="{FF2B5EF4-FFF2-40B4-BE49-F238E27FC236}">
                <a16:creationId xmlns:a16="http://schemas.microsoft.com/office/drawing/2014/main" id="{3C58DB5E-8DF4-48D3-A388-6524B9A6DD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6496050"/>
            <a:ext cx="2171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buNone/>
              <a:defRPr sz="1050">
                <a:solidFill>
                  <a:srgbClr val="94A3B8"/>
                </a:solidFill>
              </a:defRPr>
            </a:pPr>
            <a:r>
              <a:rPr sz="1050">
                <a:solidFill>
                  <a:srgbClr val="94A3B8"/>
                </a:solidFill>
              </a:rPr>
              <a:t>2회차 · 8/13</a:t>
            </a:r>
          </a:p>
        </p:txBody>
      </p:sp>
    </p:spTree>
    <p:extLst>
      <p:ext uri="{BB962C8B-B14F-4D97-AF65-F5344CB8AC3E}">
        <p14:creationId xmlns:p14="http://schemas.microsoft.com/office/powerpoint/2010/main" val="1382718516"/>
      </p:ext>
    </p:extLst>
  </p:cSld>
</p:sld>
</file>

<file path=ppt/slides/slide30.xml><?xml version="1.0" encoding="utf-8"?>
<p:sld xmlns:p="http://schemas.openxmlformats.org/presentationml/2006/main">
  <p:cSld>
    <p:bg>
      <p:bgPr>
        <a:solidFill xmlns:a="http://schemas.openxmlformats.org/drawingml/2006/main">
          <a:srgbClr val="0F17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59DFCB3-BB83-44DF-B6BD-252EB16ACE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228600"/>
            <a:ext cx="11468100" cy="6191250"/>
          </a:xfrm>
          <a:prstGeom xmlns:a="http://schemas.openxmlformats.org/drawingml/2006/main" prst="roundRect">
            <a:avLst>
              <a:gd name="adj" fmla="val 1846"/>
            </a:avLst>
          </a:prstGeom>
          <a:solidFill xmlns:a="http://schemas.openxmlformats.org/drawingml/2006/main">
            <a:srgbClr val="1E293B"/>
          </a:solidFill>
          <a:ln xmlns:a="http://schemas.openxmlformats.org/drawingml/2006/main" w="9525">
            <a:solidFill>
              <a:srgbClr val="334155"/>
            </a:solidFill>
            <a:prstDash val="solid"/>
          </a:ln>
        </p:spPr>
      </p:sp>
      <p:sp>
        <p:nvSpPr>
          <p:cNvPr id="2" name="q-q2_l4-number">
            <a:extLst xmlns:a="http://schemas.openxmlformats.org/drawingml/2006/main">
              <a:ext uri="{FF2B5EF4-FFF2-40B4-BE49-F238E27FC236}">
                <a16:creationId xmlns:a16="http://schemas.microsoft.com/office/drawing/2014/main" id="{548A4888-9D4E-4A1C-A609-BA84CF521F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00050"/>
            <a:ext cx="1714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C7D2FE"/>
                </a:solidFill>
              </a:defRPr>
            </a:pPr>
            <a:r>
              <a:rPr sz="1350" b="1">
                <a:solidFill>
                  <a:srgbClr val="C7D2FE"/>
                </a:solidFill>
              </a:rPr>
              <a:t>문제 09</a:t>
            </a:r>
          </a:p>
        </p:txBody>
      </p:sp>
      <p:sp>
        <p:nvSpPr>
          <p:cNvPr id="3" name="q-q2_l4-category">
            <a:extLst xmlns:a="http://schemas.openxmlformats.org/drawingml/2006/main">
              <a:ext uri="{FF2B5EF4-FFF2-40B4-BE49-F238E27FC236}">
                <a16:creationId xmlns:a16="http://schemas.microsoft.com/office/drawing/2014/main" id="{C9D439E7-BFEA-4206-B3DC-29FB720C57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400050"/>
            <a:ext cx="3524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buNone/>
              <a:defRPr sz="1275" b="1">
                <a:solidFill>
                  <a:srgbClr val="5EEAD4"/>
                </a:solidFill>
              </a:defRPr>
            </a:pPr>
            <a:r>
              <a:rPr sz="1275" b="1">
                <a:solidFill>
                  <a:srgbClr val="5EEAD4"/>
                </a:solidFill>
              </a:rPr>
              <a:t>듣기 (Listening) 추가 기출</a:t>
            </a:r>
          </a:p>
        </p:txBody>
      </p:sp>
      <p:sp>
        <p:nvSpPr>
          <p:cNvPr id="4" name="q-q2_l4-text">
            <a:extLst xmlns:a="http://schemas.openxmlformats.org/drawingml/2006/main">
              <a:ext uri="{FF2B5EF4-FFF2-40B4-BE49-F238E27FC236}">
                <a16:creationId xmlns:a16="http://schemas.microsoft.com/office/drawing/2014/main" id="{093FE3A2-AC46-4517-B462-DDE3E9ED25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38200"/>
            <a:ext cx="109347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buNone/>
              <a:defRPr sz="2625" b="1">
                <a:solidFill>
                  <a:srgbClr val="FFFFFF"/>
                </a:solidFill>
              </a:defRPr>
            </a:pPr>
            <a:r>
              <a:rPr sz="2625" b="1">
                <a:solidFill>
                  <a:srgbClr val="FFFFFF"/>
                </a:solidFill>
              </a:rPr>
              <a:t>다음을 듣고 두 사람이 대화하는 장소로 가장 알맞은 곳을 고르십시오.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07AA06D-B3BF-4B21-8C61-9899B557F9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09800"/>
            <a:ext cx="5400675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475569"/>
            </a:solidFill>
            <a:prstDash val="solid"/>
          </a:ln>
        </p:spPr>
      </p:sp>
      <p:sp>
        <p:nvSpPr>
          <p:cNvPr id="6" name="q-q2_l4-option-1">
            <a:extLst xmlns:a="http://schemas.openxmlformats.org/drawingml/2006/main">
              <a:ext uri="{FF2B5EF4-FFF2-40B4-BE49-F238E27FC236}">
                <a16:creationId xmlns:a16="http://schemas.microsoft.com/office/drawing/2014/main" id="{0FC49CB4-316E-4BF1-A6EA-720074E513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266950"/>
            <a:ext cx="50577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①  우체국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5374EA9-08E5-4DE7-8D0F-0FF577F0F2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2209800"/>
            <a:ext cx="5400675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475569"/>
            </a:solidFill>
            <a:prstDash val="solid"/>
          </a:ln>
        </p:spPr>
      </p:sp>
      <p:sp>
        <p:nvSpPr>
          <p:cNvPr id="8" name="q-q2_l4-option-2">
            <a:extLst xmlns:a="http://schemas.openxmlformats.org/drawingml/2006/main">
              <a:ext uri="{FF2B5EF4-FFF2-40B4-BE49-F238E27FC236}">
                <a16:creationId xmlns:a16="http://schemas.microsoft.com/office/drawing/2014/main" id="{86AC8CD5-2A50-489D-B444-C9ABC4CF51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5075" y="2266950"/>
            <a:ext cx="50577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②  과일 가게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7AA5078-373A-48A6-BDA7-59F6B61923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86100"/>
            <a:ext cx="5400675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475569"/>
            </a:solidFill>
            <a:prstDash val="solid"/>
          </a:ln>
        </p:spPr>
      </p:sp>
      <p:sp>
        <p:nvSpPr>
          <p:cNvPr id="10" name="q-q2_l4-option-3">
            <a:extLst xmlns:a="http://schemas.openxmlformats.org/drawingml/2006/main">
              <a:ext uri="{FF2B5EF4-FFF2-40B4-BE49-F238E27FC236}">
                <a16:creationId xmlns:a16="http://schemas.microsoft.com/office/drawing/2014/main" id="{11F00A98-3A9E-4187-B038-902EDAAD6A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143250"/>
            <a:ext cx="50577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③  병원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71917D1-A6C7-429B-85B7-0BBDB855D1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3086100"/>
            <a:ext cx="5400675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475569"/>
            </a:solidFill>
            <a:prstDash val="solid"/>
          </a:ln>
        </p:spPr>
      </p:sp>
      <p:sp>
        <p:nvSpPr>
          <p:cNvPr id="12" name="q-q2_l4-option-4">
            <a:extLst xmlns:a="http://schemas.openxmlformats.org/drawingml/2006/main">
              <a:ext uri="{FF2B5EF4-FFF2-40B4-BE49-F238E27FC236}">
                <a16:creationId xmlns:a16="http://schemas.microsoft.com/office/drawing/2014/main" id="{7B9866B3-5080-4B76-ADDE-C421D56D4F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5075" y="3143250"/>
            <a:ext cx="50577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④  세탁소</a:t>
            </a:r>
          </a:p>
        </p:txBody>
      </p:sp>
      <p:sp>
        <p:nvSpPr>
          <p:cNvPr id="13" name="footer-brand">
            <a:extLst xmlns:a="http://schemas.openxmlformats.org/drawingml/2006/main">
              <a:ext uri="{FF2B5EF4-FFF2-40B4-BE49-F238E27FC236}">
                <a16:creationId xmlns:a16="http://schemas.microsoft.com/office/drawing/2014/main" id="{B728471B-96D2-4282-98AE-0D547B1DD8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96050"/>
            <a:ext cx="3238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050">
                <a:solidFill>
                  <a:srgbClr val="94A3B8"/>
                </a:solidFill>
              </a:defRPr>
            </a:pPr>
            <a:r>
              <a:rPr sz="1050">
                <a:solidFill>
                  <a:srgbClr val="94A3B8"/>
                </a:solidFill>
              </a:rPr>
              <a:t>TOPIK-Edu Smart Academy</a:t>
            </a:r>
          </a:p>
        </p:txBody>
      </p:sp>
      <p:sp>
        <p:nvSpPr>
          <p:cNvPr id="14" name="footer-page">
            <a:extLst xmlns:a="http://schemas.openxmlformats.org/drawingml/2006/main">
              <a:ext uri="{FF2B5EF4-FFF2-40B4-BE49-F238E27FC236}">
                <a16:creationId xmlns:a16="http://schemas.microsoft.com/office/drawing/2014/main" id="{2949AECE-AAE7-4129-B147-D1ACAD7A49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6496050"/>
            <a:ext cx="2171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buNone/>
              <a:defRPr sz="1050">
                <a:solidFill>
                  <a:srgbClr val="94A3B8"/>
                </a:solidFill>
              </a:defRPr>
            </a:pPr>
            <a:r>
              <a:rPr sz="1050">
                <a:solidFill>
                  <a:srgbClr val="94A3B8"/>
                </a:solidFill>
              </a:rPr>
              <a:t>2회차 · 9/13</a:t>
            </a:r>
          </a:p>
        </p:txBody>
      </p:sp>
    </p:spTree>
    <p:extLst>
      <p:ext uri="{BB962C8B-B14F-4D97-AF65-F5344CB8AC3E}">
        <p14:creationId xmlns:p14="http://schemas.microsoft.com/office/powerpoint/2010/main" val="1240429879"/>
      </p:ext>
    </p:extLst>
  </p:cSld>
</p:sld>
</file>

<file path=ppt/slides/slide31.xml><?xml version="1.0" encoding="utf-8"?>
<p:sld xmlns:p="http://schemas.openxmlformats.org/presentationml/2006/main">
  <p:cSld>
    <p:bg>
      <p:bgPr>
        <a:solidFill xmlns:a="http://schemas.openxmlformats.org/drawingml/2006/main">
          <a:srgbClr val="0F17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F6FC343-C8FB-48EF-826B-4DFE27758F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228600"/>
            <a:ext cx="11468100" cy="6191250"/>
          </a:xfrm>
          <a:prstGeom xmlns:a="http://schemas.openxmlformats.org/drawingml/2006/main" prst="roundRect">
            <a:avLst>
              <a:gd name="adj" fmla="val 1846"/>
            </a:avLst>
          </a:prstGeom>
          <a:solidFill xmlns:a="http://schemas.openxmlformats.org/drawingml/2006/main">
            <a:srgbClr val="1E293B"/>
          </a:solidFill>
          <a:ln xmlns:a="http://schemas.openxmlformats.org/drawingml/2006/main" w="9525">
            <a:solidFill>
              <a:srgbClr val="334155"/>
            </a:solidFill>
            <a:prstDash val="solid"/>
          </a:ln>
        </p:spPr>
      </p:sp>
      <p:sp>
        <p:nvSpPr>
          <p:cNvPr id="2" name="q-q2_l5-number">
            <a:extLst xmlns:a="http://schemas.openxmlformats.org/drawingml/2006/main">
              <a:ext uri="{FF2B5EF4-FFF2-40B4-BE49-F238E27FC236}">
                <a16:creationId xmlns:a16="http://schemas.microsoft.com/office/drawing/2014/main" id="{3AFA65B4-6AEB-433C-B8A1-FC73E5AEE7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00050"/>
            <a:ext cx="1714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C7D2FE"/>
                </a:solidFill>
              </a:defRPr>
            </a:pPr>
            <a:r>
              <a:rPr sz="1350" b="1">
                <a:solidFill>
                  <a:srgbClr val="C7D2FE"/>
                </a:solidFill>
              </a:rPr>
              <a:t>문제 10</a:t>
            </a:r>
          </a:p>
        </p:txBody>
      </p:sp>
      <p:sp>
        <p:nvSpPr>
          <p:cNvPr id="3" name="q-q2_l5-category">
            <a:extLst xmlns:a="http://schemas.openxmlformats.org/drawingml/2006/main">
              <a:ext uri="{FF2B5EF4-FFF2-40B4-BE49-F238E27FC236}">
                <a16:creationId xmlns:a16="http://schemas.microsoft.com/office/drawing/2014/main" id="{A17061F1-4CFD-4C5B-A705-064F722D2D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400050"/>
            <a:ext cx="3524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buNone/>
              <a:defRPr sz="1275" b="1">
                <a:solidFill>
                  <a:srgbClr val="5EEAD4"/>
                </a:solidFill>
              </a:defRPr>
            </a:pPr>
            <a:r>
              <a:rPr sz="1275" b="1">
                <a:solidFill>
                  <a:srgbClr val="5EEAD4"/>
                </a:solidFill>
              </a:rPr>
              <a:t>듣기 (Listening) 추가 기출</a:t>
            </a:r>
          </a:p>
        </p:txBody>
      </p:sp>
      <p:sp>
        <p:nvSpPr>
          <p:cNvPr id="4" name="q-q2_l5-text">
            <a:extLst xmlns:a="http://schemas.openxmlformats.org/drawingml/2006/main">
              <a:ext uri="{FF2B5EF4-FFF2-40B4-BE49-F238E27FC236}">
                <a16:creationId xmlns:a16="http://schemas.microsoft.com/office/drawing/2014/main" id="{7FAE46D7-F12C-4952-A6EC-A32EF821DD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38200"/>
            <a:ext cx="109347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buNone/>
              <a:defRPr sz="2625" b="1">
                <a:solidFill>
                  <a:srgbClr val="FFFFFF"/>
                </a:solidFill>
              </a:defRPr>
            </a:pPr>
            <a:r>
              <a:rPr sz="2625" b="1">
                <a:solidFill>
                  <a:srgbClr val="FFFFFF"/>
                </a:solidFill>
              </a:rPr>
              <a:t>다음을 듣고 대화 내용과 일치하는 것(같은 내용)을 고르십시오.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45DA7AC-C787-4F85-9F81-4E990AEE97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09800"/>
            <a:ext cx="5400675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475569"/>
            </a:solidFill>
            <a:prstDash val="solid"/>
          </a:ln>
        </p:spPr>
      </p:sp>
      <p:sp>
        <p:nvSpPr>
          <p:cNvPr id="6" name="q-q2_l5-option-1">
            <a:extLst xmlns:a="http://schemas.openxmlformats.org/drawingml/2006/main">
              <a:ext uri="{FF2B5EF4-FFF2-40B4-BE49-F238E27FC236}">
                <a16:creationId xmlns:a16="http://schemas.microsoft.com/office/drawing/2014/main" id="{B087FA2A-72B6-48A5-B997-0911248D90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266950"/>
            <a:ext cx="50577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①  남자는 지갑에 현금이 많습니다.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5C152E1-5277-4ED5-81E4-BA64C4055F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2209800"/>
            <a:ext cx="5400675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475569"/>
            </a:solidFill>
            <a:prstDash val="solid"/>
          </a:ln>
        </p:spPr>
      </p:sp>
      <p:sp>
        <p:nvSpPr>
          <p:cNvPr id="8" name="q-q2_l5-option-2">
            <a:extLst xmlns:a="http://schemas.openxmlformats.org/drawingml/2006/main">
              <a:ext uri="{FF2B5EF4-FFF2-40B4-BE49-F238E27FC236}">
                <a16:creationId xmlns:a16="http://schemas.microsoft.com/office/drawing/2014/main" id="{0B91F97E-0041-43D5-AC6C-F49C3C61FD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5075" y="2266950"/>
            <a:ext cx="50577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②  남자는 지금 신용카드를 가지고 있습니다.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9B504C5-629C-4A00-92BA-CF6C39483E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86100"/>
            <a:ext cx="5400675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475569"/>
            </a:solidFill>
            <a:prstDash val="solid"/>
          </a:ln>
        </p:spPr>
      </p:sp>
      <p:sp>
        <p:nvSpPr>
          <p:cNvPr id="10" name="q-q2_l5-option-3">
            <a:extLst xmlns:a="http://schemas.openxmlformats.org/drawingml/2006/main">
              <a:ext uri="{FF2B5EF4-FFF2-40B4-BE49-F238E27FC236}">
                <a16:creationId xmlns:a16="http://schemas.microsoft.com/office/drawing/2014/main" id="{A873FA4A-5E79-4DD0-9C67-C602A90E0F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143250"/>
            <a:ext cx="50577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③  남자는 지갑을 찾으러 집에 갈 예정입니다.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47AB7A1-9DCD-4BEE-B6A9-5110EF48D5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3086100"/>
            <a:ext cx="5400675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475569"/>
            </a:solidFill>
            <a:prstDash val="solid"/>
          </a:ln>
        </p:spPr>
      </p:sp>
      <p:sp>
        <p:nvSpPr>
          <p:cNvPr id="12" name="q-q2_l5-option-4">
            <a:extLst xmlns:a="http://schemas.openxmlformats.org/drawingml/2006/main">
              <a:ext uri="{FF2B5EF4-FFF2-40B4-BE49-F238E27FC236}">
                <a16:creationId xmlns:a16="http://schemas.microsoft.com/office/drawing/2014/main" id="{56839235-D3A5-49E6-BC35-216967AB8D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5075" y="3143250"/>
            <a:ext cx="50577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④  여자가 남자에게 지갑을 선물해 줄 것입니다.</a:t>
            </a:r>
          </a:p>
        </p:txBody>
      </p:sp>
      <p:sp>
        <p:nvSpPr>
          <p:cNvPr id="13" name="footer-brand">
            <a:extLst xmlns:a="http://schemas.openxmlformats.org/drawingml/2006/main">
              <a:ext uri="{FF2B5EF4-FFF2-40B4-BE49-F238E27FC236}">
                <a16:creationId xmlns:a16="http://schemas.microsoft.com/office/drawing/2014/main" id="{D5D3E137-9A69-431B-A560-31A3316ACC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96050"/>
            <a:ext cx="3238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050">
                <a:solidFill>
                  <a:srgbClr val="94A3B8"/>
                </a:solidFill>
              </a:defRPr>
            </a:pPr>
            <a:r>
              <a:rPr sz="1050">
                <a:solidFill>
                  <a:srgbClr val="94A3B8"/>
                </a:solidFill>
              </a:rPr>
              <a:t>TOPIK-Edu Smart Academy</a:t>
            </a:r>
          </a:p>
        </p:txBody>
      </p:sp>
      <p:sp>
        <p:nvSpPr>
          <p:cNvPr id="14" name="footer-page">
            <a:extLst xmlns:a="http://schemas.openxmlformats.org/drawingml/2006/main">
              <a:ext uri="{FF2B5EF4-FFF2-40B4-BE49-F238E27FC236}">
                <a16:creationId xmlns:a16="http://schemas.microsoft.com/office/drawing/2014/main" id="{99D8BD52-D824-48E8-8441-114EC7C12D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6496050"/>
            <a:ext cx="2171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buNone/>
              <a:defRPr sz="1050">
                <a:solidFill>
                  <a:srgbClr val="94A3B8"/>
                </a:solidFill>
              </a:defRPr>
            </a:pPr>
            <a:r>
              <a:rPr sz="1050">
                <a:solidFill>
                  <a:srgbClr val="94A3B8"/>
                </a:solidFill>
              </a:rPr>
              <a:t>2회차 · 10/13</a:t>
            </a:r>
          </a:p>
        </p:txBody>
      </p:sp>
    </p:spTree>
    <p:extLst>
      <p:ext uri="{BB962C8B-B14F-4D97-AF65-F5344CB8AC3E}">
        <p14:creationId xmlns:p14="http://schemas.microsoft.com/office/powerpoint/2010/main" val="1734303480"/>
      </p:ext>
    </p:extLst>
  </p:cSld>
</p:sld>
</file>

<file path=ppt/slides/slide32.xml><?xml version="1.0" encoding="utf-8"?>
<p:sld xmlns:p="http://schemas.openxmlformats.org/presentationml/2006/main">
  <p:cSld>
    <p:bg>
      <p:bgPr>
        <a:solidFill xmlns:a="http://schemas.openxmlformats.org/drawingml/2006/main">
          <a:srgbClr val="0F17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5D297D7-29EF-4902-92F0-353951C654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228600"/>
            <a:ext cx="11468100" cy="6191250"/>
          </a:xfrm>
          <a:prstGeom xmlns:a="http://schemas.openxmlformats.org/drawingml/2006/main" prst="roundRect">
            <a:avLst>
              <a:gd name="adj" fmla="val 1846"/>
            </a:avLst>
          </a:prstGeom>
          <a:solidFill xmlns:a="http://schemas.openxmlformats.org/drawingml/2006/main">
            <a:srgbClr val="1E293B"/>
          </a:solidFill>
          <a:ln xmlns:a="http://schemas.openxmlformats.org/drawingml/2006/main" w="9525">
            <a:solidFill>
              <a:srgbClr val="334155"/>
            </a:solidFill>
            <a:prstDash val="solid"/>
          </a:ln>
        </p:spPr>
      </p:sp>
      <p:sp>
        <p:nvSpPr>
          <p:cNvPr id="2" name="q-q2_r6-number">
            <a:extLst xmlns:a="http://schemas.openxmlformats.org/drawingml/2006/main">
              <a:ext uri="{FF2B5EF4-FFF2-40B4-BE49-F238E27FC236}">
                <a16:creationId xmlns:a16="http://schemas.microsoft.com/office/drawing/2014/main" id="{7D0870D8-720D-4997-A70C-1A03B22A53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00050"/>
            <a:ext cx="1714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C7D2FE"/>
                </a:solidFill>
              </a:defRPr>
            </a:pPr>
            <a:r>
              <a:rPr sz="1350" b="1">
                <a:solidFill>
                  <a:srgbClr val="C7D2FE"/>
                </a:solidFill>
              </a:rPr>
              <a:t>문제 11</a:t>
            </a:r>
          </a:p>
        </p:txBody>
      </p:sp>
      <p:sp>
        <p:nvSpPr>
          <p:cNvPr id="3" name="q-q2_r6-category">
            <a:extLst xmlns:a="http://schemas.openxmlformats.org/drawingml/2006/main">
              <a:ext uri="{FF2B5EF4-FFF2-40B4-BE49-F238E27FC236}">
                <a16:creationId xmlns:a16="http://schemas.microsoft.com/office/drawing/2014/main" id="{5C22BDEA-A7E5-449F-93D3-23F715F2F6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400050"/>
            <a:ext cx="3524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buNone/>
              <a:defRPr sz="1275" b="1">
                <a:solidFill>
                  <a:srgbClr val="5EEAD4"/>
                </a:solidFill>
              </a:defRPr>
            </a:pPr>
            <a:r>
              <a:rPr sz="1275" b="1">
                <a:solidFill>
                  <a:srgbClr val="5EEAD4"/>
                </a:solidFill>
              </a:rPr>
              <a:t>읽기 (Reading) 추가 실전</a:t>
            </a:r>
          </a:p>
        </p:txBody>
      </p:sp>
      <p:sp>
        <p:nvSpPr>
          <p:cNvPr id="4" name="q-q2_r6-text">
            <a:extLst xmlns:a="http://schemas.openxmlformats.org/drawingml/2006/main">
              <a:ext uri="{FF2B5EF4-FFF2-40B4-BE49-F238E27FC236}">
                <a16:creationId xmlns:a16="http://schemas.microsoft.com/office/drawing/2014/main" id="{CA4EDC20-2FF2-4937-9C73-B04E62B084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38200"/>
            <a:ext cx="109347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buNone/>
              <a:defRPr sz="2625" b="1">
                <a:solidFill>
                  <a:srgbClr val="FFFFFF"/>
                </a:solidFill>
              </a:defRPr>
            </a:pPr>
            <a:r>
              <a:rPr sz="2625" b="1">
                <a:solidFill>
                  <a:srgbClr val="FFFFFF"/>
                </a:solidFill>
              </a:rPr>
              <a:t>다음 광고의 내용과 같은 것을 고르십시오.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D3CF839-2177-4A9F-BF27-3578F178CB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19250"/>
            <a:ext cx="10934700" cy="1381125"/>
          </a:xfrm>
          <a:prstGeom xmlns:a="http://schemas.openxmlformats.org/drawingml/2006/main" prst="roundRect">
            <a:avLst>
              <a:gd name="adj" fmla="val 8276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475569"/>
            </a:solidFill>
            <a:prstDash val="solid"/>
          </a:ln>
        </p:spPr>
      </p:sp>
      <p:sp>
        <p:nvSpPr>
          <p:cNvPr id="6" name="q-q2_r6-passage">
            <a:extLst xmlns:a="http://schemas.openxmlformats.org/drawingml/2006/main">
              <a:ext uri="{FF2B5EF4-FFF2-40B4-BE49-F238E27FC236}">
                <a16:creationId xmlns:a16="http://schemas.microsoft.com/office/drawing/2014/main" id="{95E299AB-6B74-4F0D-8B1E-24EA2C0654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733550"/>
            <a:ext cx="10553700" cy="1152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buNone/>
              <a:defRPr sz="1875">
                <a:solidFill>
                  <a:srgbClr val="FFFFFF"/>
                </a:solidFill>
              </a:defRPr>
            </a:pPr>
            <a:r>
              <a:rPr sz="1875">
                <a:solidFill>
                  <a:srgbClr val="FFFFFF"/>
                </a:solidFill>
              </a:rPr>
              <a:t>[여름 신발 할인]</a:t>
            </a:r>
          </a:p>
          <a:p xmlns:a="http://schemas.openxmlformats.org/drawingml/2006/main">
            <a:pPr>
              <a:buNone/>
              <a:defRPr sz="1875">
                <a:solidFill>
                  <a:srgbClr val="FFFFFF"/>
                </a:solidFill>
              </a:defRPr>
            </a:pPr>
            <a:r>
              <a:rPr sz="1875">
                <a:solidFill>
                  <a:srgbClr val="FFFFFF"/>
                </a:solidFill>
              </a:rPr>
              <a:t>운동화 30,000원 → 20,000원</a:t>
            </a:r>
          </a:p>
          <a:p xmlns:a="http://schemas.openxmlformats.org/drawingml/2006/main">
            <a:pPr>
              <a:buNone/>
              <a:defRPr sz="1875">
                <a:solidFill>
                  <a:srgbClr val="FFFFFF"/>
                </a:solidFill>
              </a:defRPr>
            </a:pPr>
            <a:r>
              <a:rPr sz="1875">
                <a:solidFill>
                  <a:srgbClr val="FFFFFF"/>
                </a:solidFill>
              </a:rPr>
              <a:t>이번 주 일요일까지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2FF411F-E79D-40C8-BC0F-A39C237206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19450"/>
            <a:ext cx="5400675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475569"/>
            </a:solidFill>
            <a:prstDash val="solid"/>
          </a:ln>
        </p:spPr>
      </p:sp>
      <p:sp>
        <p:nvSpPr>
          <p:cNvPr id="8" name="q-q2_r6-option-1">
            <a:extLst xmlns:a="http://schemas.openxmlformats.org/drawingml/2006/main">
              <a:ext uri="{FF2B5EF4-FFF2-40B4-BE49-F238E27FC236}">
                <a16:creationId xmlns:a16="http://schemas.microsoft.com/office/drawing/2014/main" id="{73B3B226-106E-45A2-8754-CB792F0349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276600"/>
            <a:ext cx="50577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①  운동화는 삼만 원입니다.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36E18D0-12E8-4590-B494-879337552A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3219450"/>
            <a:ext cx="5400675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475569"/>
            </a:solidFill>
            <a:prstDash val="solid"/>
          </a:ln>
        </p:spPr>
      </p:sp>
      <p:sp>
        <p:nvSpPr>
          <p:cNvPr id="10" name="q-q2_r6-option-2">
            <a:extLst xmlns:a="http://schemas.openxmlformats.org/drawingml/2006/main">
              <a:ext uri="{FF2B5EF4-FFF2-40B4-BE49-F238E27FC236}">
                <a16:creationId xmlns:a16="http://schemas.microsoft.com/office/drawing/2014/main" id="{E5033350-7782-4A40-B3ED-1AEF06B50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5075" y="3276600"/>
            <a:ext cx="50577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②  할인은 다음 달까지입니다.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7BF97E5-3EC9-44DC-A3EB-B15F8A2584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95750"/>
            <a:ext cx="5400675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475569"/>
            </a:solidFill>
            <a:prstDash val="solid"/>
          </a:ln>
        </p:spPr>
      </p:sp>
      <p:sp>
        <p:nvSpPr>
          <p:cNvPr id="12" name="q-q2_r6-option-3">
            <a:extLst xmlns:a="http://schemas.openxmlformats.org/drawingml/2006/main">
              <a:ext uri="{FF2B5EF4-FFF2-40B4-BE49-F238E27FC236}">
                <a16:creationId xmlns:a16="http://schemas.microsoft.com/office/drawing/2014/main" id="{C5A28A66-BCC2-4020-BF72-F9A95FA0D0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152900"/>
            <a:ext cx="50577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③  운동화를 이만 원에 살 수 있습니다.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38E9358-8A0E-443C-9F8A-17DB35576F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4095750"/>
            <a:ext cx="5400675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475569"/>
            </a:solidFill>
            <a:prstDash val="solid"/>
          </a:ln>
        </p:spPr>
      </p:sp>
      <p:sp>
        <p:nvSpPr>
          <p:cNvPr id="14" name="q-q2_r6-option-4">
            <a:extLst xmlns:a="http://schemas.openxmlformats.org/drawingml/2006/main">
              <a:ext uri="{FF2B5EF4-FFF2-40B4-BE49-F238E27FC236}">
                <a16:creationId xmlns:a16="http://schemas.microsoft.com/office/drawing/2014/main" id="{3D21FE91-E5E9-44CF-9078-A22175F678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5075" y="4152900"/>
            <a:ext cx="50577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④  일요일에는 가게가 쉽니다.</a:t>
            </a:r>
          </a:p>
        </p:txBody>
      </p:sp>
      <p:sp>
        <p:nvSpPr>
          <p:cNvPr id="15" name="footer-brand">
            <a:extLst xmlns:a="http://schemas.openxmlformats.org/drawingml/2006/main">
              <a:ext uri="{FF2B5EF4-FFF2-40B4-BE49-F238E27FC236}">
                <a16:creationId xmlns:a16="http://schemas.microsoft.com/office/drawing/2014/main" id="{67F326A2-820E-44ED-9B78-1167DB8D21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96050"/>
            <a:ext cx="3238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050">
                <a:solidFill>
                  <a:srgbClr val="94A3B8"/>
                </a:solidFill>
              </a:defRPr>
            </a:pPr>
            <a:r>
              <a:rPr sz="1050">
                <a:solidFill>
                  <a:srgbClr val="94A3B8"/>
                </a:solidFill>
              </a:rPr>
              <a:t>TOPIK-Edu Smart Academy</a:t>
            </a:r>
          </a:p>
        </p:txBody>
      </p:sp>
      <p:sp>
        <p:nvSpPr>
          <p:cNvPr id="16" name="footer-page">
            <a:extLst xmlns:a="http://schemas.openxmlformats.org/drawingml/2006/main">
              <a:ext uri="{FF2B5EF4-FFF2-40B4-BE49-F238E27FC236}">
                <a16:creationId xmlns:a16="http://schemas.microsoft.com/office/drawing/2014/main" id="{DA49453C-D76D-40BE-9296-6D3E650B5D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6496050"/>
            <a:ext cx="2171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buNone/>
              <a:defRPr sz="1050">
                <a:solidFill>
                  <a:srgbClr val="94A3B8"/>
                </a:solidFill>
              </a:defRPr>
            </a:pPr>
            <a:r>
              <a:rPr sz="1050">
                <a:solidFill>
                  <a:srgbClr val="94A3B8"/>
                </a:solidFill>
              </a:rPr>
              <a:t>2회차 · 11/13</a:t>
            </a:r>
          </a:p>
        </p:txBody>
      </p:sp>
    </p:spTree>
    <p:extLst>
      <p:ext uri="{BB962C8B-B14F-4D97-AF65-F5344CB8AC3E}">
        <p14:creationId xmlns:p14="http://schemas.microsoft.com/office/powerpoint/2010/main" val="1335796929"/>
      </p:ext>
    </p:extLst>
  </p:cSld>
</p:sld>
</file>

<file path=ppt/slides/slide33.xml><?xml version="1.0" encoding="utf-8"?>
<p:sld xmlns:p="http://schemas.openxmlformats.org/presentationml/2006/main">
  <p:cSld>
    <p:bg>
      <p:bgPr>
        <a:solidFill xmlns:a="http://schemas.openxmlformats.org/drawingml/2006/main">
          <a:srgbClr val="0F17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1DD4198-9A5D-4F47-9BB6-ADE0C9981D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228600"/>
            <a:ext cx="11468100" cy="6191250"/>
          </a:xfrm>
          <a:prstGeom xmlns:a="http://schemas.openxmlformats.org/drawingml/2006/main" prst="roundRect">
            <a:avLst>
              <a:gd name="adj" fmla="val 1846"/>
            </a:avLst>
          </a:prstGeom>
          <a:solidFill xmlns:a="http://schemas.openxmlformats.org/drawingml/2006/main">
            <a:srgbClr val="1E293B"/>
          </a:solidFill>
          <a:ln xmlns:a="http://schemas.openxmlformats.org/drawingml/2006/main" w="9525">
            <a:solidFill>
              <a:srgbClr val="334155"/>
            </a:solidFill>
            <a:prstDash val="solid"/>
          </a:ln>
        </p:spPr>
      </p:sp>
      <p:sp>
        <p:nvSpPr>
          <p:cNvPr id="2" name="q-q2_r7-number">
            <a:extLst xmlns:a="http://schemas.openxmlformats.org/drawingml/2006/main">
              <a:ext uri="{FF2B5EF4-FFF2-40B4-BE49-F238E27FC236}">
                <a16:creationId xmlns:a16="http://schemas.microsoft.com/office/drawing/2014/main" id="{E9CF0C34-D242-4311-9D79-4CBBB7C727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00050"/>
            <a:ext cx="1714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C7D2FE"/>
                </a:solidFill>
              </a:defRPr>
            </a:pPr>
            <a:r>
              <a:rPr sz="1350" b="1">
                <a:solidFill>
                  <a:srgbClr val="C7D2FE"/>
                </a:solidFill>
              </a:rPr>
              <a:t>문제 12</a:t>
            </a:r>
          </a:p>
        </p:txBody>
      </p:sp>
      <p:sp>
        <p:nvSpPr>
          <p:cNvPr id="3" name="q-q2_r7-category">
            <a:extLst xmlns:a="http://schemas.openxmlformats.org/drawingml/2006/main">
              <a:ext uri="{FF2B5EF4-FFF2-40B4-BE49-F238E27FC236}">
                <a16:creationId xmlns:a16="http://schemas.microsoft.com/office/drawing/2014/main" id="{87CE063A-279E-4C04-8B3C-D1A680D362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400050"/>
            <a:ext cx="3524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buNone/>
              <a:defRPr sz="1275" b="1">
                <a:solidFill>
                  <a:srgbClr val="5EEAD4"/>
                </a:solidFill>
              </a:defRPr>
            </a:pPr>
            <a:r>
              <a:rPr sz="1275" b="1">
                <a:solidFill>
                  <a:srgbClr val="5EEAD4"/>
                </a:solidFill>
              </a:rPr>
              <a:t>읽기 (Reading) 추가 실전</a:t>
            </a:r>
          </a:p>
        </p:txBody>
      </p:sp>
      <p:sp>
        <p:nvSpPr>
          <p:cNvPr id="4" name="q-q2_r7-text">
            <a:extLst xmlns:a="http://schemas.openxmlformats.org/drawingml/2006/main">
              <a:ext uri="{FF2B5EF4-FFF2-40B4-BE49-F238E27FC236}">
                <a16:creationId xmlns:a16="http://schemas.microsoft.com/office/drawing/2014/main" id="{FC5603B2-5BCD-4EA7-B2A6-A28A43AAC1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38200"/>
            <a:ext cx="109347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buNone/>
              <a:defRPr sz="2625" b="1">
                <a:solidFill>
                  <a:srgbClr val="FFFFFF"/>
                </a:solidFill>
              </a:defRPr>
            </a:pPr>
            <a:r>
              <a:rPr sz="2625" b="1">
                <a:solidFill>
                  <a:srgbClr val="FFFFFF"/>
                </a:solidFill>
              </a:rPr>
              <a:t>다음 빈칸에 들어갈 가장 알맞은 말을 고르십시오.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5F3917A-C35A-451A-9A7E-AB649537E5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19250"/>
            <a:ext cx="10934700" cy="1381125"/>
          </a:xfrm>
          <a:prstGeom xmlns:a="http://schemas.openxmlformats.org/drawingml/2006/main" prst="roundRect">
            <a:avLst>
              <a:gd name="adj" fmla="val 8276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475569"/>
            </a:solidFill>
            <a:prstDash val="solid"/>
          </a:ln>
        </p:spPr>
      </p:sp>
      <p:sp>
        <p:nvSpPr>
          <p:cNvPr id="6" name="q-q2_r7-passage">
            <a:extLst xmlns:a="http://schemas.openxmlformats.org/drawingml/2006/main">
              <a:ext uri="{FF2B5EF4-FFF2-40B4-BE49-F238E27FC236}">
                <a16:creationId xmlns:a16="http://schemas.microsoft.com/office/drawing/2014/main" id="{A724E1DE-8EDC-4821-9097-5CB04DFF18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733550"/>
            <a:ext cx="10553700" cy="1152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buNone/>
              <a:defRPr sz="1875">
                <a:solidFill>
                  <a:srgbClr val="FFFFFF"/>
                </a:solidFill>
              </a:defRPr>
            </a:pPr>
            <a:r>
              <a:rPr sz="1875">
                <a:solidFill>
                  <a:srgbClr val="FFFFFF"/>
                </a:solidFill>
              </a:rPr>
              <a:t>카페에서 커피 두 (     )을 주문했습니다.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C19E604-D6BD-4EBA-9EB5-633CA8C0CC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19450"/>
            <a:ext cx="5400675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475569"/>
            </a:solidFill>
            <a:prstDash val="solid"/>
          </a:ln>
        </p:spPr>
      </p:sp>
      <p:sp>
        <p:nvSpPr>
          <p:cNvPr id="8" name="q-q2_r7-option-1">
            <a:extLst xmlns:a="http://schemas.openxmlformats.org/drawingml/2006/main">
              <a:ext uri="{FF2B5EF4-FFF2-40B4-BE49-F238E27FC236}">
                <a16:creationId xmlns:a16="http://schemas.microsoft.com/office/drawing/2014/main" id="{9A81E0E0-E5A1-4B59-8AC8-21111E1A0E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276600"/>
            <a:ext cx="50577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①  명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3509352-2AE7-4C12-96A5-7B3A6E7047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3219450"/>
            <a:ext cx="5400675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475569"/>
            </a:solidFill>
            <a:prstDash val="solid"/>
          </a:ln>
        </p:spPr>
      </p:sp>
      <p:sp>
        <p:nvSpPr>
          <p:cNvPr id="10" name="q-q2_r7-option-2">
            <a:extLst xmlns:a="http://schemas.openxmlformats.org/drawingml/2006/main">
              <a:ext uri="{FF2B5EF4-FFF2-40B4-BE49-F238E27FC236}">
                <a16:creationId xmlns:a16="http://schemas.microsoft.com/office/drawing/2014/main" id="{CDC21990-A706-4D4E-AD25-92DC207883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5075" y="3276600"/>
            <a:ext cx="50577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②  잔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950283B-3EF7-47A1-8980-DEE4AE1F7E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95750"/>
            <a:ext cx="5400675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475569"/>
            </a:solidFill>
            <a:prstDash val="solid"/>
          </a:ln>
        </p:spPr>
      </p:sp>
      <p:sp>
        <p:nvSpPr>
          <p:cNvPr id="12" name="q-q2_r7-option-3">
            <a:extLst xmlns:a="http://schemas.openxmlformats.org/drawingml/2006/main">
              <a:ext uri="{FF2B5EF4-FFF2-40B4-BE49-F238E27FC236}">
                <a16:creationId xmlns:a16="http://schemas.microsoft.com/office/drawing/2014/main" id="{E1B1CAE8-A99D-404D-9EAA-2BD9A0104E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152900"/>
            <a:ext cx="50577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③  켤레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DF089EB-A0CD-45DC-9E6F-E63C6EFA7B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4095750"/>
            <a:ext cx="5400675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475569"/>
            </a:solidFill>
            <a:prstDash val="solid"/>
          </a:ln>
        </p:spPr>
      </p:sp>
      <p:sp>
        <p:nvSpPr>
          <p:cNvPr id="14" name="q-q2_r7-option-4">
            <a:extLst xmlns:a="http://schemas.openxmlformats.org/drawingml/2006/main">
              <a:ext uri="{FF2B5EF4-FFF2-40B4-BE49-F238E27FC236}">
                <a16:creationId xmlns:a16="http://schemas.microsoft.com/office/drawing/2014/main" id="{609121FD-DC80-4AA9-B4C0-B3FB883AAF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5075" y="4152900"/>
            <a:ext cx="50577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④  장</a:t>
            </a:r>
          </a:p>
        </p:txBody>
      </p:sp>
      <p:sp>
        <p:nvSpPr>
          <p:cNvPr id="15" name="footer-brand">
            <a:extLst xmlns:a="http://schemas.openxmlformats.org/drawingml/2006/main">
              <a:ext uri="{FF2B5EF4-FFF2-40B4-BE49-F238E27FC236}">
                <a16:creationId xmlns:a16="http://schemas.microsoft.com/office/drawing/2014/main" id="{EB26BCD7-12F4-48AB-951F-10C70CD765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96050"/>
            <a:ext cx="3238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050">
                <a:solidFill>
                  <a:srgbClr val="94A3B8"/>
                </a:solidFill>
              </a:defRPr>
            </a:pPr>
            <a:r>
              <a:rPr sz="1050">
                <a:solidFill>
                  <a:srgbClr val="94A3B8"/>
                </a:solidFill>
              </a:rPr>
              <a:t>TOPIK-Edu Smart Academy</a:t>
            </a:r>
          </a:p>
        </p:txBody>
      </p:sp>
      <p:sp>
        <p:nvSpPr>
          <p:cNvPr id="16" name="footer-page">
            <a:extLst xmlns:a="http://schemas.openxmlformats.org/drawingml/2006/main">
              <a:ext uri="{FF2B5EF4-FFF2-40B4-BE49-F238E27FC236}">
                <a16:creationId xmlns:a16="http://schemas.microsoft.com/office/drawing/2014/main" id="{DA7BCBCF-0BC8-45FA-9263-6500717F59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6496050"/>
            <a:ext cx="2171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buNone/>
              <a:defRPr sz="1050">
                <a:solidFill>
                  <a:srgbClr val="94A3B8"/>
                </a:solidFill>
              </a:defRPr>
            </a:pPr>
            <a:r>
              <a:rPr sz="1050">
                <a:solidFill>
                  <a:srgbClr val="94A3B8"/>
                </a:solidFill>
              </a:rPr>
              <a:t>2회차 · 12/13</a:t>
            </a:r>
          </a:p>
        </p:txBody>
      </p:sp>
    </p:spTree>
    <p:extLst>
      <p:ext uri="{BB962C8B-B14F-4D97-AF65-F5344CB8AC3E}">
        <p14:creationId xmlns:p14="http://schemas.microsoft.com/office/powerpoint/2010/main" val="1818970760"/>
      </p:ext>
    </p:extLst>
  </p:cSld>
</p:sld>
</file>

<file path=ppt/slides/slide34.xml><?xml version="1.0" encoding="utf-8"?>
<p:sld xmlns:p="http://schemas.openxmlformats.org/presentationml/2006/main">
  <p:cSld>
    <p:bg>
      <p:bgPr>
        <a:solidFill xmlns:a="http://schemas.openxmlformats.org/drawingml/2006/main">
          <a:srgbClr val="0F17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E679BBA-41AC-43A3-962C-1A0A86926E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228600"/>
            <a:ext cx="11468100" cy="6191250"/>
          </a:xfrm>
          <a:prstGeom xmlns:a="http://schemas.openxmlformats.org/drawingml/2006/main" prst="roundRect">
            <a:avLst>
              <a:gd name="adj" fmla="val 1846"/>
            </a:avLst>
          </a:prstGeom>
          <a:solidFill xmlns:a="http://schemas.openxmlformats.org/drawingml/2006/main">
            <a:srgbClr val="1E293B"/>
          </a:solidFill>
          <a:ln xmlns:a="http://schemas.openxmlformats.org/drawingml/2006/main" w="9525">
            <a:solidFill>
              <a:srgbClr val="334155"/>
            </a:solidFill>
            <a:prstDash val="solid"/>
          </a:ln>
        </p:spPr>
      </p:sp>
      <p:sp>
        <p:nvSpPr>
          <p:cNvPr id="2" name="q-q2_l6-number">
            <a:extLst xmlns:a="http://schemas.openxmlformats.org/drawingml/2006/main">
              <a:ext uri="{FF2B5EF4-FFF2-40B4-BE49-F238E27FC236}">
                <a16:creationId xmlns:a16="http://schemas.microsoft.com/office/drawing/2014/main" id="{24D3534F-65BB-4A2F-8BD3-5EABD5236D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00050"/>
            <a:ext cx="1714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C7D2FE"/>
                </a:solidFill>
              </a:defRPr>
            </a:pPr>
            <a:r>
              <a:rPr sz="1350" b="1">
                <a:solidFill>
                  <a:srgbClr val="C7D2FE"/>
                </a:solidFill>
              </a:rPr>
              <a:t>문제 13</a:t>
            </a:r>
          </a:p>
        </p:txBody>
      </p:sp>
      <p:sp>
        <p:nvSpPr>
          <p:cNvPr id="3" name="q-q2_l6-category">
            <a:extLst xmlns:a="http://schemas.openxmlformats.org/drawingml/2006/main">
              <a:ext uri="{FF2B5EF4-FFF2-40B4-BE49-F238E27FC236}">
                <a16:creationId xmlns:a16="http://schemas.microsoft.com/office/drawing/2014/main" id="{6C1E14E0-98DE-498A-B447-62D776A484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400050"/>
            <a:ext cx="3524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buNone/>
              <a:defRPr sz="1275" b="1">
                <a:solidFill>
                  <a:srgbClr val="5EEAD4"/>
                </a:solidFill>
              </a:defRPr>
            </a:pPr>
            <a:r>
              <a:rPr sz="1275" b="1">
                <a:solidFill>
                  <a:srgbClr val="5EEAD4"/>
                </a:solidFill>
              </a:rPr>
              <a:t>듣기 (Listening) 추가 실전</a:t>
            </a:r>
          </a:p>
        </p:txBody>
      </p:sp>
      <p:sp>
        <p:nvSpPr>
          <p:cNvPr id="4" name="q-q2_l6-text">
            <a:extLst xmlns:a="http://schemas.openxmlformats.org/drawingml/2006/main">
              <a:ext uri="{FF2B5EF4-FFF2-40B4-BE49-F238E27FC236}">
                <a16:creationId xmlns:a16="http://schemas.microsoft.com/office/drawing/2014/main" id="{C04CB39E-025B-4C91-9387-42CD21E48F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38200"/>
            <a:ext cx="109347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buNone/>
              <a:defRPr sz="2625" b="1">
                <a:solidFill>
                  <a:srgbClr val="FFFFFF"/>
                </a:solidFill>
              </a:defRPr>
            </a:pPr>
            <a:r>
              <a:rPr sz="2625" b="1">
                <a:solidFill>
                  <a:srgbClr val="FFFFFF"/>
                </a:solidFill>
              </a:rPr>
              <a:t>다음을 듣고 여자가 할 행동으로 가장 알맞은 것을 고르십시오.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2961324-CB10-42B1-879A-73C9EAEC74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09800"/>
            <a:ext cx="5400675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475569"/>
            </a:solidFill>
            <a:prstDash val="solid"/>
          </a:ln>
        </p:spPr>
      </p:sp>
      <p:sp>
        <p:nvSpPr>
          <p:cNvPr id="6" name="q-q2_l6-option-1">
            <a:extLst xmlns:a="http://schemas.openxmlformats.org/drawingml/2006/main">
              <a:ext uri="{FF2B5EF4-FFF2-40B4-BE49-F238E27FC236}">
                <a16:creationId xmlns:a16="http://schemas.microsoft.com/office/drawing/2014/main" id="{B6923272-1973-46B9-B0AC-FE88A8FA0F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266950"/>
            <a:ext cx="50577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①  신발값을 깎습니다.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C29625A-0467-4651-8304-C37B08B150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2209800"/>
            <a:ext cx="5400675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475569"/>
            </a:solidFill>
            <a:prstDash val="solid"/>
          </a:ln>
        </p:spPr>
      </p:sp>
      <p:sp>
        <p:nvSpPr>
          <p:cNvPr id="8" name="q-q2_l6-option-2">
            <a:extLst xmlns:a="http://schemas.openxmlformats.org/drawingml/2006/main">
              <a:ext uri="{FF2B5EF4-FFF2-40B4-BE49-F238E27FC236}">
                <a16:creationId xmlns:a16="http://schemas.microsoft.com/office/drawing/2014/main" id="{F340026F-3DD3-4399-BEE4-215C9C84EE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5075" y="2266950"/>
            <a:ext cx="50577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②  신발을 더 작은 것으로 바꿉니다.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1FE7D57-2093-4414-A957-B571C4F357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86100"/>
            <a:ext cx="5400675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475569"/>
            </a:solidFill>
            <a:prstDash val="solid"/>
          </a:ln>
        </p:spPr>
      </p:sp>
      <p:sp>
        <p:nvSpPr>
          <p:cNvPr id="10" name="q-q2_l6-option-3">
            <a:extLst xmlns:a="http://schemas.openxmlformats.org/drawingml/2006/main">
              <a:ext uri="{FF2B5EF4-FFF2-40B4-BE49-F238E27FC236}">
                <a16:creationId xmlns:a16="http://schemas.microsoft.com/office/drawing/2014/main" id="{B0818D80-7A38-4234-804A-0ECE5A7504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143250"/>
            <a:ext cx="50577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③  큰 사이즈 신발을 받습니다.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F4944BA-CF68-4F87-9517-9C7774D544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3086100"/>
            <a:ext cx="5400675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475569"/>
            </a:solidFill>
            <a:prstDash val="solid"/>
          </a:ln>
        </p:spPr>
      </p:sp>
      <p:sp>
        <p:nvSpPr>
          <p:cNvPr id="12" name="q-q2_l6-option-4">
            <a:extLst xmlns:a="http://schemas.openxmlformats.org/drawingml/2006/main">
              <a:ext uri="{FF2B5EF4-FFF2-40B4-BE49-F238E27FC236}">
                <a16:creationId xmlns:a16="http://schemas.microsoft.com/office/drawing/2014/main" id="{8FD7218F-E275-4E05-AE01-AFD41ABF05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5075" y="3143250"/>
            <a:ext cx="50577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④  신발을 빌립니다.</a:t>
            </a:r>
          </a:p>
        </p:txBody>
      </p:sp>
      <p:sp>
        <p:nvSpPr>
          <p:cNvPr id="13" name="footer-brand">
            <a:extLst xmlns:a="http://schemas.openxmlformats.org/drawingml/2006/main">
              <a:ext uri="{FF2B5EF4-FFF2-40B4-BE49-F238E27FC236}">
                <a16:creationId xmlns:a16="http://schemas.microsoft.com/office/drawing/2014/main" id="{A55179BB-6E01-4194-AF3F-274D4814BC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96050"/>
            <a:ext cx="3238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050">
                <a:solidFill>
                  <a:srgbClr val="94A3B8"/>
                </a:solidFill>
              </a:defRPr>
            </a:pPr>
            <a:r>
              <a:rPr sz="1050">
                <a:solidFill>
                  <a:srgbClr val="94A3B8"/>
                </a:solidFill>
              </a:rPr>
              <a:t>TOPIK-Edu Smart Academy</a:t>
            </a:r>
          </a:p>
        </p:txBody>
      </p:sp>
      <p:sp>
        <p:nvSpPr>
          <p:cNvPr id="14" name="footer-page">
            <a:extLst xmlns:a="http://schemas.openxmlformats.org/drawingml/2006/main">
              <a:ext uri="{FF2B5EF4-FFF2-40B4-BE49-F238E27FC236}">
                <a16:creationId xmlns:a16="http://schemas.microsoft.com/office/drawing/2014/main" id="{1879D3D0-01F6-4964-BDBB-C25D027606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6496050"/>
            <a:ext cx="2171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buNone/>
              <a:defRPr sz="1050">
                <a:solidFill>
                  <a:srgbClr val="94A3B8"/>
                </a:solidFill>
              </a:defRPr>
            </a:pPr>
            <a:r>
              <a:rPr sz="1050">
                <a:solidFill>
                  <a:srgbClr val="94A3B8"/>
                </a:solidFill>
              </a:rPr>
              <a:t>2회차 · 13/13</a:t>
            </a:r>
          </a:p>
        </p:txBody>
      </p:sp>
    </p:spTree>
    <p:extLst>
      <p:ext uri="{BB962C8B-B14F-4D97-AF65-F5344CB8AC3E}">
        <p14:creationId xmlns:p14="http://schemas.microsoft.com/office/powerpoint/2010/main" val="1166909644"/>
      </p:ext>
    </p:extLst>
  </p:cSld>
</p:sld>
</file>

<file path=ppt/slides/slide35.xml><?xml version="1.0" encoding="utf-8"?>
<p:sld xmlns:p="http://schemas.openxmlformats.org/presentationml/2006/main">
  <p:cSld>
    <p:bg>
      <p:bgPr>
        <a:solidFill xmlns:a="http://schemas.openxmlformats.org/drawingml/2006/main">
          <a:srgbClr val="0F17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session-3-kicker">
            <a:extLst xmlns:a="http://schemas.openxmlformats.org/drawingml/2006/main">
              <a:ext uri="{FF2B5EF4-FFF2-40B4-BE49-F238E27FC236}">
                <a16:creationId xmlns:a16="http://schemas.microsoft.com/office/drawing/2014/main" id="{86F29007-5818-4E22-95D5-6A9BCE0F6A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876300"/>
            <a:ext cx="4286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2100" b="1">
                <a:solidFill>
                  <a:srgbClr val="67E8F9"/>
                </a:solidFill>
              </a:defRPr>
            </a:pPr>
            <a:r>
              <a:rPr sz="2100" b="1">
                <a:solidFill>
                  <a:srgbClr val="67E8F9"/>
                </a:solidFill>
              </a:rPr>
              <a:t>SESSION 03</a:t>
            </a:r>
          </a:p>
        </p:txBody>
      </p:sp>
      <p:sp>
        <p:nvSpPr>
          <p:cNvPr id="2" name="session-3-title">
            <a:extLst xmlns:a="http://schemas.openxmlformats.org/drawingml/2006/main">
              <a:ext uri="{FF2B5EF4-FFF2-40B4-BE49-F238E27FC236}">
                <a16:creationId xmlns:a16="http://schemas.microsoft.com/office/drawing/2014/main" id="{3DB96BBD-DCB1-4B7F-A559-6BAA5B118D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676400"/>
            <a:ext cx="105727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3750" b="1">
                <a:solidFill>
                  <a:srgbClr val="FFFFFF"/>
                </a:solidFill>
              </a:defRPr>
            </a:pPr>
            <a:r>
              <a:rPr sz="3750" b="1">
                <a:solidFill>
                  <a:srgbClr val="FFFFFF"/>
                </a:solidFill>
              </a:rPr>
              <a:t>3회차: 시간, 상태, 그리고 미래 계획</a:t>
            </a:r>
          </a:p>
        </p:txBody>
      </p:sp>
      <p:sp>
        <p:nvSpPr>
          <p:cNvPr id="3" name="session-3-subtitle">
            <a:extLst xmlns:a="http://schemas.openxmlformats.org/drawingml/2006/main">
              <a:ext uri="{FF2B5EF4-FFF2-40B4-BE49-F238E27FC236}">
                <a16:creationId xmlns:a16="http://schemas.microsoft.com/office/drawing/2014/main" id="{3AAC0AE2-7849-43ED-B07E-61586CD3EE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333750"/>
            <a:ext cx="10096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800">
                <a:solidFill>
                  <a:srgbClr val="CBD5E1"/>
                </a:solidFill>
              </a:defRPr>
            </a:pPr>
            <a:r>
              <a:rPr sz="1800">
                <a:solidFill>
                  <a:srgbClr val="CBD5E1"/>
                </a:solidFill>
              </a:rPr>
              <a:t>일정 및 약속 잡기! 날씨, 시간 관련 어휘와 미래 시제 문법을 연습합니다.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88D029C-383C-466C-A19E-58F6C31C78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762500"/>
            <a:ext cx="3429000" cy="704850"/>
          </a:xfrm>
          <a:prstGeom xmlns:a="http://schemas.openxmlformats.org/drawingml/2006/main" prst="roundRect">
            <a:avLst>
              <a:gd name="adj" fmla="val 16216"/>
            </a:avLst>
          </a:prstGeom>
          <a:solidFill xmlns:a="http://schemas.openxmlformats.org/drawingml/2006/main">
            <a:srgbClr val="1E293B"/>
          </a:solidFill>
          <a:ln xmlns:a="http://schemas.openxmlformats.org/drawingml/2006/main" w="9525">
            <a:solidFill>
              <a:srgbClr val="4F46E5"/>
            </a:solidFill>
            <a:prstDash val="solid"/>
          </a:ln>
        </p:spPr>
      </p:sp>
      <p:sp>
        <p:nvSpPr>
          <p:cNvPr id="5" name="session-3-count">
            <a:extLst xmlns:a="http://schemas.openxmlformats.org/drawingml/2006/main">
              <a:ext uri="{FF2B5EF4-FFF2-40B4-BE49-F238E27FC236}">
                <a16:creationId xmlns:a16="http://schemas.microsoft.com/office/drawing/2014/main" id="{64107329-D885-4B31-A52D-680DF0805A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886325"/>
            <a:ext cx="2952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650" b="1">
                <a:solidFill>
                  <a:srgbClr val="C7D2FE"/>
                </a:solidFill>
              </a:defRPr>
            </a:pPr>
            <a:r>
              <a:rPr sz="1650" b="1">
                <a:solidFill>
                  <a:srgbClr val="C7D2FE"/>
                </a:solidFill>
              </a:rPr>
              <a:t>13문항 · 약 2시간</a:t>
            </a:r>
          </a:p>
        </p:txBody>
      </p:sp>
      <p:sp>
        <p:nvSpPr>
          <p:cNvPr id="6" name="footer-brand">
            <a:extLst xmlns:a="http://schemas.openxmlformats.org/drawingml/2006/main">
              <a:ext uri="{FF2B5EF4-FFF2-40B4-BE49-F238E27FC236}">
                <a16:creationId xmlns:a16="http://schemas.microsoft.com/office/drawing/2014/main" id="{3DB4BFC3-B036-43FE-B0CF-B6F2D78F34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96050"/>
            <a:ext cx="3238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050">
                <a:solidFill>
                  <a:srgbClr val="94A3B8"/>
                </a:solidFill>
              </a:defRPr>
            </a:pPr>
            <a:r>
              <a:rPr sz="1050">
                <a:solidFill>
                  <a:srgbClr val="94A3B8"/>
                </a:solidFill>
              </a:rPr>
              <a:t>TOPIK-Edu Smart Academy</a:t>
            </a:r>
          </a:p>
        </p:txBody>
      </p:sp>
      <p:sp>
        <p:nvSpPr>
          <p:cNvPr id="7" name="footer-page">
            <a:extLst xmlns:a="http://schemas.openxmlformats.org/drawingml/2006/main">
              <a:ext uri="{FF2B5EF4-FFF2-40B4-BE49-F238E27FC236}">
                <a16:creationId xmlns:a16="http://schemas.microsoft.com/office/drawing/2014/main" id="{49F604DC-80CE-410A-8EE8-2475FDB751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6496050"/>
            <a:ext cx="2171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buNone/>
              <a:defRPr sz="1050">
                <a:solidFill>
                  <a:srgbClr val="94A3B8"/>
                </a:solidFill>
              </a:defRPr>
            </a:pPr>
            <a:r>
              <a:rPr sz="1050">
                <a:solidFill>
                  <a:srgbClr val="94A3B8"/>
                </a:solidFill>
              </a:rPr>
              <a:t>3회차 시작</a:t>
            </a:r>
          </a:p>
        </p:txBody>
      </p:sp>
    </p:spTree>
    <p:extLst>
      <p:ext uri="{BB962C8B-B14F-4D97-AF65-F5344CB8AC3E}">
        <p14:creationId xmlns:p14="http://schemas.microsoft.com/office/powerpoint/2010/main" val="1377089783"/>
      </p:ext>
    </p:extLst>
  </p:cSld>
</p:sld>
</file>

<file path=ppt/slides/slide36.xml><?xml version="1.0" encoding="utf-8"?>
<p:sld xmlns:p="http://schemas.openxmlformats.org/presentationml/2006/main">
  <p:cSld>
    <p:bg>
      <p:bgPr>
        <a:solidFill xmlns:a="http://schemas.openxmlformats.org/drawingml/2006/main">
          <a:srgbClr val="0F17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D9C9D70-B69C-43B2-B498-982E919867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228600"/>
            <a:ext cx="11468100" cy="6191250"/>
          </a:xfrm>
          <a:prstGeom xmlns:a="http://schemas.openxmlformats.org/drawingml/2006/main" prst="roundRect">
            <a:avLst>
              <a:gd name="adj" fmla="val 1846"/>
            </a:avLst>
          </a:prstGeom>
          <a:solidFill xmlns:a="http://schemas.openxmlformats.org/drawingml/2006/main">
            <a:srgbClr val="1E293B"/>
          </a:solidFill>
          <a:ln xmlns:a="http://schemas.openxmlformats.org/drawingml/2006/main" w="9525">
            <a:solidFill>
              <a:srgbClr val="334155"/>
            </a:solidFill>
            <a:prstDash val="solid"/>
          </a:ln>
        </p:spPr>
      </p:sp>
      <p:sp>
        <p:nvSpPr>
          <p:cNvPr id="2" name="q-q1_r2-number">
            <a:extLst xmlns:a="http://schemas.openxmlformats.org/drawingml/2006/main">
              <a:ext uri="{FF2B5EF4-FFF2-40B4-BE49-F238E27FC236}">
                <a16:creationId xmlns:a16="http://schemas.microsoft.com/office/drawing/2014/main" id="{BB3A0ABC-B92F-4971-A2BF-11CBA1D7D0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00050"/>
            <a:ext cx="1714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C7D2FE"/>
                </a:solidFill>
              </a:defRPr>
            </a:pPr>
            <a:r>
              <a:rPr sz="1350" b="1">
                <a:solidFill>
                  <a:srgbClr val="C7D2FE"/>
                </a:solidFill>
              </a:rPr>
              <a:t>문제 02</a:t>
            </a:r>
          </a:p>
        </p:txBody>
      </p:sp>
      <p:sp>
        <p:nvSpPr>
          <p:cNvPr id="3" name="q-q1_r2-category">
            <a:extLst xmlns:a="http://schemas.openxmlformats.org/drawingml/2006/main">
              <a:ext uri="{FF2B5EF4-FFF2-40B4-BE49-F238E27FC236}">
                <a16:creationId xmlns:a16="http://schemas.microsoft.com/office/drawing/2014/main" id="{AB645A83-7B09-4FEE-BF92-8B72C6E2F9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400050"/>
            <a:ext cx="3524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buNone/>
              <a:defRPr sz="1275" b="1">
                <a:solidFill>
                  <a:srgbClr val="5EEAD4"/>
                </a:solidFill>
              </a:defRPr>
            </a:pPr>
            <a:r>
              <a:rPr sz="1275" b="1">
                <a:solidFill>
                  <a:srgbClr val="5EEAD4"/>
                </a:solidFill>
              </a:rPr>
              <a:t>읽기 (Reading) 기출</a:t>
            </a:r>
          </a:p>
        </p:txBody>
      </p:sp>
      <p:sp>
        <p:nvSpPr>
          <p:cNvPr id="4" name="q-q1_r2-text">
            <a:extLst xmlns:a="http://schemas.openxmlformats.org/drawingml/2006/main">
              <a:ext uri="{FF2B5EF4-FFF2-40B4-BE49-F238E27FC236}">
                <a16:creationId xmlns:a16="http://schemas.microsoft.com/office/drawing/2014/main" id="{55318403-7D75-4BD2-9A4A-7163BCDA4B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38200"/>
            <a:ext cx="109347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buNone/>
              <a:defRPr sz="2625" b="1">
                <a:solidFill>
                  <a:srgbClr val="FFFFFF"/>
                </a:solidFill>
              </a:defRPr>
            </a:pPr>
            <a:r>
              <a:rPr sz="2625" b="1">
                <a:solidFill>
                  <a:srgbClr val="FFFFFF"/>
                </a:solidFill>
              </a:rPr>
              <a:t>다음 빈칸에 들어갈 가장 알맞은 조사를 고르십시오. (TOPIK I 기출)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7EBB5B8-B645-4668-BF4D-546BB00007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19250"/>
            <a:ext cx="10934700" cy="1381125"/>
          </a:xfrm>
          <a:prstGeom xmlns:a="http://schemas.openxmlformats.org/drawingml/2006/main" prst="roundRect">
            <a:avLst>
              <a:gd name="adj" fmla="val 8276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475569"/>
            </a:solidFill>
            <a:prstDash val="solid"/>
          </a:ln>
        </p:spPr>
      </p:sp>
      <p:sp>
        <p:nvSpPr>
          <p:cNvPr id="6" name="q-q1_r2-passage">
            <a:extLst xmlns:a="http://schemas.openxmlformats.org/drawingml/2006/main">
              <a:ext uri="{FF2B5EF4-FFF2-40B4-BE49-F238E27FC236}">
                <a16:creationId xmlns:a16="http://schemas.microsoft.com/office/drawing/2014/main" id="{0CE84012-9CAD-4AD7-A171-47EC22CB2B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733550"/>
            <a:ext cx="10553700" cy="1152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buNone/>
              <a:defRPr sz="1875">
                <a:solidFill>
                  <a:srgbClr val="FFFFFF"/>
                </a:solidFill>
              </a:defRPr>
            </a:pPr>
            <a:r>
              <a:rPr sz="1875">
                <a:solidFill>
                  <a:srgbClr val="FFFFFF"/>
                </a:solidFill>
              </a:rPr>
              <a:t>저는 오늘 시장에 갑니다. 시장에서 사과(         ) 배를 삽니다.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179CC3F-F20E-4BF0-9B7A-4FA8EAFCD2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19450"/>
            <a:ext cx="5400675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475569"/>
            </a:solidFill>
            <a:prstDash val="solid"/>
          </a:ln>
        </p:spPr>
      </p:sp>
      <p:sp>
        <p:nvSpPr>
          <p:cNvPr id="8" name="q-q1_r2-option-1">
            <a:extLst xmlns:a="http://schemas.openxmlformats.org/drawingml/2006/main">
              <a:ext uri="{FF2B5EF4-FFF2-40B4-BE49-F238E27FC236}">
                <a16:creationId xmlns:a16="http://schemas.microsoft.com/office/drawing/2014/main" id="{5C8B5226-9D2B-4BF9-885A-B256FE7ACC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276600"/>
            <a:ext cx="50577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①  가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565BFD4-AC68-41C0-9ABF-AAA6500C6F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3219450"/>
            <a:ext cx="5400675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475569"/>
            </a:solidFill>
            <a:prstDash val="solid"/>
          </a:ln>
        </p:spPr>
      </p:sp>
      <p:sp>
        <p:nvSpPr>
          <p:cNvPr id="10" name="q-q1_r2-option-2">
            <a:extLst xmlns:a="http://schemas.openxmlformats.org/drawingml/2006/main">
              <a:ext uri="{FF2B5EF4-FFF2-40B4-BE49-F238E27FC236}">
                <a16:creationId xmlns:a16="http://schemas.microsoft.com/office/drawing/2014/main" id="{E9FF776D-398D-4903-A457-E839C97F1A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5075" y="3276600"/>
            <a:ext cx="50577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②  와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4C049A0-17C4-4FA6-BB23-C414ADC25B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95750"/>
            <a:ext cx="5400675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475569"/>
            </a:solidFill>
            <a:prstDash val="solid"/>
          </a:ln>
        </p:spPr>
      </p:sp>
      <p:sp>
        <p:nvSpPr>
          <p:cNvPr id="12" name="q-q1_r2-option-3">
            <a:extLst xmlns:a="http://schemas.openxmlformats.org/drawingml/2006/main">
              <a:ext uri="{FF2B5EF4-FFF2-40B4-BE49-F238E27FC236}">
                <a16:creationId xmlns:a16="http://schemas.microsoft.com/office/drawing/2014/main" id="{7EDA89B1-ACDE-41DF-B0E3-5418B6A1BB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152900"/>
            <a:ext cx="50577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③  를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6ED8BB2-2E7E-4D6D-B058-EE3D177804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4095750"/>
            <a:ext cx="5400675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475569"/>
            </a:solidFill>
            <a:prstDash val="solid"/>
          </a:ln>
        </p:spPr>
      </p:sp>
      <p:sp>
        <p:nvSpPr>
          <p:cNvPr id="14" name="q-q1_r2-option-4">
            <a:extLst xmlns:a="http://schemas.openxmlformats.org/drawingml/2006/main">
              <a:ext uri="{FF2B5EF4-FFF2-40B4-BE49-F238E27FC236}">
                <a16:creationId xmlns:a16="http://schemas.microsoft.com/office/drawing/2014/main" id="{697E7079-0C9C-4192-BBC3-C15048D50C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5075" y="4152900"/>
            <a:ext cx="50577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④  로</a:t>
            </a:r>
          </a:p>
        </p:txBody>
      </p:sp>
      <p:sp>
        <p:nvSpPr>
          <p:cNvPr id="15" name="footer-brand">
            <a:extLst xmlns:a="http://schemas.openxmlformats.org/drawingml/2006/main">
              <a:ext uri="{FF2B5EF4-FFF2-40B4-BE49-F238E27FC236}">
                <a16:creationId xmlns:a16="http://schemas.microsoft.com/office/drawing/2014/main" id="{94C49589-E594-4B3B-A07F-B8B677C5F4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96050"/>
            <a:ext cx="3238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050">
                <a:solidFill>
                  <a:srgbClr val="94A3B8"/>
                </a:solidFill>
              </a:defRPr>
            </a:pPr>
            <a:r>
              <a:rPr sz="1050">
                <a:solidFill>
                  <a:srgbClr val="94A3B8"/>
                </a:solidFill>
              </a:rPr>
              <a:t>TOPIK-Edu Smart Academy</a:t>
            </a:r>
          </a:p>
        </p:txBody>
      </p:sp>
      <p:sp>
        <p:nvSpPr>
          <p:cNvPr id="16" name="footer-page">
            <a:extLst xmlns:a="http://schemas.openxmlformats.org/drawingml/2006/main">
              <a:ext uri="{FF2B5EF4-FFF2-40B4-BE49-F238E27FC236}">
                <a16:creationId xmlns:a16="http://schemas.microsoft.com/office/drawing/2014/main" id="{62B9622B-C90E-4AD3-8FA6-E9902C8F2C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6496050"/>
            <a:ext cx="2171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buNone/>
              <a:defRPr sz="1050">
                <a:solidFill>
                  <a:srgbClr val="94A3B8"/>
                </a:solidFill>
              </a:defRPr>
            </a:pPr>
            <a:r>
              <a:rPr sz="1050">
                <a:solidFill>
                  <a:srgbClr val="94A3B8"/>
                </a:solidFill>
              </a:rPr>
              <a:t>1회차 · 2/14</a:t>
            </a:r>
          </a:p>
        </p:txBody>
      </p:sp>
    </p:spTree>
    <p:extLst>
      <p:ext uri="{BB962C8B-B14F-4D97-AF65-F5344CB8AC3E}">
        <p14:creationId xmlns:p14="http://schemas.microsoft.com/office/powerpoint/2010/main" val="439361950"/>
      </p:ext>
    </p:extLst>
  </p:cSld>
</p:sld>
</file>

<file path=ppt/slides/slide37.xml><?xml version="1.0" encoding="utf-8"?>
<p:sld xmlns:p="http://schemas.openxmlformats.org/presentationml/2006/main">
  <p:cSld>
    <p:bg>
      <p:bgPr>
        <a:solidFill xmlns:a="http://schemas.openxmlformats.org/drawingml/2006/main">
          <a:srgbClr val="0F17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D9C9D70-B69C-43B2-B498-982E919867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228600"/>
            <a:ext cx="11468100" cy="6191250"/>
          </a:xfrm>
          <a:prstGeom xmlns:a="http://schemas.openxmlformats.org/drawingml/2006/main" prst="roundRect">
            <a:avLst>
              <a:gd name="adj" fmla="val 1846"/>
            </a:avLst>
          </a:prstGeom>
          <a:solidFill xmlns:a="http://schemas.openxmlformats.org/drawingml/2006/main">
            <a:srgbClr val="1E293B"/>
          </a:solidFill>
          <a:ln xmlns:a="http://schemas.openxmlformats.org/drawingml/2006/main" w="9525">
            <a:solidFill>
              <a:srgbClr val="334155"/>
            </a:solidFill>
            <a:prstDash val="solid"/>
          </a:ln>
        </p:spPr>
      </p:sp>
      <p:sp>
        <p:nvSpPr>
          <p:cNvPr id="2" name="q-q1_r2-number">
            <a:extLst xmlns:a="http://schemas.openxmlformats.org/drawingml/2006/main">
              <a:ext uri="{FF2B5EF4-FFF2-40B4-BE49-F238E27FC236}">
                <a16:creationId xmlns:a16="http://schemas.microsoft.com/office/drawing/2014/main" id="{BB3A0ABC-B92F-4971-A2BF-11CBA1D7D0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00050"/>
            <a:ext cx="1714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C7D2FE"/>
                </a:solidFill>
              </a:defRPr>
            </a:pPr>
            <a:r>
              <a:rPr sz="1350" b="1">
                <a:solidFill>
                  <a:srgbClr val="C7D2FE"/>
                </a:solidFill>
              </a:rPr>
              <a:t>문제 02</a:t>
            </a:r>
          </a:p>
        </p:txBody>
      </p:sp>
      <p:sp>
        <p:nvSpPr>
          <p:cNvPr id="3" name="q-q1_r2-category">
            <a:extLst xmlns:a="http://schemas.openxmlformats.org/drawingml/2006/main">
              <a:ext uri="{FF2B5EF4-FFF2-40B4-BE49-F238E27FC236}">
                <a16:creationId xmlns:a16="http://schemas.microsoft.com/office/drawing/2014/main" id="{AB645A83-7B09-4FEE-BF92-8B72C6E2F9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400050"/>
            <a:ext cx="3524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buNone/>
              <a:defRPr sz="1275" b="1">
                <a:solidFill>
                  <a:srgbClr val="5EEAD4"/>
                </a:solidFill>
              </a:defRPr>
            </a:pPr>
            <a:r>
              <a:rPr sz="1275" b="1">
                <a:solidFill>
                  <a:srgbClr val="5EEAD4"/>
                </a:solidFill>
              </a:rPr>
              <a:t>읽기 (Reading) 기출</a:t>
            </a:r>
          </a:p>
        </p:txBody>
      </p:sp>
      <p:sp>
        <p:nvSpPr>
          <p:cNvPr id="4" name="q-q1_r2-text">
            <a:extLst xmlns:a="http://schemas.openxmlformats.org/drawingml/2006/main">
              <a:ext uri="{FF2B5EF4-FFF2-40B4-BE49-F238E27FC236}">
                <a16:creationId xmlns:a16="http://schemas.microsoft.com/office/drawing/2014/main" id="{55318403-7D75-4BD2-9A4A-7163BCDA4B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38200"/>
            <a:ext cx="109347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buNone/>
              <a:defRPr sz="2625" b="1">
                <a:solidFill>
                  <a:srgbClr val="FFFFFF"/>
                </a:solidFill>
              </a:defRPr>
            </a:pPr>
            <a:r>
              <a:rPr sz="2625" b="1">
                <a:solidFill>
                  <a:srgbClr val="FFFFFF"/>
                </a:solidFill>
              </a:rPr>
              <a:t>다음 빈칸에 들어갈 가장 알맞은 조사를 고르십시오. (TOPIK I 기출)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7EBB5B8-B645-4668-BF4D-546BB00007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19250"/>
            <a:ext cx="10934700" cy="1381125"/>
          </a:xfrm>
          <a:prstGeom xmlns:a="http://schemas.openxmlformats.org/drawingml/2006/main" prst="roundRect">
            <a:avLst>
              <a:gd name="adj" fmla="val 8276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475569"/>
            </a:solidFill>
            <a:prstDash val="solid"/>
          </a:ln>
        </p:spPr>
      </p:sp>
      <p:sp>
        <p:nvSpPr>
          <p:cNvPr id="6" name="q-q1_r2-passage">
            <a:extLst xmlns:a="http://schemas.openxmlformats.org/drawingml/2006/main">
              <a:ext uri="{FF2B5EF4-FFF2-40B4-BE49-F238E27FC236}">
                <a16:creationId xmlns:a16="http://schemas.microsoft.com/office/drawing/2014/main" id="{0CE84012-9CAD-4AD7-A171-47EC22CB2B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733550"/>
            <a:ext cx="10553700" cy="1152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buNone/>
              <a:defRPr sz="1875">
                <a:solidFill>
                  <a:srgbClr val="FFFFFF"/>
                </a:solidFill>
              </a:defRPr>
            </a:pPr>
            <a:r>
              <a:rPr sz="1875">
                <a:solidFill>
                  <a:srgbClr val="FFFFFF"/>
                </a:solidFill>
              </a:rPr>
              <a:t>저는 오늘 시장에 갑니다. 시장에서 사과(         ) 배를 삽니다.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179CC3F-F20E-4BF0-9B7A-4FA8EAFCD2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19450"/>
            <a:ext cx="5400675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475569"/>
            </a:solidFill>
            <a:prstDash val="solid"/>
          </a:ln>
        </p:spPr>
      </p:sp>
      <p:sp>
        <p:nvSpPr>
          <p:cNvPr id="8" name="q-q1_r2-option-1">
            <a:extLst xmlns:a="http://schemas.openxmlformats.org/drawingml/2006/main">
              <a:ext uri="{FF2B5EF4-FFF2-40B4-BE49-F238E27FC236}">
                <a16:creationId xmlns:a16="http://schemas.microsoft.com/office/drawing/2014/main" id="{5C8B5226-9D2B-4BF9-885A-B256FE7ACC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276600"/>
            <a:ext cx="50577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①  가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565BFD4-AC68-41C0-9ABF-AAA6500C6F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3219450"/>
            <a:ext cx="5400675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475569"/>
            </a:solidFill>
            <a:prstDash val="solid"/>
          </a:ln>
        </p:spPr>
      </p:sp>
      <p:sp>
        <p:nvSpPr>
          <p:cNvPr id="10" name="q-q1_r2-option-2">
            <a:extLst xmlns:a="http://schemas.openxmlformats.org/drawingml/2006/main">
              <a:ext uri="{FF2B5EF4-FFF2-40B4-BE49-F238E27FC236}">
                <a16:creationId xmlns:a16="http://schemas.microsoft.com/office/drawing/2014/main" id="{E9FF776D-398D-4903-A457-E839C97F1A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5075" y="3276600"/>
            <a:ext cx="50577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②  와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4C049A0-17C4-4FA6-BB23-C414ADC25B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95750"/>
            <a:ext cx="5400675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475569"/>
            </a:solidFill>
            <a:prstDash val="solid"/>
          </a:ln>
        </p:spPr>
      </p:sp>
      <p:sp>
        <p:nvSpPr>
          <p:cNvPr id="12" name="q-q1_r2-option-3">
            <a:extLst xmlns:a="http://schemas.openxmlformats.org/drawingml/2006/main">
              <a:ext uri="{FF2B5EF4-FFF2-40B4-BE49-F238E27FC236}">
                <a16:creationId xmlns:a16="http://schemas.microsoft.com/office/drawing/2014/main" id="{7EDA89B1-ACDE-41DF-B0E3-5418B6A1BB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152900"/>
            <a:ext cx="50577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③  를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6ED8BB2-2E7E-4D6D-B058-EE3D177804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4095750"/>
            <a:ext cx="5400675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475569"/>
            </a:solidFill>
            <a:prstDash val="solid"/>
          </a:ln>
        </p:spPr>
      </p:sp>
      <p:sp>
        <p:nvSpPr>
          <p:cNvPr id="14" name="q-q1_r2-option-4">
            <a:extLst xmlns:a="http://schemas.openxmlformats.org/drawingml/2006/main">
              <a:ext uri="{FF2B5EF4-FFF2-40B4-BE49-F238E27FC236}">
                <a16:creationId xmlns:a16="http://schemas.microsoft.com/office/drawing/2014/main" id="{697E7079-0C9C-4192-BBC3-C15048D50C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5075" y="4152900"/>
            <a:ext cx="50577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④  로</a:t>
            </a:r>
          </a:p>
        </p:txBody>
      </p:sp>
      <p:sp>
        <p:nvSpPr>
          <p:cNvPr id="15" name="footer-brand">
            <a:extLst xmlns:a="http://schemas.openxmlformats.org/drawingml/2006/main">
              <a:ext uri="{FF2B5EF4-FFF2-40B4-BE49-F238E27FC236}">
                <a16:creationId xmlns:a16="http://schemas.microsoft.com/office/drawing/2014/main" id="{94C49589-E594-4B3B-A07F-B8B677C5F4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96050"/>
            <a:ext cx="3238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050">
                <a:solidFill>
                  <a:srgbClr val="94A3B8"/>
                </a:solidFill>
              </a:defRPr>
            </a:pPr>
            <a:r>
              <a:rPr sz="1050">
                <a:solidFill>
                  <a:srgbClr val="94A3B8"/>
                </a:solidFill>
              </a:rPr>
              <a:t>TOPIK-Edu Smart Academy</a:t>
            </a:r>
          </a:p>
        </p:txBody>
      </p:sp>
      <p:sp>
        <p:nvSpPr>
          <p:cNvPr id="16" name="footer-page">
            <a:extLst xmlns:a="http://schemas.openxmlformats.org/drawingml/2006/main">
              <a:ext uri="{FF2B5EF4-FFF2-40B4-BE49-F238E27FC236}">
                <a16:creationId xmlns:a16="http://schemas.microsoft.com/office/drawing/2014/main" id="{62B9622B-C90E-4AD3-8FA6-E9902C8F2C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6496050"/>
            <a:ext cx="2171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buNone/>
              <a:defRPr sz="1050">
                <a:solidFill>
                  <a:srgbClr val="94A3B8"/>
                </a:solidFill>
              </a:defRPr>
            </a:pPr>
            <a:r>
              <a:rPr sz="1050">
                <a:solidFill>
                  <a:srgbClr val="94A3B8"/>
                </a:solidFill>
              </a:rPr>
              <a:t>1회차 · 2/14</a:t>
            </a:r>
          </a:p>
        </p:txBody>
      </p:sp>
    </p:spTree>
    <p:extLst>
      <p:ext uri="{BB962C8B-B14F-4D97-AF65-F5344CB8AC3E}">
        <p14:creationId xmlns:p14="http://schemas.microsoft.com/office/powerpoint/2010/main" val="439361950"/>
      </p:ext>
    </p:extLst>
  </p:cSld>
</p:sld>
</file>

<file path=ppt/slides/slide38.xml><?xml version="1.0" encoding="utf-8"?>
<p:sld xmlns:p="http://schemas.openxmlformats.org/presentationml/2006/main">
  <p:cSld>
    <p:bg>
      <p:bgPr>
        <a:solidFill xmlns:a="http://schemas.openxmlformats.org/drawingml/2006/main">
          <a:srgbClr val="0F17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7666F3A-2BB6-4666-8F2B-7CA815A3D8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228600"/>
            <a:ext cx="11468100" cy="6191250"/>
          </a:xfrm>
          <a:prstGeom xmlns:a="http://schemas.openxmlformats.org/drawingml/2006/main" prst="roundRect">
            <a:avLst>
              <a:gd name="adj" fmla="val 1846"/>
            </a:avLst>
          </a:prstGeom>
          <a:solidFill xmlns:a="http://schemas.openxmlformats.org/drawingml/2006/main">
            <a:srgbClr val="1E293B"/>
          </a:solidFill>
          <a:ln xmlns:a="http://schemas.openxmlformats.org/drawingml/2006/main" w="9525">
            <a:solidFill>
              <a:srgbClr val="334155"/>
            </a:solidFill>
            <a:prstDash val="solid"/>
          </a:ln>
        </p:spPr>
      </p:sp>
      <p:sp>
        <p:nvSpPr>
          <p:cNvPr id="2" name="q-q3_r1-number">
            <a:extLst xmlns:a="http://schemas.openxmlformats.org/drawingml/2006/main">
              <a:ext uri="{FF2B5EF4-FFF2-40B4-BE49-F238E27FC236}">
                <a16:creationId xmlns:a16="http://schemas.microsoft.com/office/drawing/2014/main" id="{9C48993B-A630-4E99-812B-A284F9FD10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00050"/>
            <a:ext cx="1714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C7D2FE"/>
                </a:solidFill>
              </a:defRPr>
            </a:pPr>
            <a:r>
              <a:rPr sz="1350" b="1">
                <a:solidFill>
                  <a:srgbClr val="C7D2FE"/>
                </a:solidFill>
              </a:rPr>
              <a:t>문제 01</a:t>
            </a:r>
          </a:p>
        </p:txBody>
      </p:sp>
      <p:sp>
        <p:nvSpPr>
          <p:cNvPr id="3" name="q-q3_r1-category">
            <a:extLst xmlns:a="http://schemas.openxmlformats.org/drawingml/2006/main">
              <a:ext uri="{FF2B5EF4-FFF2-40B4-BE49-F238E27FC236}">
                <a16:creationId xmlns:a16="http://schemas.microsoft.com/office/drawing/2014/main" id="{A0FB0E5A-A8AC-43E3-A552-8D53EA670C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400050"/>
            <a:ext cx="3524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buNone/>
              <a:defRPr sz="1275" b="1">
                <a:solidFill>
                  <a:srgbClr val="5EEAD4"/>
                </a:solidFill>
              </a:defRPr>
            </a:pPr>
            <a:r>
              <a:rPr sz="1275" b="1">
                <a:solidFill>
                  <a:srgbClr val="5EEAD4"/>
                </a:solidFill>
              </a:rPr>
              <a:t>읽기 (Reading) 기출</a:t>
            </a:r>
          </a:p>
        </p:txBody>
      </p:sp>
      <p:sp>
        <p:nvSpPr>
          <p:cNvPr id="4" name="q-q3_r1-text">
            <a:extLst xmlns:a="http://schemas.openxmlformats.org/drawingml/2006/main">
              <a:ext uri="{FF2B5EF4-FFF2-40B4-BE49-F238E27FC236}">
                <a16:creationId xmlns:a16="http://schemas.microsoft.com/office/drawing/2014/main" id="{D9C90283-9C41-4451-9CF0-5785BADE99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38200"/>
            <a:ext cx="109347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buNone/>
              <a:defRPr sz="2625" b="1">
                <a:solidFill>
                  <a:srgbClr val="FFFFFF"/>
                </a:solidFill>
              </a:defRPr>
            </a:pPr>
            <a:r>
              <a:rPr sz="2625" b="1">
                <a:solidFill>
                  <a:srgbClr val="FFFFFF"/>
                </a:solidFill>
              </a:rPr>
              <a:t>다음 글을 읽고 중심 생각(주제)으로 가장 알맞은 것을 고르십시오. (TOPIK I 기출)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7AE9365-FFFC-4F67-862A-6EE615ECC3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19250"/>
            <a:ext cx="10934700" cy="1381125"/>
          </a:xfrm>
          <a:prstGeom xmlns:a="http://schemas.openxmlformats.org/drawingml/2006/main" prst="roundRect">
            <a:avLst>
              <a:gd name="adj" fmla="val 8276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475569"/>
            </a:solidFill>
            <a:prstDash val="solid"/>
          </a:ln>
        </p:spPr>
      </p:sp>
      <p:sp>
        <p:nvSpPr>
          <p:cNvPr id="6" name="q-q3_r1-passage">
            <a:extLst xmlns:a="http://schemas.openxmlformats.org/drawingml/2006/main">
              <a:ext uri="{FF2B5EF4-FFF2-40B4-BE49-F238E27FC236}">
                <a16:creationId xmlns:a16="http://schemas.microsoft.com/office/drawing/2014/main" id="{BDA7E727-E5EC-42B1-AC5B-22763F6E22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733550"/>
            <a:ext cx="10553700" cy="1152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buNone/>
              <a:defRPr sz="1875">
                <a:solidFill>
                  <a:srgbClr val="FFFFFF"/>
                </a:solidFill>
              </a:defRPr>
            </a:pPr>
            <a:r>
              <a:rPr sz="1875">
                <a:solidFill>
                  <a:srgbClr val="FFFFFF"/>
                </a:solidFill>
              </a:rPr>
              <a:t>저는 어제 자전거를 새로 샀습니다. 자전거를 타는 것이 아주 재미있습니다. 빨리 주말이 와서 근처 공원에서 자전거를 타고 싶습니다.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443BBF4-4DBB-476F-B3F2-E3888C6AD8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19450"/>
            <a:ext cx="5400675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475569"/>
            </a:solidFill>
            <a:prstDash val="solid"/>
          </a:ln>
        </p:spPr>
      </p:sp>
      <p:sp>
        <p:nvSpPr>
          <p:cNvPr id="8" name="q-q3_r1-option-1">
            <a:extLst xmlns:a="http://schemas.openxmlformats.org/drawingml/2006/main">
              <a:ext uri="{FF2B5EF4-FFF2-40B4-BE49-F238E27FC236}">
                <a16:creationId xmlns:a16="http://schemas.microsoft.com/office/drawing/2014/main" id="{13BA3E7D-1F23-429B-A833-61123361AD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276600"/>
            <a:ext cx="50577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①  저는 자전거를 타고 출근합니다.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E54ED57-C2FE-48AE-A205-2B0DB5835C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3219450"/>
            <a:ext cx="5400675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475569"/>
            </a:solidFill>
            <a:prstDash val="solid"/>
          </a:ln>
        </p:spPr>
      </p:sp>
      <p:sp>
        <p:nvSpPr>
          <p:cNvPr id="10" name="q-q3_r1-option-2">
            <a:extLst xmlns:a="http://schemas.openxmlformats.org/drawingml/2006/main">
              <a:ext uri="{FF2B5EF4-FFF2-40B4-BE49-F238E27FC236}">
                <a16:creationId xmlns:a16="http://schemas.microsoft.com/office/drawing/2014/main" id="{43864DDD-2349-4E34-BB9A-B7AE0C9272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5075" y="3276600"/>
            <a:ext cx="50577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②  저는 자전거를 사고 싶습니다.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90022AD-9E16-448E-A90D-4532C1AA68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95750"/>
            <a:ext cx="5400675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475569"/>
            </a:solidFill>
            <a:prstDash val="solid"/>
          </a:ln>
        </p:spPr>
      </p:sp>
      <p:sp>
        <p:nvSpPr>
          <p:cNvPr id="12" name="q-q3_r1-option-3">
            <a:extLst xmlns:a="http://schemas.openxmlformats.org/drawingml/2006/main">
              <a:ext uri="{FF2B5EF4-FFF2-40B4-BE49-F238E27FC236}">
                <a16:creationId xmlns:a16="http://schemas.microsoft.com/office/drawing/2014/main" id="{C41A1C73-E9FF-424E-9098-964B7A25CA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152900"/>
            <a:ext cx="50577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③  저는 자전거 타는 것이 즐겁습니다.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EB182BA-7605-4EEF-8182-2FF1D96DCF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4095750"/>
            <a:ext cx="5400675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475569"/>
            </a:solidFill>
            <a:prstDash val="solid"/>
          </a:ln>
        </p:spPr>
      </p:sp>
      <p:sp>
        <p:nvSpPr>
          <p:cNvPr id="14" name="q-q3_r1-option-4">
            <a:extLst xmlns:a="http://schemas.openxmlformats.org/drawingml/2006/main">
              <a:ext uri="{FF2B5EF4-FFF2-40B4-BE49-F238E27FC236}">
                <a16:creationId xmlns:a16="http://schemas.microsoft.com/office/drawing/2014/main" id="{22998798-B745-48B3-97E4-A96675742C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5075" y="4152900"/>
            <a:ext cx="50577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④  저는 주말마다 너무 바쁩니다.</a:t>
            </a:r>
          </a:p>
        </p:txBody>
      </p:sp>
      <p:sp>
        <p:nvSpPr>
          <p:cNvPr id="15" name="footer-brand">
            <a:extLst xmlns:a="http://schemas.openxmlformats.org/drawingml/2006/main">
              <a:ext uri="{FF2B5EF4-FFF2-40B4-BE49-F238E27FC236}">
                <a16:creationId xmlns:a16="http://schemas.microsoft.com/office/drawing/2014/main" id="{C683DFE8-AAB9-4A2E-A0AD-1919812B8C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96050"/>
            <a:ext cx="3238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050">
                <a:solidFill>
                  <a:srgbClr val="94A3B8"/>
                </a:solidFill>
              </a:defRPr>
            </a:pPr>
            <a:r>
              <a:rPr sz="1050">
                <a:solidFill>
                  <a:srgbClr val="94A3B8"/>
                </a:solidFill>
              </a:rPr>
              <a:t>TOPIK-Edu Smart Academy</a:t>
            </a:r>
          </a:p>
        </p:txBody>
      </p:sp>
      <p:sp>
        <p:nvSpPr>
          <p:cNvPr id="16" name="footer-page">
            <a:extLst xmlns:a="http://schemas.openxmlformats.org/drawingml/2006/main">
              <a:ext uri="{FF2B5EF4-FFF2-40B4-BE49-F238E27FC236}">
                <a16:creationId xmlns:a16="http://schemas.microsoft.com/office/drawing/2014/main" id="{C7731600-D3C1-4C2D-91BF-CA574564E0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6496050"/>
            <a:ext cx="2171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buNone/>
              <a:defRPr sz="1050">
                <a:solidFill>
                  <a:srgbClr val="94A3B8"/>
                </a:solidFill>
              </a:defRPr>
            </a:pPr>
            <a:r>
              <a:rPr sz="1050">
                <a:solidFill>
                  <a:srgbClr val="94A3B8"/>
                </a:solidFill>
              </a:rPr>
              <a:t>3회차 · 1/13</a:t>
            </a:r>
          </a:p>
        </p:txBody>
      </p:sp>
    </p:spTree>
    <p:extLst>
      <p:ext uri="{BB962C8B-B14F-4D97-AF65-F5344CB8AC3E}">
        <p14:creationId xmlns:p14="http://schemas.microsoft.com/office/powerpoint/2010/main" val="290899213"/>
      </p:ext>
    </p:extLst>
  </p:cSld>
</p:sld>
</file>

<file path=ppt/slides/slide39.xml><?xml version="1.0" encoding="utf-8"?>
<p:sld xmlns:p="http://schemas.openxmlformats.org/presentationml/2006/main">
  <p:cSld>
    <p:bg>
      <p:bgPr>
        <a:solidFill xmlns:a="http://schemas.openxmlformats.org/drawingml/2006/main">
          <a:srgbClr val="0F17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D9A4995-FD6E-478D-846B-25972C749E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228600"/>
            <a:ext cx="11468100" cy="6191250"/>
          </a:xfrm>
          <a:prstGeom xmlns:a="http://schemas.openxmlformats.org/drawingml/2006/main" prst="roundRect">
            <a:avLst>
              <a:gd name="adj" fmla="val 1846"/>
            </a:avLst>
          </a:prstGeom>
          <a:solidFill xmlns:a="http://schemas.openxmlformats.org/drawingml/2006/main">
            <a:srgbClr val="1E293B"/>
          </a:solidFill>
          <a:ln xmlns:a="http://schemas.openxmlformats.org/drawingml/2006/main" w="9525">
            <a:solidFill>
              <a:srgbClr val="334155"/>
            </a:solidFill>
            <a:prstDash val="solid"/>
          </a:ln>
        </p:spPr>
      </p:sp>
      <p:sp>
        <p:nvSpPr>
          <p:cNvPr id="2" name="q-q3_r2-number">
            <a:extLst xmlns:a="http://schemas.openxmlformats.org/drawingml/2006/main">
              <a:ext uri="{FF2B5EF4-FFF2-40B4-BE49-F238E27FC236}">
                <a16:creationId xmlns:a16="http://schemas.microsoft.com/office/drawing/2014/main" id="{4F1212E4-3DFA-43DD-B73D-054D7EE3F5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00050"/>
            <a:ext cx="1714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C7D2FE"/>
                </a:solidFill>
              </a:defRPr>
            </a:pPr>
            <a:r>
              <a:rPr sz="1350" b="1">
                <a:solidFill>
                  <a:srgbClr val="C7D2FE"/>
                </a:solidFill>
              </a:rPr>
              <a:t>문제 02</a:t>
            </a:r>
          </a:p>
        </p:txBody>
      </p:sp>
      <p:sp>
        <p:nvSpPr>
          <p:cNvPr id="3" name="q-q3_r2-category">
            <a:extLst xmlns:a="http://schemas.openxmlformats.org/drawingml/2006/main">
              <a:ext uri="{FF2B5EF4-FFF2-40B4-BE49-F238E27FC236}">
                <a16:creationId xmlns:a16="http://schemas.microsoft.com/office/drawing/2014/main" id="{4F79980F-5029-449C-9BF5-B4DF82832C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400050"/>
            <a:ext cx="3524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buNone/>
              <a:defRPr sz="1275" b="1">
                <a:solidFill>
                  <a:srgbClr val="5EEAD4"/>
                </a:solidFill>
              </a:defRPr>
            </a:pPr>
            <a:r>
              <a:rPr sz="1275" b="1">
                <a:solidFill>
                  <a:srgbClr val="5EEAD4"/>
                </a:solidFill>
              </a:rPr>
              <a:t>읽기 (Reading) 기출</a:t>
            </a:r>
          </a:p>
        </p:txBody>
      </p:sp>
      <p:sp>
        <p:nvSpPr>
          <p:cNvPr id="4" name="q-q3_r2-text">
            <a:extLst xmlns:a="http://schemas.openxmlformats.org/drawingml/2006/main">
              <a:ext uri="{FF2B5EF4-FFF2-40B4-BE49-F238E27FC236}">
                <a16:creationId xmlns:a16="http://schemas.microsoft.com/office/drawing/2014/main" id="{D2A036E0-FE4C-4CBE-8D67-17D142D19A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38200"/>
            <a:ext cx="109347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buNone/>
              <a:defRPr sz="2625" b="1">
                <a:solidFill>
                  <a:srgbClr val="FFFFFF"/>
                </a:solidFill>
              </a:defRPr>
            </a:pPr>
            <a:r>
              <a:rPr sz="2625" b="1">
                <a:solidFill>
                  <a:srgbClr val="FFFFFF"/>
                </a:solidFill>
              </a:rPr>
              <a:t>다음 글을 읽고 내용과 같은 것(일치하는 것)을 고르십시오. (TOPIK I 기출)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7A18D4A-3BF7-4A70-8F99-E5B1E276FE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19250"/>
            <a:ext cx="10934700" cy="1381125"/>
          </a:xfrm>
          <a:prstGeom xmlns:a="http://schemas.openxmlformats.org/drawingml/2006/main" prst="roundRect">
            <a:avLst>
              <a:gd name="adj" fmla="val 8276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475569"/>
            </a:solidFill>
            <a:prstDash val="solid"/>
          </a:ln>
        </p:spPr>
      </p:sp>
      <p:sp>
        <p:nvSpPr>
          <p:cNvPr id="6" name="q-q3_r2-passage">
            <a:extLst xmlns:a="http://schemas.openxmlformats.org/drawingml/2006/main">
              <a:ext uri="{FF2B5EF4-FFF2-40B4-BE49-F238E27FC236}">
                <a16:creationId xmlns:a16="http://schemas.microsoft.com/office/drawing/2014/main" id="{7DA3E31F-35AB-454C-8784-81FF01305A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733550"/>
            <a:ext cx="10553700" cy="1152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buNone/>
              <a:defRPr sz="1875">
                <a:solidFill>
                  <a:srgbClr val="FFFFFF"/>
                </a:solidFill>
              </a:defRPr>
            </a:pPr>
            <a:r>
              <a:rPr sz="1875">
                <a:solidFill>
                  <a:srgbClr val="FFFFFF"/>
                </a:solidFill>
              </a:rPr>
              <a:t>우리 동네는 공기가 맑고 아주 조용합니다. 근처에 큰 산이 있어서 등산을 하기에 매우 좋습니다. 그래서 주말에는 다른 동네 사람들도 우리 동네 산에 많이 찾아옵니다.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C7B09B7-5ECC-4425-8AAF-737179D957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19450"/>
            <a:ext cx="5400675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475569"/>
            </a:solidFill>
            <a:prstDash val="solid"/>
          </a:ln>
        </p:spPr>
      </p:sp>
      <p:sp>
        <p:nvSpPr>
          <p:cNvPr id="8" name="q-q3_r2-option-1">
            <a:extLst xmlns:a="http://schemas.openxmlformats.org/drawingml/2006/main">
              <a:ext uri="{FF2B5EF4-FFF2-40B4-BE49-F238E27FC236}">
                <a16:creationId xmlns:a16="http://schemas.microsoft.com/office/drawing/2014/main" id="{B8AACFB9-0B4E-4DEF-BE38-030700C868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276600"/>
            <a:ext cx="50577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①  우리 동네는 사람들이 많아 시끄럽습니다.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FD5135A-7C82-433E-BA30-D00A495CC9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3219450"/>
            <a:ext cx="5400675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475569"/>
            </a:solidFill>
            <a:prstDash val="solid"/>
          </a:ln>
        </p:spPr>
      </p:sp>
      <p:sp>
        <p:nvSpPr>
          <p:cNvPr id="10" name="q-q3_r2-option-2">
            <a:extLst xmlns:a="http://schemas.openxmlformats.org/drawingml/2006/main">
              <a:ext uri="{FF2B5EF4-FFF2-40B4-BE49-F238E27FC236}">
                <a16:creationId xmlns:a16="http://schemas.microsoft.com/office/drawing/2014/main" id="{65D4A691-0254-417D-B29F-2D818AEBBF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5075" y="3276600"/>
            <a:ext cx="50577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②  우리 동네 주변에는 산이 전혀 없습니다.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D6870BD-1370-4210-BB49-4C01C3C6E4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95750"/>
            <a:ext cx="5400675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475569"/>
            </a:solidFill>
            <a:prstDash val="solid"/>
          </a:ln>
        </p:spPr>
      </p:sp>
      <p:sp>
        <p:nvSpPr>
          <p:cNvPr id="12" name="q-q3_r2-option-3">
            <a:extLst xmlns:a="http://schemas.openxmlformats.org/drawingml/2006/main">
              <a:ext uri="{FF2B5EF4-FFF2-40B4-BE49-F238E27FC236}">
                <a16:creationId xmlns:a16="http://schemas.microsoft.com/office/drawing/2014/main" id="{520EAB6E-2898-4E11-9CE8-7D9AFA5CBA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152900"/>
            <a:ext cx="50577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③  주말에 사람들이 우리 동네 산에 옵니다.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BF25A49-CF10-4EBA-84C8-288A4E1D80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4095750"/>
            <a:ext cx="5400675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475569"/>
            </a:solidFill>
            <a:prstDash val="solid"/>
          </a:ln>
        </p:spPr>
      </p:sp>
      <p:sp>
        <p:nvSpPr>
          <p:cNvPr id="14" name="q-q3_r2-option-4">
            <a:extLst xmlns:a="http://schemas.openxmlformats.org/drawingml/2006/main">
              <a:ext uri="{FF2B5EF4-FFF2-40B4-BE49-F238E27FC236}">
                <a16:creationId xmlns:a16="http://schemas.microsoft.com/office/drawing/2014/main" id="{1863CE71-67C3-4B2F-B395-7856E0E720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5075" y="4152900"/>
            <a:ext cx="50577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④  저는 주말마다 등산을 하러 다른 동네로 갑니다.</a:t>
            </a:r>
          </a:p>
        </p:txBody>
      </p:sp>
      <p:sp>
        <p:nvSpPr>
          <p:cNvPr id="15" name="footer-brand">
            <a:extLst xmlns:a="http://schemas.openxmlformats.org/drawingml/2006/main">
              <a:ext uri="{FF2B5EF4-FFF2-40B4-BE49-F238E27FC236}">
                <a16:creationId xmlns:a16="http://schemas.microsoft.com/office/drawing/2014/main" id="{6E74F9DF-0349-425A-AA7E-EFBC240EB0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96050"/>
            <a:ext cx="3238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050">
                <a:solidFill>
                  <a:srgbClr val="94A3B8"/>
                </a:solidFill>
              </a:defRPr>
            </a:pPr>
            <a:r>
              <a:rPr sz="1050">
                <a:solidFill>
                  <a:srgbClr val="94A3B8"/>
                </a:solidFill>
              </a:rPr>
              <a:t>TOPIK-Edu Smart Academy</a:t>
            </a:r>
          </a:p>
        </p:txBody>
      </p:sp>
      <p:sp>
        <p:nvSpPr>
          <p:cNvPr id="16" name="footer-page">
            <a:extLst xmlns:a="http://schemas.openxmlformats.org/drawingml/2006/main">
              <a:ext uri="{FF2B5EF4-FFF2-40B4-BE49-F238E27FC236}">
                <a16:creationId xmlns:a16="http://schemas.microsoft.com/office/drawing/2014/main" id="{F5181F5B-A764-4BD1-B937-91BB292F60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6496050"/>
            <a:ext cx="2171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buNone/>
              <a:defRPr sz="1050">
                <a:solidFill>
                  <a:srgbClr val="94A3B8"/>
                </a:solidFill>
              </a:defRPr>
            </a:pPr>
            <a:r>
              <a:rPr sz="1050">
                <a:solidFill>
                  <a:srgbClr val="94A3B8"/>
                </a:solidFill>
              </a:rPr>
              <a:t>3회차 · 2/13</a:t>
            </a:r>
          </a:p>
        </p:txBody>
      </p:sp>
    </p:spTree>
    <p:extLst>
      <p:ext uri="{BB962C8B-B14F-4D97-AF65-F5344CB8AC3E}">
        <p14:creationId xmlns:p14="http://schemas.microsoft.com/office/powerpoint/2010/main" val="56689536"/>
      </p:ext>
    </p:extLst>
  </p:cSld>
</p:sld>
</file>

<file path=ppt/slides/slide40.xml><?xml version="1.0" encoding="utf-8"?>
<p:sld xmlns:p="http://schemas.openxmlformats.org/presentationml/2006/main">
  <p:cSld>
    <p:bg>
      <p:bgPr>
        <a:solidFill xmlns:a="http://schemas.openxmlformats.org/drawingml/2006/main">
          <a:srgbClr val="0F17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480F4BD-2775-47C1-BB94-86214F2EF9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228600"/>
            <a:ext cx="11468100" cy="6191250"/>
          </a:xfrm>
          <a:prstGeom xmlns:a="http://schemas.openxmlformats.org/drawingml/2006/main" prst="roundRect">
            <a:avLst>
              <a:gd name="adj" fmla="val 1846"/>
            </a:avLst>
          </a:prstGeom>
          <a:solidFill xmlns:a="http://schemas.openxmlformats.org/drawingml/2006/main">
            <a:srgbClr val="1E293B"/>
          </a:solidFill>
          <a:ln xmlns:a="http://schemas.openxmlformats.org/drawingml/2006/main" w="9525">
            <a:solidFill>
              <a:srgbClr val="334155"/>
            </a:solidFill>
            <a:prstDash val="solid"/>
          </a:ln>
        </p:spPr>
      </p:sp>
      <p:sp>
        <p:nvSpPr>
          <p:cNvPr id="2" name="q-q3_r3-number">
            <a:extLst xmlns:a="http://schemas.openxmlformats.org/drawingml/2006/main">
              <a:ext uri="{FF2B5EF4-FFF2-40B4-BE49-F238E27FC236}">
                <a16:creationId xmlns:a16="http://schemas.microsoft.com/office/drawing/2014/main" id="{819FE6A3-7AB1-49E6-8F11-2070DF3C2C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00050"/>
            <a:ext cx="1714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C7D2FE"/>
                </a:solidFill>
              </a:defRPr>
            </a:pPr>
            <a:r>
              <a:rPr sz="1350" b="1">
                <a:solidFill>
                  <a:srgbClr val="C7D2FE"/>
                </a:solidFill>
              </a:rPr>
              <a:t>문제 03</a:t>
            </a:r>
          </a:p>
        </p:txBody>
      </p:sp>
      <p:sp>
        <p:nvSpPr>
          <p:cNvPr id="3" name="q-q3_r3-category">
            <a:extLst xmlns:a="http://schemas.openxmlformats.org/drawingml/2006/main">
              <a:ext uri="{FF2B5EF4-FFF2-40B4-BE49-F238E27FC236}">
                <a16:creationId xmlns:a16="http://schemas.microsoft.com/office/drawing/2014/main" id="{966812D3-5328-46FC-B9F4-9E07F9CDE8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400050"/>
            <a:ext cx="3524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buNone/>
              <a:defRPr sz="1275" b="1">
                <a:solidFill>
                  <a:srgbClr val="5EEAD4"/>
                </a:solidFill>
              </a:defRPr>
            </a:pPr>
            <a:r>
              <a:rPr sz="1275" b="1">
                <a:solidFill>
                  <a:srgbClr val="5EEAD4"/>
                </a:solidFill>
              </a:rPr>
              <a:t>읽기 (Reading) 추가 기출</a:t>
            </a:r>
          </a:p>
        </p:txBody>
      </p:sp>
      <p:sp>
        <p:nvSpPr>
          <p:cNvPr id="4" name="q-q3_r3-text">
            <a:extLst xmlns:a="http://schemas.openxmlformats.org/drawingml/2006/main">
              <a:ext uri="{FF2B5EF4-FFF2-40B4-BE49-F238E27FC236}">
                <a16:creationId xmlns:a16="http://schemas.microsoft.com/office/drawing/2014/main" id="{F3B91C0F-8B15-46A8-BCF2-E91C4A065E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38200"/>
            <a:ext cx="109347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buNone/>
              <a:defRPr sz="2625" b="1">
                <a:solidFill>
                  <a:srgbClr val="FFFFFF"/>
                </a:solidFill>
              </a:defRPr>
            </a:pPr>
            <a:r>
              <a:rPr sz="2625" b="1">
                <a:solidFill>
                  <a:srgbClr val="FFFFFF"/>
                </a:solidFill>
              </a:rPr>
              <a:t>다음 그림을 보고 상황에 맞는 문장으로 가장 알맞은 것을 고르십시오.</a:t>
            </a:r>
          </a:p>
        </p:txBody>
      </p:sp>
      <p:pic>
        <p:nvPicPr>
          <p:cNvPr id="2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f95f2ba1f6f444a"/>
          <a:stretch xmlns:a="http://schemas.openxmlformats.org/drawingml/2006/main"/>
        </p:blipFill>
        <p:spPr>
          <a:xfrm xmlns:a="http://schemas.openxmlformats.org/drawingml/2006/main">
            <a:off x="1095375" y="2114550"/>
            <a:ext cx="2857500" cy="2857500"/>
          </a:xfrm>
          <a:prstGeom xmlns:a="http://schemas.openxmlformats.org/drawingml/2006/main" prst="roundRect">
            <a:avLst>
              <a:gd name="adj" fmla="val 4000"/>
            </a:avLst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83865CC-02BE-4E82-AC50-E8884C9270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114550"/>
            <a:ext cx="6743700" cy="666750"/>
          </a:xfrm>
          <a:prstGeom xmlns:a="http://schemas.openxmlformats.org/drawingml/2006/main" prst="roundRect">
            <a:avLst>
              <a:gd name="adj" fmla="val 17143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475569"/>
            </a:solidFill>
            <a:prstDash val="solid"/>
          </a:ln>
        </p:spPr>
      </p:sp>
      <p:sp>
        <p:nvSpPr>
          <p:cNvPr id="7" name="q-q3_r3-option-1">
            <a:extLst xmlns:a="http://schemas.openxmlformats.org/drawingml/2006/main">
              <a:ext uri="{FF2B5EF4-FFF2-40B4-BE49-F238E27FC236}">
                <a16:creationId xmlns:a16="http://schemas.microsoft.com/office/drawing/2014/main" id="{9ADA3799-8376-4D93-B2A3-B2008E3665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2171700"/>
            <a:ext cx="64008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①  학교에서 수업을 듣습니다.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911AD0B-01A8-4942-9CFA-F3C8653517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876550"/>
            <a:ext cx="6743700" cy="666750"/>
          </a:xfrm>
          <a:prstGeom xmlns:a="http://schemas.openxmlformats.org/drawingml/2006/main" prst="roundRect">
            <a:avLst>
              <a:gd name="adj" fmla="val 17143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475569"/>
            </a:solidFill>
            <a:prstDash val="solid"/>
          </a:ln>
        </p:spPr>
      </p:sp>
      <p:sp>
        <p:nvSpPr>
          <p:cNvPr id="9" name="q-q3_r3-option-2">
            <a:extLst xmlns:a="http://schemas.openxmlformats.org/drawingml/2006/main">
              <a:ext uri="{FF2B5EF4-FFF2-40B4-BE49-F238E27FC236}">
                <a16:creationId xmlns:a16="http://schemas.microsoft.com/office/drawing/2014/main" id="{CD9DFE5C-40EB-4F5D-80F2-80869F6448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2933700"/>
            <a:ext cx="64008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②  영화관에서 팝콘을 먹습니다.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D99430A-F1A9-4627-8A56-84FCF48512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3638550"/>
            <a:ext cx="6743700" cy="666750"/>
          </a:xfrm>
          <a:prstGeom xmlns:a="http://schemas.openxmlformats.org/drawingml/2006/main" prst="roundRect">
            <a:avLst>
              <a:gd name="adj" fmla="val 17143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475569"/>
            </a:solidFill>
            <a:prstDash val="solid"/>
          </a:ln>
        </p:spPr>
      </p:sp>
      <p:sp>
        <p:nvSpPr>
          <p:cNvPr id="11" name="q-q3_r3-option-3">
            <a:extLst xmlns:a="http://schemas.openxmlformats.org/drawingml/2006/main">
              <a:ext uri="{FF2B5EF4-FFF2-40B4-BE49-F238E27FC236}">
                <a16:creationId xmlns:a16="http://schemas.microsoft.com/office/drawing/2014/main" id="{15BD4CB6-46EE-4A14-AD3C-F801D7D4BA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3695700"/>
            <a:ext cx="64008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③  병원에서 진료를 대기합니다.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3615F6C-E632-4B18-9B81-F4B5C4AC54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4400550"/>
            <a:ext cx="6743700" cy="666750"/>
          </a:xfrm>
          <a:prstGeom xmlns:a="http://schemas.openxmlformats.org/drawingml/2006/main" prst="roundRect">
            <a:avLst>
              <a:gd name="adj" fmla="val 17143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475569"/>
            </a:solidFill>
            <a:prstDash val="solid"/>
          </a:ln>
        </p:spPr>
      </p:sp>
      <p:sp>
        <p:nvSpPr>
          <p:cNvPr id="13" name="q-q3_r3-option-4">
            <a:extLst xmlns:a="http://schemas.openxmlformats.org/drawingml/2006/main">
              <a:ext uri="{FF2B5EF4-FFF2-40B4-BE49-F238E27FC236}">
                <a16:creationId xmlns:a16="http://schemas.microsoft.com/office/drawing/2014/main" id="{89E6BBEB-2A3F-4EEB-B5A4-089A03985C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4457700"/>
            <a:ext cx="64008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④  은행에서 카드를 만듭니다.</a:t>
            </a:r>
          </a:p>
        </p:txBody>
      </p:sp>
      <p:sp>
        <p:nvSpPr>
          <p:cNvPr id="14" name="footer-brand">
            <a:extLst xmlns:a="http://schemas.openxmlformats.org/drawingml/2006/main">
              <a:ext uri="{FF2B5EF4-FFF2-40B4-BE49-F238E27FC236}">
                <a16:creationId xmlns:a16="http://schemas.microsoft.com/office/drawing/2014/main" id="{5BA4D7E5-BEEB-4686-A690-4AC709CC90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96050"/>
            <a:ext cx="3238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050">
                <a:solidFill>
                  <a:srgbClr val="94A3B8"/>
                </a:solidFill>
              </a:defRPr>
            </a:pPr>
            <a:r>
              <a:rPr sz="1050">
                <a:solidFill>
                  <a:srgbClr val="94A3B8"/>
                </a:solidFill>
              </a:rPr>
              <a:t>TOPIK-Edu Smart Academy</a:t>
            </a:r>
          </a:p>
        </p:txBody>
      </p:sp>
      <p:sp>
        <p:nvSpPr>
          <p:cNvPr id="15" name="footer-page">
            <a:extLst xmlns:a="http://schemas.openxmlformats.org/drawingml/2006/main">
              <a:ext uri="{FF2B5EF4-FFF2-40B4-BE49-F238E27FC236}">
                <a16:creationId xmlns:a16="http://schemas.microsoft.com/office/drawing/2014/main" id="{D906E97B-9520-48FE-B03D-B966CE2F2F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6496050"/>
            <a:ext cx="2171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buNone/>
              <a:defRPr sz="1050">
                <a:solidFill>
                  <a:srgbClr val="94A3B8"/>
                </a:solidFill>
              </a:defRPr>
            </a:pPr>
            <a:r>
              <a:rPr sz="1050">
                <a:solidFill>
                  <a:srgbClr val="94A3B8"/>
                </a:solidFill>
              </a:rPr>
              <a:t>3회차 · 3/13</a:t>
            </a:r>
          </a:p>
        </p:txBody>
      </p:sp>
    </p:spTree>
    <p:extLst>
      <p:ext uri="{BB962C8B-B14F-4D97-AF65-F5344CB8AC3E}">
        <p14:creationId xmlns:p14="http://schemas.microsoft.com/office/powerpoint/2010/main" val="628319086"/>
      </p:ext>
    </p:extLst>
  </p:cSld>
</p:sld>
</file>

<file path=ppt/slides/slide41.xml><?xml version="1.0" encoding="utf-8"?>
<p:sld xmlns:p="http://schemas.openxmlformats.org/presentationml/2006/main">
  <p:cSld>
    <p:bg>
      <p:bgPr>
        <a:solidFill xmlns:a="http://schemas.openxmlformats.org/drawingml/2006/main">
          <a:srgbClr val="0F17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7B7258F-213A-4D23-8C58-9256B61F88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228600"/>
            <a:ext cx="11468100" cy="6191250"/>
          </a:xfrm>
          <a:prstGeom xmlns:a="http://schemas.openxmlformats.org/drawingml/2006/main" prst="roundRect">
            <a:avLst>
              <a:gd name="adj" fmla="val 1846"/>
            </a:avLst>
          </a:prstGeom>
          <a:solidFill xmlns:a="http://schemas.openxmlformats.org/drawingml/2006/main">
            <a:srgbClr val="1E293B"/>
          </a:solidFill>
          <a:ln xmlns:a="http://schemas.openxmlformats.org/drawingml/2006/main" w="9525">
            <a:solidFill>
              <a:srgbClr val="334155"/>
            </a:solidFill>
            <a:prstDash val="solid"/>
          </a:ln>
        </p:spPr>
      </p:sp>
      <p:sp>
        <p:nvSpPr>
          <p:cNvPr id="2" name="q-q3_r4-number">
            <a:extLst xmlns:a="http://schemas.openxmlformats.org/drawingml/2006/main">
              <a:ext uri="{FF2B5EF4-FFF2-40B4-BE49-F238E27FC236}">
                <a16:creationId xmlns:a16="http://schemas.microsoft.com/office/drawing/2014/main" id="{ED4D1608-394D-4E01-A9E5-1CFF7E3CD5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00050"/>
            <a:ext cx="1714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C7D2FE"/>
                </a:solidFill>
              </a:defRPr>
            </a:pPr>
            <a:r>
              <a:rPr sz="1350" b="1">
                <a:solidFill>
                  <a:srgbClr val="C7D2FE"/>
                </a:solidFill>
              </a:rPr>
              <a:t>문제 04</a:t>
            </a:r>
          </a:p>
        </p:txBody>
      </p:sp>
      <p:sp>
        <p:nvSpPr>
          <p:cNvPr id="3" name="q-q3_r4-category">
            <a:extLst xmlns:a="http://schemas.openxmlformats.org/drawingml/2006/main">
              <a:ext uri="{FF2B5EF4-FFF2-40B4-BE49-F238E27FC236}">
                <a16:creationId xmlns:a16="http://schemas.microsoft.com/office/drawing/2014/main" id="{A454622F-26C3-4769-8946-C619E32AD9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400050"/>
            <a:ext cx="3524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buNone/>
              <a:defRPr sz="1275" b="1">
                <a:solidFill>
                  <a:srgbClr val="5EEAD4"/>
                </a:solidFill>
              </a:defRPr>
            </a:pPr>
            <a:r>
              <a:rPr sz="1275" b="1">
                <a:solidFill>
                  <a:srgbClr val="5EEAD4"/>
                </a:solidFill>
              </a:rPr>
              <a:t>읽기 (Reading) 추가 기출</a:t>
            </a:r>
          </a:p>
        </p:txBody>
      </p:sp>
      <p:sp>
        <p:nvSpPr>
          <p:cNvPr id="4" name="q-q3_r4-text">
            <a:extLst xmlns:a="http://schemas.openxmlformats.org/drawingml/2006/main">
              <a:ext uri="{FF2B5EF4-FFF2-40B4-BE49-F238E27FC236}">
                <a16:creationId xmlns:a16="http://schemas.microsoft.com/office/drawing/2014/main" id="{6B5FBBCD-8E7A-458D-888D-DE61BD379C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38200"/>
            <a:ext cx="109347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buNone/>
              <a:defRPr sz="2625" b="1">
                <a:solidFill>
                  <a:srgbClr val="FFFFFF"/>
                </a:solidFill>
              </a:defRPr>
            </a:pPr>
            <a:r>
              <a:rPr sz="2625" b="1">
                <a:solidFill>
                  <a:srgbClr val="FFFFFF"/>
                </a:solidFill>
              </a:rPr>
              <a:t>다음 빈칸에 들어갈 문법 표현으로 가장 알맞은 것을 고르십시오.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07B46C4-5633-4A7C-82E6-00FC5E1E45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19250"/>
            <a:ext cx="10934700" cy="1381125"/>
          </a:xfrm>
          <a:prstGeom xmlns:a="http://schemas.openxmlformats.org/drawingml/2006/main" prst="roundRect">
            <a:avLst>
              <a:gd name="adj" fmla="val 8276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475569"/>
            </a:solidFill>
            <a:prstDash val="solid"/>
          </a:ln>
        </p:spPr>
      </p:sp>
      <p:sp>
        <p:nvSpPr>
          <p:cNvPr id="6" name="q-q3_r4-passage">
            <a:extLst xmlns:a="http://schemas.openxmlformats.org/drawingml/2006/main">
              <a:ext uri="{FF2B5EF4-FFF2-40B4-BE49-F238E27FC236}">
                <a16:creationId xmlns:a16="http://schemas.microsoft.com/office/drawing/2014/main" id="{7BA04B9D-CDBF-4C41-B21A-9F9A76C615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733550"/>
            <a:ext cx="10553700" cy="1152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buNone/>
              <a:defRPr sz="1875">
                <a:solidFill>
                  <a:srgbClr val="FFFFFF"/>
                </a:solidFill>
              </a:defRPr>
            </a:pPr>
            <a:r>
              <a:rPr sz="1875">
                <a:solidFill>
                  <a:srgbClr val="FFFFFF"/>
                </a:solidFill>
              </a:rPr>
              <a:t>내일은 즐거운 주말(         ) 회사에 출근하지 않고 집에서 푹 쉴 것입니다.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5EA5022-892D-4DEF-9B22-C3302F5E7D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19450"/>
            <a:ext cx="5400675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475569"/>
            </a:solidFill>
            <a:prstDash val="solid"/>
          </a:ln>
        </p:spPr>
      </p:sp>
      <p:sp>
        <p:nvSpPr>
          <p:cNvPr id="8" name="q-q3_r4-option-1">
            <a:extLst xmlns:a="http://schemas.openxmlformats.org/drawingml/2006/main">
              <a:ext uri="{FF2B5EF4-FFF2-40B4-BE49-F238E27FC236}">
                <a16:creationId xmlns:a16="http://schemas.microsoft.com/office/drawing/2014/main" id="{145501AC-DBCE-4B63-B3F1-BF52AAE2D2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276600"/>
            <a:ext cx="50577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①  이어서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6B3A4C4-72ED-4910-928A-A94DA0CC83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3219450"/>
            <a:ext cx="5400675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475569"/>
            </a:solidFill>
            <a:prstDash val="solid"/>
          </a:ln>
        </p:spPr>
      </p:sp>
      <p:sp>
        <p:nvSpPr>
          <p:cNvPr id="10" name="q-q3_r4-option-2">
            <a:extLst xmlns:a="http://schemas.openxmlformats.org/drawingml/2006/main">
              <a:ext uri="{FF2B5EF4-FFF2-40B4-BE49-F238E27FC236}">
                <a16:creationId xmlns:a16="http://schemas.microsoft.com/office/drawing/2014/main" id="{FAC1F4AC-4DA7-4D33-8804-FEC7A092E6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5075" y="3276600"/>
            <a:ext cx="50577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②  이라서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0F860AA-A83B-46B6-AD20-B46662077E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95750"/>
            <a:ext cx="5400675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475569"/>
            </a:solidFill>
            <a:prstDash val="solid"/>
          </a:ln>
        </p:spPr>
      </p:sp>
      <p:sp>
        <p:nvSpPr>
          <p:cNvPr id="12" name="q-q3_r4-option-3">
            <a:extLst xmlns:a="http://schemas.openxmlformats.org/drawingml/2006/main">
              <a:ext uri="{FF2B5EF4-FFF2-40B4-BE49-F238E27FC236}">
                <a16:creationId xmlns:a16="http://schemas.microsoft.com/office/drawing/2014/main" id="{4160C5B5-4E52-44B1-AAFC-ECC1708303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152900"/>
            <a:ext cx="50577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③  이거나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B58D30E-E707-46C7-BFF7-F818D2E1EC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4095750"/>
            <a:ext cx="5400675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475569"/>
            </a:solidFill>
            <a:prstDash val="solid"/>
          </a:ln>
        </p:spPr>
      </p:sp>
      <p:sp>
        <p:nvSpPr>
          <p:cNvPr id="14" name="q-q3_r4-option-4">
            <a:extLst xmlns:a="http://schemas.openxmlformats.org/drawingml/2006/main">
              <a:ext uri="{FF2B5EF4-FFF2-40B4-BE49-F238E27FC236}">
                <a16:creationId xmlns:a16="http://schemas.microsoft.com/office/drawing/2014/main" id="{AFA65E4A-15D9-4F5F-BF7D-3DEF187FF0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5075" y="4152900"/>
            <a:ext cx="50577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④  이지만</a:t>
            </a:r>
          </a:p>
        </p:txBody>
      </p:sp>
      <p:sp>
        <p:nvSpPr>
          <p:cNvPr id="15" name="footer-brand">
            <a:extLst xmlns:a="http://schemas.openxmlformats.org/drawingml/2006/main">
              <a:ext uri="{FF2B5EF4-FFF2-40B4-BE49-F238E27FC236}">
                <a16:creationId xmlns:a16="http://schemas.microsoft.com/office/drawing/2014/main" id="{917FAA01-A502-4A77-AFEB-AF9851650A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96050"/>
            <a:ext cx="3238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050">
                <a:solidFill>
                  <a:srgbClr val="94A3B8"/>
                </a:solidFill>
              </a:defRPr>
            </a:pPr>
            <a:r>
              <a:rPr sz="1050">
                <a:solidFill>
                  <a:srgbClr val="94A3B8"/>
                </a:solidFill>
              </a:rPr>
              <a:t>TOPIK-Edu Smart Academy</a:t>
            </a:r>
          </a:p>
        </p:txBody>
      </p:sp>
      <p:sp>
        <p:nvSpPr>
          <p:cNvPr id="16" name="footer-page">
            <a:extLst xmlns:a="http://schemas.openxmlformats.org/drawingml/2006/main">
              <a:ext uri="{FF2B5EF4-FFF2-40B4-BE49-F238E27FC236}">
                <a16:creationId xmlns:a16="http://schemas.microsoft.com/office/drawing/2014/main" id="{32037FBE-C24B-4F54-A607-DEEF45AAC9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6496050"/>
            <a:ext cx="2171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buNone/>
              <a:defRPr sz="1050">
                <a:solidFill>
                  <a:srgbClr val="94A3B8"/>
                </a:solidFill>
              </a:defRPr>
            </a:pPr>
            <a:r>
              <a:rPr sz="1050">
                <a:solidFill>
                  <a:srgbClr val="94A3B8"/>
                </a:solidFill>
              </a:rPr>
              <a:t>3회차 · 4/13</a:t>
            </a:r>
          </a:p>
        </p:txBody>
      </p:sp>
    </p:spTree>
    <p:extLst>
      <p:ext uri="{BB962C8B-B14F-4D97-AF65-F5344CB8AC3E}">
        <p14:creationId xmlns:p14="http://schemas.microsoft.com/office/powerpoint/2010/main" val="560092942"/>
      </p:ext>
    </p:extLst>
  </p:cSld>
</p:sld>
</file>

<file path=ppt/slides/slide42.xml><?xml version="1.0" encoding="utf-8"?>
<p:sld xmlns:p="http://schemas.openxmlformats.org/presentationml/2006/main">
  <p:cSld>
    <p:bg>
      <p:bgPr>
        <a:solidFill xmlns:a="http://schemas.openxmlformats.org/drawingml/2006/main">
          <a:srgbClr val="0F17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F95A7F7-C42D-47E0-807E-08D6768D13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228600"/>
            <a:ext cx="11468100" cy="6191250"/>
          </a:xfrm>
          <a:prstGeom xmlns:a="http://schemas.openxmlformats.org/drawingml/2006/main" prst="roundRect">
            <a:avLst>
              <a:gd name="adj" fmla="val 1846"/>
            </a:avLst>
          </a:prstGeom>
          <a:solidFill xmlns:a="http://schemas.openxmlformats.org/drawingml/2006/main">
            <a:srgbClr val="1E293B"/>
          </a:solidFill>
          <a:ln xmlns:a="http://schemas.openxmlformats.org/drawingml/2006/main" w="9525">
            <a:solidFill>
              <a:srgbClr val="334155"/>
            </a:solidFill>
            <a:prstDash val="solid"/>
          </a:ln>
        </p:spPr>
      </p:sp>
      <p:sp>
        <p:nvSpPr>
          <p:cNvPr id="2" name="q-q3_r5-number">
            <a:extLst xmlns:a="http://schemas.openxmlformats.org/drawingml/2006/main">
              <a:ext uri="{FF2B5EF4-FFF2-40B4-BE49-F238E27FC236}">
                <a16:creationId xmlns:a16="http://schemas.microsoft.com/office/drawing/2014/main" id="{CE1C3749-FBAD-4E74-A279-8FDA065C2F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00050"/>
            <a:ext cx="1714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C7D2FE"/>
                </a:solidFill>
              </a:defRPr>
            </a:pPr>
            <a:r>
              <a:rPr sz="1350" b="1">
                <a:solidFill>
                  <a:srgbClr val="C7D2FE"/>
                </a:solidFill>
              </a:rPr>
              <a:t>문제 05</a:t>
            </a:r>
          </a:p>
        </p:txBody>
      </p:sp>
      <p:sp>
        <p:nvSpPr>
          <p:cNvPr id="3" name="q-q3_r5-category">
            <a:extLst xmlns:a="http://schemas.openxmlformats.org/drawingml/2006/main">
              <a:ext uri="{FF2B5EF4-FFF2-40B4-BE49-F238E27FC236}">
                <a16:creationId xmlns:a16="http://schemas.microsoft.com/office/drawing/2014/main" id="{049C2852-71B9-4927-8EFF-E2A4CD9A91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400050"/>
            <a:ext cx="3524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buNone/>
              <a:defRPr sz="1275" b="1">
                <a:solidFill>
                  <a:srgbClr val="5EEAD4"/>
                </a:solidFill>
              </a:defRPr>
            </a:pPr>
            <a:r>
              <a:rPr sz="1275" b="1">
                <a:solidFill>
                  <a:srgbClr val="5EEAD4"/>
                </a:solidFill>
              </a:rPr>
              <a:t>읽기 (Reading) 추가 기출</a:t>
            </a:r>
          </a:p>
        </p:txBody>
      </p:sp>
      <p:sp>
        <p:nvSpPr>
          <p:cNvPr id="4" name="q-q3_r5-text">
            <a:extLst xmlns:a="http://schemas.openxmlformats.org/drawingml/2006/main">
              <a:ext uri="{FF2B5EF4-FFF2-40B4-BE49-F238E27FC236}">
                <a16:creationId xmlns:a16="http://schemas.microsoft.com/office/drawing/2014/main" id="{F702CE5C-73E2-4B5C-90F5-11CCBBA721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38200"/>
            <a:ext cx="109347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buNone/>
              <a:defRPr sz="2625" b="1">
                <a:solidFill>
                  <a:srgbClr val="FFFFFF"/>
                </a:solidFill>
              </a:defRPr>
            </a:pPr>
            <a:r>
              <a:rPr sz="2625" b="1">
                <a:solidFill>
                  <a:srgbClr val="FFFFFF"/>
                </a:solidFill>
              </a:rPr>
              <a:t>다음 글의 내용과 일치하는 것(같은 것)을 고르십시오.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7092EBA-34C6-4374-9772-DEC818DC69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19250"/>
            <a:ext cx="10934700" cy="1381125"/>
          </a:xfrm>
          <a:prstGeom xmlns:a="http://schemas.openxmlformats.org/drawingml/2006/main" prst="roundRect">
            <a:avLst>
              <a:gd name="adj" fmla="val 8276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475569"/>
            </a:solidFill>
            <a:prstDash val="solid"/>
          </a:ln>
        </p:spPr>
      </p:sp>
      <p:sp>
        <p:nvSpPr>
          <p:cNvPr id="6" name="q-q3_r5-passage">
            <a:extLst xmlns:a="http://schemas.openxmlformats.org/drawingml/2006/main">
              <a:ext uri="{FF2B5EF4-FFF2-40B4-BE49-F238E27FC236}">
                <a16:creationId xmlns:a16="http://schemas.microsoft.com/office/drawing/2014/main" id="{6C452D24-9FE1-4564-A665-40A57CDFD7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733550"/>
            <a:ext cx="10553700" cy="1152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buNone/>
              <a:defRPr sz="1875">
                <a:solidFill>
                  <a:srgbClr val="FFFFFF"/>
                </a:solidFill>
              </a:defRPr>
            </a:pPr>
            <a:r>
              <a:rPr sz="1875">
                <a:solidFill>
                  <a:srgbClr val="FFFFFF"/>
                </a:solidFill>
              </a:rPr>
              <a:t>우리 동네에는 아주 크고 예쁜 카페가 있습니다. 커피 맛도 정말 훌륭하고 조용합니다. 저는 오늘 오후에 그 카페에 가서 커피를 마시며 재미있는 소설책을 읽을 계획입니다.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C316B3B-95EC-44B4-811A-4DA8D9803F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19450"/>
            <a:ext cx="5400675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475569"/>
            </a:solidFill>
            <a:prstDash val="solid"/>
          </a:ln>
        </p:spPr>
      </p:sp>
      <p:sp>
        <p:nvSpPr>
          <p:cNvPr id="8" name="q-q3_r5-option-1">
            <a:extLst xmlns:a="http://schemas.openxmlformats.org/drawingml/2006/main">
              <a:ext uri="{FF2B5EF4-FFF2-40B4-BE49-F238E27FC236}">
                <a16:creationId xmlns:a16="http://schemas.microsoft.com/office/drawing/2014/main" id="{4AD7452B-E007-4636-AE58-F1BF2E0CB3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276600"/>
            <a:ext cx="50577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①  저는 오늘 동네 카페에 갈 계획입니다.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6944310-2921-4273-8A3C-12E930ADDA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3219450"/>
            <a:ext cx="5400675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475569"/>
            </a:solidFill>
            <a:prstDash val="solid"/>
          </a:ln>
        </p:spPr>
      </p:sp>
      <p:sp>
        <p:nvSpPr>
          <p:cNvPr id="10" name="q-q3_r5-option-2">
            <a:extLst xmlns:a="http://schemas.openxmlformats.org/drawingml/2006/main">
              <a:ext uri="{FF2B5EF4-FFF2-40B4-BE49-F238E27FC236}">
                <a16:creationId xmlns:a16="http://schemas.microsoft.com/office/drawing/2014/main" id="{CAC67BEE-E1A3-4F61-8FE7-D8945F916E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5075" y="3276600"/>
            <a:ext cx="50577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②  동네 카페는 커피가 맛이 없습니다.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C82E5B4-0385-4C58-95E1-CC9D7D50D3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95750"/>
            <a:ext cx="5400675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475569"/>
            </a:solidFill>
            <a:prstDash val="solid"/>
          </a:ln>
        </p:spPr>
      </p:sp>
      <p:sp>
        <p:nvSpPr>
          <p:cNvPr id="12" name="q-q3_r5-option-3">
            <a:extLst xmlns:a="http://schemas.openxmlformats.org/drawingml/2006/main">
              <a:ext uri="{FF2B5EF4-FFF2-40B4-BE49-F238E27FC236}">
                <a16:creationId xmlns:a16="http://schemas.microsoft.com/office/drawing/2014/main" id="{856EF640-D21E-4D09-B42A-2B31FB472F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152900"/>
            <a:ext cx="50577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③  저는 오늘 카페에서 친구를 만날 것입니다.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8FE4AC1-E34F-4604-88E2-E8476E5C7C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4095750"/>
            <a:ext cx="5400675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475569"/>
            </a:solidFill>
            <a:prstDash val="solid"/>
          </a:ln>
        </p:spPr>
      </p:sp>
      <p:sp>
        <p:nvSpPr>
          <p:cNvPr id="14" name="q-q3_r5-option-4">
            <a:extLst xmlns:a="http://schemas.openxmlformats.org/drawingml/2006/main">
              <a:ext uri="{FF2B5EF4-FFF2-40B4-BE49-F238E27FC236}">
                <a16:creationId xmlns:a16="http://schemas.microsoft.com/office/drawing/2014/main" id="{32D798CE-DEBB-474A-809A-B58D9BD035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5075" y="4152900"/>
            <a:ext cx="50577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④  우리 동네 카페는 가격이 너무 비쌉니다.</a:t>
            </a:r>
          </a:p>
        </p:txBody>
      </p:sp>
      <p:sp>
        <p:nvSpPr>
          <p:cNvPr id="15" name="footer-brand">
            <a:extLst xmlns:a="http://schemas.openxmlformats.org/drawingml/2006/main">
              <a:ext uri="{FF2B5EF4-FFF2-40B4-BE49-F238E27FC236}">
                <a16:creationId xmlns:a16="http://schemas.microsoft.com/office/drawing/2014/main" id="{06382FE4-75C2-480F-A54D-DA3D944D0E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96050"/>
            <a:ext cx="3238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050">
                <a:solidFill>
                  <a:srgbClr val="94A3B8"/>
                </a:solidFill>
              </a:defRPr>
            </a:pPr>
            <a:r>
              <a:rPr sz="1050">
                <a:solidFill>
                  <a:srgbClr val="94A3B8"/>
                </a:solidFill>
              </a:rPr>
              <a:t>TOPIK-Edu Smart Academy</a:t>
            </a:r>
          </a:p>
        </p:txBody>
      </p:sp>
      <p:sp>
        <p:nvSpPr>
          <p:cNvPr id="16" name="footer-page">
            <a:extLst xmlns:a="http://schemas.openxmlformats.org/drawingml/2006/main">
              <a:ext uri="{FF2B5EF4-FFF2-40B4-BE49-F238E27FC236}">
                <a16:creationId xmlns:a16="http://schemas.microsoft.com/office/drawing/2014/main" id="{C1BD5802-A789-4B3E-8CBD-692EB33C2C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6496050"/>
            <a:ext cx="2171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buNone/>
              <a:defRPr sz="1050">
                <a:solidFill>
                  <a:srgbClr val="94A3B8"/>
                </a:solidFill>
              </a:defRPr>
            </a:pPr>
            <a:r>
              <a:rPr sz="1050">
                <a:solidFill>
                  <a:srgbClr val="94A3B8"/>
                </a:solidFill>
              </a:rPr>
              <a:t>3회차 · 5/13</a:t>
            </a:r>
          </a:p>
        </p:txBody>
      </p:sp>
    </p:spTree>
    <p:extLst>
      <p:ext uri="{BB962C8B-B14F-4D97-AF65-F5344CB8AC3E}">
        <p14:creationId xmlns:p14="http://schemas.microsoft.com/office/powerpoint/2010/main" val="1575906483"/>
      </p:ext>
    </p:extLst>
  </p:cSld>
</p:sld>
</file>

<file path=ppt/slides/slide43.xml><?xml version="1.0" encoding="utf-8"?>
<p:sld xmlns:p="http://schemas.openxmlformats.org/presentationml/2006/main">
  <p:cSld>
    <p:bg>
      <p:bgPr>
        <a:solidFill xmlns:a="http://schemas.openxmlformats.org/drawingml/2006/main">
          <a:srgbClr val="0F17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F5D25AF-A66A-46E2-89A3-35C1D26F98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228600"/>
            <a:ext cx="11468100" cy="6191250"/>
          </a:xfrm>
          <a:prstGeom xmlns:a="http://schemas.openxmlformats.org/drawingml/2006/main" prst="roundRect">
            <a:avLst>
              <a:gd name="adj" fmla="val 1846"/>
            </a:avLst>
          </a:prstGeom>
          <a:solidFill xmlns:a="http://schemas.openxmlformats.org/drawingml/2006/main">
            <a:srgbClr val="1E293B"/>
          </a:solidFill>
          <a:ln xmlns:a="http://schemas.openxmlformats.org/drawingml/2006/main" w="9525">
            <a:solidFill>
              <a:srgbClr val="334155"/>
            </a:solidFill>
            <a:prstDash val="solid"/>
          </a:ln>
        </p:spPr>
      </p:sp>
      <p:sp>
        <p:nvSpPr>
          <p:cNvPr id="2" name="q-q3_l1-number">
            <a:extLst xmlns:a="http://schemas.openxmlformats.org/drawingml/2006/main">
              <a:ext uri="{FF2B5EF4-FFF2-40B4-BE49-F238E27FC236}">
                <a16:creationId xmlns:a16="http://schemas.microsoft.com/office/drawing/2014/main" id="{C4DF83EA-7C48-4A14-969E-6D5993B964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00050"/>
            <a:ext cx="1714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C7D2FE"/>
                </a:solidFill>
              </a:defRPr>
            </a:pPr>
            <a:r>
              <a:rPr sz="1350" b="1">
                <a:solidFill>
                  <a:srgbClr val="C7D2FE"/>
                </a:solidFill>
              </a:rPr>
              <a:t>문제 06</a:t>
            </a:r>
          </a:p>
        </p:txBody>
      </p:sp>
      <p:sp>
        <p:nvSpPr>
          <p:cNvPr id="3" name="q-q3_l1-category">
            <a:extLst xmlns:a="http://schemas.openxmlformats.org/drawingml/2006/main">
              <a:ext uri="{FF2B5EF4-FFF2-40B4-BE49-F238E27FC236}">
                <a16:creationId xmlns:a16="http://schemas.microsoft.com/office/drawing/2014/main" id="{F9F3BAA8-FCF0-41F9-A309-FD9F7E1BE7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400050"/>
            <a:ext cx="3524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buNone/>
              <a:defRPr sz="1275" b="1">
                <a:solidFill>
                  <a:srgbClr val="5EEAD4"/>
                </a:solidFill>
              </a:defRPr>
            </a:pPr>
            <a:r>
              <a:rPr sz="1275" b="1">
                <a:solidFill>
                  <a:srgbClr val="5EEAD4"/>
                </a:solidFill>
              </a:rPr>
              <a:t>듣기 (Listening) 기출</a:t>
            </a:r>
          </a:p>
        </p:txBody>
      </p:sp>
      <p:sp>
        <p:nvSpPr>
          <p:cNvPr id="4" name="q-q3_l1-text">
            <a:extLst xmlns:a="http://schemas.openxmlformats.org/drawingml/2006/main">
              <a:ext uri="{FF2B5EF4-FFF2-40B4-BE49-F238E27FC236}">
                <a16:creationId xmlns:a16="http://schemas.microsoft.com/office/drawing/2014/main" id="{CAFDD70A-AA4F-450E-BF97-71ED3AC085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38200"/>
            <a:ext cx="109347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buNone/>
              <a:defRPr sz="2625" b="1">
                <a:solidFill>
                  <a:srgbClr val="FFFFFF"/>
                </a:solidFill>
              </a:defRPr>
            </a:pPr>
            <a:r>
              <a:rPr sz="2625" b="1">
                <a:solidFill>
                  <a:srgbClr val="FFFFFF"/>
                </a:solidFill>
              </a:rPr>
              <a:t>다음을 듣고 이어질 대화로 가장 알맞은 것을 고르십시오. (TOPIK I 기출)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E83AA8D-ED9C-4577-9C4D-67B555152E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09800"/>
            <a:ext cx="5400675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475569"/>
            </a:solidFill>
            <a:prstDash val="solid"/>
          </a:ln>
        </p:spPr>
      </p:sp>
      <p:sp>
        <p:nvSpPr>
          <p:cNvPr id="6" name="q-q3_l1-option-1">
            <a:extLst xmlns:a="http://schemas.openxmlformats.org/drawingml/2006/main">
              <a:ext uri="{FF2B5EF4-FFF2-40B4-BE49-F238E27FC236}">
                <a16:creationId xmlns:a16="http://schemas.microsoft.com/office/drawing/2014/main" id="{69E2F1B3-870F-4A73-8208-E6040C9B36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266950"/>
            <a:ext cx="50577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①  주말에 날씨가 아주 좋았어요.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DD573DA-3F38-4BDA-8B7D-62C123084C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2209800"/>
            <a:ext cx="5400675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475569"/>
            </a:solidFill>
            <a:prstDash val="solid"/>
          </a:ln>
        </p:spPr>
      </p:sp>
      <p:sp>
        <p:nvSpPr>
          <p:cNvPr id="8" name="q-q3_l1-option-2">
            <a:extLst xmlns:a="http://schemas.openxmlformats.org/drawingml/2006/main">
              <a:ext uri="{FF2B5EF4-FFF2-40B4-BE49-F238E27FC236}">
                <a16:creationId xmlns:a16="http://schemas.microsoft.com/office/drawing/2014/main" id="{B85845E3-52BC-4E77-AD7B-EFA419A417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5075" y="2266950"/>
            <a:ext cx="50577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②  집에서 재미있는 책을 읽을 거예요.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06BB144-9B01-4C1F-9048-C1820A6481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86100"/>
            <a:ext cx="5400675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475569"/>
            </a:solidFill>
            <a:prstDash val="solid"/>
          </a:ln>
        </p:spPr>
      </p:sp>
      <p:sp>
        <p:nvSpPr>
          <p:cNvPr id="10" name="q-q3_l1-option-3">
            <a:extLst xmlns:a="http://schemas.openxmlformats.org/drawingml/2006/main">
              <a:ext uri="{FF2B5EF4-FFF2-40B4-BE49-F238E27FC236}">
                <a16:creationId xmlns:a16="http://schemas.microsoft.com/office/drawing/2014/main" id="{95B022F2-E5D6-452D-9A94-D005AF31E1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143250"/>
            <a:ext cx="50577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③  지난주에 친구를 만나 영화를 봤어요.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A946E88-E3F2-4E3F-BB0D-D3AD107FDD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3086100"/>
            <a:ext cx="5400675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475569"/>
            </a:solidFill>
            <a:prstDash val="solid"/>
          </a:ln>
        </p:spPr>
      </p:sp>
      <p:sp>
        <p:nvSpPr>
          <p:cNvPr id="12" name="q-q3_l1-option-4">
            <a:extLst xmlns:a="http://schemas.openxmlformats.org/drawingml/2006/main">
              <a:ext uri="{FF2B5EF4-FFF2-40B4-BE49-F238E27FC236}">
                <a16:creationId xmlns:a16="http://schemas.microsoft.com/office/drawing/2014/main" id="{17FCC6BA-0469-47B7-BEF7-D9EA12EB1C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5075" y="3143250"/>
            <a:ext cx="50577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④  영화관이 우리 집에서 아주 멀어요.</a:t>
            </a:r>
          </a:p>
        </p:txBody>
      </p:sp>
      <p:sp>
        <p:nvSpPr>
          <p:cNvPr id="13" name="footer-brand">
            <a:extLst xmlns:a="http://schemas.openxmlformats.org/drawingml/2006/main">
              <a:ext uri="{FF2B5EF4-FFF2-40B4-BE49-F238E27FC236}">
                <a16:creationId xmlns:a16="http://schemas.microsoft.com/office/drawing/2014/main" id="{80EAFE17-5BFC-4AD8-A315-7D168C8198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96050"/>
            <a:ext cx="3238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050">
                <a:solidFill>
                  <a:srgbClr val="94A3B8"/>
                </a:solidFill>
              </a:defRPr>
            </a:pPr>
            <a:r>
              <a:rPr sz="1050">
                <a:solidFill>
                  <a:srgbClr val="94A3B8"/>
                </a:solidFill>
              </a:rPr>
              <a:t>TOPIK-Edu Smart Academy</a:t>
            </a:r>
          </a:p>
        </p:txBody>
      </p:sp>
      <p:sp>
        <p:nvSpPr>
          <p:cNvPr id="14" name="footer-page">
            <a:extLst xmlns:a="http://schemas.openxmlformats.org/drawingml/2006/main">
              <a:ext uri="{FF2B5EF4-FFF2-40B4-BE49-F238E27FC236}">
                <a16:creationId xmlns:a16="http://schemas.microsoft.com/office/drawing/2014/main" id="{87010956-730D-48AE-97E8-A7D0154D78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6496050"/>
            <a:ext cx="2171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buNone/>
              <a:defRPr sz="1050">
                <a:solidFill>
                  <a:srgbClr val="94A3B8"/>
                </a:solidFill>
              </a:defRPr>
            </a:pPr>
            <a:r>
              <a:rPr sz="1050">
                <a:solidFill>
                  <a:srgbClr val="94A3B8"/>
                </a:solidFill>
              </a:rPr>
              <a:t>3회차 · 6/13</a:t>
            </a:r>
          </a:p>
        </p:txBody>
      </p:sp>
    </p:spTree>
    <p:extLst>
      <p:ext uri="{BB962C8B-B14F-4D97-AF65-F5344CB8AC3E}">
        <p14:creationId xmlns:p14="http://schemas.microsoft.com/office/powerpoint/2010/main" val="1425886544"/>
      </p:ext>
    </p:extLst>
  </p:cSld>
</p:sld>
</file>

<file path=ppt/slides/slide44.xml><?xml version="1.0" encoding="utf-8"?>
<p:sld xmlns:p="http://schemas.openxmlformats.org/presentationml/2006/main">
  <p:cSld>
    <p:bg>
      <p:bgPr>
        <a:solidFill xmlns:a="http://schemas.openxmlformats.org/drawingml/2006/main">
          <a:srgbClr val="0F17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D101158-832A-4C8C-82BD-F186E79AFA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228600"/>
            <a:ext cx="11468100" cy="6191250"/>
          </a:xfrm>
          <a:prstGeom xmlns:a="http://schemas.openxmlformats.org/drawingml/2006/main" prst="roundRect">
            <a:avLst>
              <a:gd name="adj" fmla="val 1846"/>
            </a:avLst>
          </a:prstGeom>
          <a:solidFill xmlns:a="http://schemas.openxmlformats.org/drawingml/2006/main">
            <a:srgbClr val="1E293B"/>
          </a:solidFill>
          <a:ln xmlns:a="http://schemas.openxmlformats.org/drawingml/2006/main" w="9525">
            <a:solidFill>
              <a:srgbClr val="334155"/>
            </a:solidFill>
            <a:prstDash val="solid"/>
          </a:ln>
        </p:spPr>
      </p:sp>
      <p:sp>
        <p:nvSpPr>
          <p:cNvPr id="2" name="q-q3_l2-number">
            <a:extLst xmlns:a="http://schemas.openxmlformats.org/drawingml/2006/main">
              <a:ext uri="{FF2B5EF4-FFF2-40B4-BE49-F238E27FC236}">
                <a16:creationId xmlns:a16="http://schemas.microsoft.com/office/drawing/2014/main" id="{553610B9-4A5A-4A93-9BA4-E5DBE9513A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00050"/>
            <a:ext cx="1714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C7D2FE"/>
                </a:solidFill>
              </a:defRPr>
            </a:pPr>
            <a:r>
              <a:rPr sz="1350" b="1">
                <a:solidFill>
                  <a:srgbClr val="C7D2FE"/>
                </a:solidFill>
              </a:rPr>
              <a:t>문제 07</a:t>
            </a:r>
          </a:p>
        </p:txBody>
      </p:sp>
      <p:sp>
        <p:nvSpPr>
          <p:cNvPr id="3" name="q-q3_l2-category">
            <a:extLst xmlns:a="http://schemas.openxmlformats.org/drawingml/2006/main">
              <a:ext uri="{FF2B5EF4-FFF2-40B4-BE49-F238E27FC236}">
                <a16:creationId xmlns:a16="http://schemas.microsoft.com/office/drawing/2014/main" id="{99CABB96-57E6-4C6F-A35E-4157BBC576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400050"/>
            <a:ext cx="3524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buNone/>
              <a:defRPr sz="1275" b="1">
                <a:solidFill>
                  <a:srgbClr val="5EEAD4"/>
                </a:solidFill>
              </a:defRPr>
            </a:pPr>
            <a:r>
              <a:rPr sz="1275" b="1">
                <a:solidFill>
                  <a:srgbClr val="5EEAD4"/>
                </a:solidFill>
              </a:rPr>
              <a:t>듣기 (Listening) 기출</a:t>
            </a:r>
          </a:p>
        </p:txBody>
      </p:sp>
      <p:sp>
        <p:nvSpPr>
          <p:cNvPr id="4" name="q-q3_l2-text">
            <a:extLst xmlns:a="http://schemas.openxmlformats.org/drawingml/2006/main">
              <a:ext uri="{FF2B5EF4-FFF2-40B4-BE49-F238E27FC236}">
                <a16:creationId xmlns:a16="http://schemas.microsoft.com/office/drawing/2014/main" id="{341CD768-686D-4E82-A8C4-32A38D3325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38200"/>
            <a:ext cx="109347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buNone/>
              <a:defRPr sz="2625" b="1">
                <a:solidFill>
                  <a:srgbClr val="FFFFFF"/>
                </a:solidFill>
              </a:defRPr>
            </a:pPr>
            <a:r>
              <a:rPr sz="2625" b="1">
                <a:solidFill>
                  <a:srgbClr val="FFFFFF"/>
                </a:solidFill>
              </a:rPr>
              <a:t>다음을 듣고 대화가 끝난 후 두 사람이 할 행동으로 가장 알맞은 것을 고르십시오. (TOPIK I 기출)</a:t>
            </a:r>
          </a:p>
        </p:txBody>
      </p:sp>
      <p:pic>
        <p:nvPicPr>
          <p:cNvPr id="2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efb24735adb4a94"/>
          <a:stretch xmlns:a="http://schemas.openxmlformats.org/drawingml/2006/main"/>
        </p:blipFill>
        <p:spPr>
          <a:xfrm xmlns:a="http://schemas.openxmlformats.org/drawingml/2006/main">
            <a:off x="666750" y="2156460"/>
            <a:ext cx="3714750" cy="2773680"/>
          </a:xfrm>
          <a:prstGeom xmlns:a="http://schemas.openxmlformats.org/drawingml/2006/main" prst="roundRect">
            <a:avLst>
              <a:gd name="adj" fmla="val 4000"/>
            </a:avLst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0A45FC0-B52C-4360-8ABC-AC428BFB3A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114550"/>
            <a:ext cx="6743700" cy="666750"/>
          </a:xfrm>
          <a:prstGeom xmlns:a="http://schemas.openxmlformats.org/drawingml/2006/main" prst="roundRect">
            <a:avLst>
              <a:gd name="adj" fmla="val 17143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475569"/>
            </a:solidFill>
            <a:prstDash val="solid"/>
          </a:ln>
        </p:spPr>
      </p:sp>
      <p:sp>
        <p:nvSpPr>
          <p:cNvPr id="7" name="q-q3_l2-option-1">
            <a:extLst xmlns:a="http://schemas.openxmlformats.org/drawingml/2006/main">
              <a:ext uri="{FF2B5EF4-FFF2-40B4-BE49-F238E27FC236}">
                <a16:creationId xmlns:a16="http://schemas.microsoft.com/office/drawing/2014/main" id="{75D021C4-4233-4283-ACB6-13C50E17FB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2171700"/>
            <a:ext cx="64008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①  편의점에 우산을 사러 갑니다.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EF93A0E-E3E5-4583-B59B-2ADA334D48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876550"/>
            <a:ext cx="6743700" cy="666750"/>
          </a:xfrm>
          <a:prstGeom xmlns:a="http://schemas.openxmlformats.org/drawingml/2006/main" prst="roundRect">
            <a:avLst>
              <a:gd name="adj" fmla="val 17143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475569"/>
            </a:solidFill>
            <a:prstDash val="solid"/>
          </a:ln>
        </p:spPr>
      </p:sp>
      <p:sp>
        <p:nvSpPr>
          <p:cNvPr id="9" name="q-q3_l2-option-2">
            <a:extLst xmlns:a="http://schemas.openxmlformats.org/drawingml/2006/main">
              <a:ext uri="{FF2B5EF4-FFF2-40B4-BE49-F238E27FC236}">
                <a16:creationId xmlns:a16="http://schemas.microsoft.com/office/drawing/2014/main" id="{57E8FE85-6EF1-4984-B217-2C316A1333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2933700"/>
            <a:ext cx="64008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②  공원에 가서 운동을 합니다.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A526847-09B4-4345-925C-8D76E2B358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3638550"/>
            <a:ext cx="6743700" cy="666750"/>
          </a:xfrm>
          <a:prstGeom xmlns:a="http://schemas.openxmlformats.org/drawingml/2006/main" prst="roundRect">
            <a:avLst>
              <a:gd name="adj" fmla="val 17143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475569"/>
            </a:solidFill>
            <a:prstDash val="solid"/>
          </a:ln>
        </p:spPr>
      </p:sp>
      <p:sp>
        <p:nvSpPr>
          <p:cNvPr id="11" name="q-q3_l2-option-3">
            <a:extLst xmlns:a="http://schemas.openxmlformats.org/drawingml/2006/main">
              <a:ext uri="{FF2B5EF4-FFF2-40B4-BE49-F238E27FC236}">
                <a16:creationId xmlns:a16="http://schemas.microsoft.com/office/drawing/2014/main" id="{B422AFF9-DC34-4883-90E0-40A46028B9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3695700"/>
            <a:ext cx="64008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③  도서관에서 책을 빌립니다.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2434326-717A-427F-BE77-C84A0FFA83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4400550"/>
            <a:ext cx="6743700" cy="666750"/>
          </a:xfrm>
          <a:prstGeom xmlns:a="http://schemas.openxmlformats.org/drawingml/2006/main" prst="roundRect">
            <a:avLst>
              <a:gd name="adj" fmla="val 17143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475569"/>
            </a:solidFill>
            <a:prstDash val="solid"/>
          </a:ln>
        </p:spPr>
      </p:sp>
      <p:sp>
        <p:nvSpPr>
          <p:cNvPr id="13" name="q-q3_l2-option-4">
            <a:extLst xmlns:a="http://schemas.openxmlformats.org/drawingml/2006/main">
              <a:ext uri="{FF2B5EF4-FFF2-40B4-BE49-F238E27FC236}">
                <a16:creationId xmlns:a16="http://schemas.microsoft.com/office/drawing/2014/main" id="{9B1B95E5-E37A-4ADF-856C-F58BD6BCF7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4457700"/>
            <a:ext cx="64008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④  친구에게 우산을 빌려줍니다.</a:t>
            </a:r>
          </a:p>
        </p:txBody>
      </p:sp>
      <p:sp>
        <p:nvSpPr>
          <p:cNvPr id="14" name="footer-brand">
            <a:extLst xmlns:a="http://schemas.openxmlformats.org/drawingml/2006/main">
              <a:ext uri="{FF2B5EF4-FFF2-40B4-BE49-F238E27FC236}">
                <a16:creationId xmlns:a16="http://schemas.microsoft.com/office/drawing/2014/main" id="{F9E91814-987C-44A5-80CA-10A9D30006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96050"/>
            <a:ext cx="3238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050">
                <a:solidFill>
                  <a:srgbClr val="94A3B8"/>
                </a:solidFill>
              </a:defRPr>
            </a:pPr>
            <a:r>
              <a:rPr sz="1050">
                <a:solidFill>
                  <a:srgbClr val="94A3B8"/>
                </a:solidFill>
              </a:rPr>
              <a:t>TOPIK-Edu Smart Academy</a:t>
            </a:r>
          </a:p>
        </p:txBody>
      </p:sp>
      <p:sp>
        <p:nvSpPr>
          <p:cNvPr id="15" name="footer-page">
            <a:extLst xmlns:a="http://schemas.openxmlformats.org/drawingml/2006/main">
              <a:ext uri="{FF2B5EF4-FFF2-40B4-BE49-F238E27FC236}">
                <a16:creationId xmlns:a16="http://schemas.microsoft.com/office/drawing/2014/main" id="{D7338130-225B-4DF1-AEF4-E76A3B7BD0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6496050"/>
            <a:ext cx="2171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buNone/>
              <a:defRPr sz="1050">
                <a:solidFill>
                  <a:srgbClr val="94A3B8"/>
                </a:solidFill>
              </a:defRPr>
            </a:pPr>
            <a:r>
              <a:rPr sz="1050">
                <a:solidFill>
                  <a:srgbClr val="94A3B8"/>
                </a:solidFill>
              </a:rPr>
              <a:t>3회차 · 7/13</a:t>
            </a:r>
          </a:p>
        </p:txBody>
      </p:sp>
    </p:spTree>
    <p:extLst>
      <p:ext uri="{BB962C8B-B14F-4D97-AF65-F5344CB8AC3E}">
        <p14:creationId xmlns:p14="http://schemas.microsoft.com/office/powerpoint/2010/main" val="571760981"/>
      </p:ext>
    </p:extLst>
  </p:cSld>
</p:sld>
</file>

<file path=ppt/slides/slide45.xml><?xml version="1.0" encoding="utf-8"?>
<p:sld xmlns:p="http://schemas.openxmlformats.org/presentationml/2006/main">
  <p:cSld>
    <p:bg>
      <p:bgPr>
        <a:solidFill xmlns:a="http://schemas.openxmlformats.org/drawingml/2006/main">
          <a:srgbClr val="0F17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587F0B1-7B78-4676-96AB-2F529E7C8A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228600"/>
            <a:ext cx="11468100" cy="6191250"/>
          </a:xfrm>
          <a:prstGeom xmlns:a="http://schemas.openxmlformats.org/drawingml/2006/main" prst="roundRect">
            <a:avLst>
              <a:gd name="adj" fmla="val 1846"/>
            </a:avLst>
          </a:prstGeom>
          <a:solidFill xmlns:a="http://schemas.openxmlformats.org/drawingml/2006/main">
            <a:srgbClr val="1E293B"/>
          </a:solidFill>
          <a:ln xmlns:a="http://schemas.openxmlformats.org/drawingml/2006/main" w="9525">
            <a:solidFill>
              <a:srgbClr val="334155"/>
            </a:solidFill>
            <a:prstDash val="solid"/>
          </a:ln>
        </p:spPr>
      </p:sp>
      <p:sp>
        <p:nvSpPr>
          <p:cNvPr id="2" name="q-q3_l3-number">
            <a:extLst xmlns:a="http://schemas.openxmlformats.org/drawingml/2006/main">
              <a:ext uri="{FF2B5EF4-FFF2-40B4-BE49-F238E27FC236}">
                <a16:creationId xmlns:a16="http://schemas.microsoft.com/office/drawing/2014/main" id="{861ADEE0-3A53-4E40-892D-71B5575EE9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00050"/>
            <a:ext cx="1714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C7D2FE"/>
                </a:solidFill>
              </a:defRPr>
            </a:pPr>
            <a:r>
              <a:rPr sz="1350" b="1">
                <a:solidFill>
                  <a:srgbClr val="C7D2FE"/>
                </a:solidFill>
              </a:rPr>
              <a:t>문제 08</a:t>
            </a:r>
          </a:p>
        </p:txBody>
      </p:sp>
      <p:sp>
        <p:nvSpPr>
          <p:cNvPr id="3" name="q-q3_l3-category">
            <a:extLst xmlns:a="http://schemas.openxmlformats.org/drawingml/2006/main">
              <a:ext uri="{FF2B5EF4-FFF2-40B4-BE49-F238E27FC236}">
                <a16:creationId xmlns:a16="http://schemas.microsoft.com/office/drawing/2014/main" id="{4E8F17A1-B6BB-49B3-87EB-506F0C81C8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400050"/>
            <a:ext cx="3524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buNone/>
              <a:defRPr sz="1275" b="1">
                <a:solidFill>
                  <a:srgbClr val="5EEAD4"/>
                </a:solidFill>
              </a:defRPr>
            </a:pPr>
            <a:r>
              <a:rPr sz="1275" b="1">
                <a:solidFill>
                  <a:srgbClr val="5EEAD4"/>
                </a:solidFill>
              </a:rPr>
              <a:t>듣기 (Listening) 추가 기출</a:t>
            </a:r>
          </a:p>
        </p:txBody>
      </p:sp>
      <p:sp>
        <p:nvSpPr>
          <p:cNvPr id="4" name="q-q3_l3-text">
            <a:extLst xmlns:a="http://schemas.openxmlformats.org/drawingml/2006/main">
              <a:ext uri="{FF2B5EF4-FFF2-40B4-BE49-F238E27FC236}">
                <a16:creationId xmlns:a16="http://schemas.microsoft.com/office/drawing/2014/main" id="{01A28486-72BB-4D81-A8B4-5A47F56A20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38200"/>
            <a:ext cx="109347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buNone/>
              <a:defRPr sz="2625" b="1">
                <a:solidFill>
                  <a:srgbClr val="FFFFFF"/>
                </a:solidFill>
              </a:defRPr>
            </a:pPr>
            <a:r>
              <a:rPr sz="2625" b="1">
                <a:solidFill>
                  <a:srgbClr val="FFFFFF"/>
                </a:solidFill>
              </a:rPr>
              <a:t>다음을 듣고 이어질 대화로 가장 알맞은 것을 고르십시오.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52660A5-50DA-47FD-A314-5561463DBE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09800"/>
            <a:ext cx="5400675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475569"/>
            </a:solidFill>
            <a:prstDash val="solid"/>
          </a:ln>
        </p:spPr>
      </p:sp>
      <p:sp>
        <p:nvSpPr>
          <p:cNvPr id="6" name="q-q3_l3-option-1">
            <a:extLst xmlns:a="http://schemas.openxmlformats.org/drawingml/2006/main">
              <a:ext uri="{FF2B5EF4-FFF2-40B4-BE49-F238E27FC236}">
                <a16:creationId xmlns:a16="http://schemas.microsoft.com/office/drawing/2014/main" id="{FB47893E-CC13-416D-9824-275EDF0FD6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266950"/>
            <a:ext cx="50577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①  좋아요. 아침 여덟 시에 입구에서 만나요.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261A425-CD06-490F-9B07-09E04464E6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2209800"/>
            <a:ext cx="5400675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475569"/>
            </a:solidFill>
            <a:prstDash val="solid"/>
          </a:ln>
        </p:spPr>
      </p:sp>
      <p:sp>
        <p:nvSpPr>
          <p:cNvPr id="8" name="q-q3_l3-option-2">
            <a:extLst xmlns:a="http://schemas.openxmlformats.org/drawingml/2006/main">
              <a:ext uri="{FF2B5EF4-FFF2-40B4-BE49-F238E27FC236}">
                <a16:creationId xmlns:a16="http://schemas.microsoft.com/office/drawing/2014/main" id="{189B48D1-C7F3-4211-98FB-93AF5B86EF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5075" y="2266950"/>
            <a:ext cx="50577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②  도서관에 책이 아주 많이 꽂혀 있어요.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4B73BF0-B741-4316-AA66-D19990F0B3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86100"/>
            <a:ext cx="5400675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475569"/>
            </a:solidFill>
            <a:prstDash val="solid"/>
          </a:ln>
        </p:spPr>
      </p:sp>
      <p:sp>
        <p:nvSpPr>
          <p:cNvPr id="10" name="q-q3_l3-option-3">
            <a:extLst xmlns:a="http://schemas.openxmlformats.org/drawingml/2006/main">
              <a:ext uri="{FF2B5EF4-FFF2-40B4-BE49-F238E27FC236}">
                <a16:creationId xmlns:a16="http://schemas.microsoft.com/office/drawing/2014/main" id="{8F309AA5-9DB1-4C18-A9F8-4B4EADB17B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143250"/>
            <a:ext cx="50577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③  네, 도서관은 우리 집에서 무척 멀어요.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F78437B-620A-4867-915A-4EA6A2217B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3086100"/>
            <a:ext cx="5400675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475569"/>
            </a:solidFill>
            <a:prstDash val="solid"/>
          </a:ln>
        </p:spPr>
      </p:sp>
      <p:sp>
        <p:nvSpPr>
          <p:cNvPr id="12" name="q-q3_l3-option-4">
            <a:extLst xmlns:a="http://schemas.openxmlformats.org/drawingml/2006/main">
              <a:ext uri="{FF2B5EF4-FFF2-40B4-BE49-F238E27FC236}">
                <a16:creationId xmlns:a16="http://schemas.microsoft.com/office/drawing/2014/main" id="{966BA19B-D88E-4F7B-BED8-CE78C7D0A6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5075" y="3143250"/>
            <a:ext cx="50577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④  아니요, 저는 오늘 그 소설책을 다 읽었습니다.</a:t>
            </a:r>
          </a:p>
        </p:txBody>
      </p:sp>
      <p:sp>
        <p:nvSpPr>
          <p:cNvPr id="13" name="footer-brand">
            <a:extLst xmlns:a="http://schemas.openxmlformats.org/drawingml/2006/main">
              <a:ext uri="{FF2B5EF4-FFF2-40B4-BE49-F238E27FC236}">
                <a16:creationId xmlns:a16="http://schemas.microsoft.com/office/drawing/2014/main" id="{2163ABD7-76AB-4E8F-8606-BA959251BB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96050"/>
            <a:ext cx="3238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050">
                <a:solidFill>
                  <a:srgbClr val="94A3B8"/>
                </a:solidFill>
              </a:defRPr>
            </a:pPr>
            <a:r>
              <a:rPr sz="1050">
                <a:solidFill>
                  <a:srgbClr val="94A3B8"/>
                </a:solidFill>
              </a:rPr>
              <a:t>TOPIK-Edu Smart Academy</a:t>
            </a:r>
          </a:p>
        </p:txBody>
      </p:sp>
      <p:sp>
        <p:nvSpPr>
          <p:cNvPr id="14" name="footer-page">
            <a:extLst xmlns:a="http://schemas.openxmlformats.org/drawingml/2006/main">
              <a:ext uri="{FF2B5EF4-FFF2-40B4-BE49-F238E27FC236}">
                <a16:creationId xmlns:a16="http://schemas.microsoft.com/office/drawing/2014/main" id="{BCFCB8A6-0F74-4FCD-A6F5-CAFA2EFEF3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6496050"/>
            <a:ext cx="2171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buNone/>
              <a:defRPr sz="1050">
                <a:solidFill>
                  <a:srgbClr val="94A3B8"/>
                </a:solidFill>
              </a:defRPr>
            </a:pPr>
            <a:r>
              <a:rPr sz="1050">
                <a:solidFill>
                  <a:srgbClr val="94A3B8"/>
                </a:solidFill>
              </a:rPr>
              <a:t>3회차 · 8/13</a:t>
            </a:r>
          </a:p>
        </p:txBody>
      </p:sp>
    </p:spTree>
    <p:extLst>
      <p:ext uri="{BB962C8B-B14F-4D97-AF65-F5344CB8AC3E}">
        <p14:creationId xmlns:p14="http://schemas.microsoft.com/office/powerpoint/2010/main" val="1211238781"/>
      </p:ext>
    </p:extLst>
  </p:cSld>
</p:sld>
</file>

<file path=ppt/slides/slide46.xml><?xml version="1.0" encoding="utf-8"?>
<p:sld xmlns:p="http://schemas.openxmlformats.org/presentationml/2006/main">
  <p:cSld>
    <p:bg>
      <p:bgPr>
        <a:solidFill xmlns:a="http://schemas.openxmlformats.org/drawingml/2006/main">
          <a:srgbClr val="0F17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6287267-7845-4F3F-8B25-DD4B2AF77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228600"/>
            <a:ext cx="11468100" cy="6191250"/>
          </a:xfrm>
          <a:prstGeom xmlns:a="http://schemas.openxmlformats.org/drawingml/2006/main" prst="roundRect">
            <a:avLst>
              <a:gd name="adj" fmla="val 1846"/>
            </a:avLst>
          </a:prstGeom>
          <a:solidFill xmlns:a="http://schemas.openxmlformats.org/drawingml/2006/main">
            <a:srgbClr val="1E293B"/>
          </a:solidFill>
          <a:ln xmlns:a="http://schemas.openxmlformats.org/drawingml/2006/main" w="9525">
            <a:solidFill>
              <a:srgbClr val="334155"/>
            </a:solidFill>
            <a:prstDash val="solid"/>
          </a:ln>
        </p:spPr>
      </p:sp>
      <p:sp>
        <p:nvSpPr>
          <p:cNvPr id="2" name="q-q3_l4-number">
            <a:extLst xmlns:a="http://schemas.openxmlformats.org/drawingml/2006/main">
              <a:ext uri="{FF2B5EF4-FFF2-40B4-BE49-F238E27FC236}">
                <a16:creationId xmlns:a16="http://schemas.microsoft.com/office/drawing/2014/main" id="{0C7F38A4-40D9-4CF4-9AE0-B7FDC098BD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00050"/>
            <a:ext cx="1714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C7D2FE"/>
                </a:solidFill>
              </a:defRPr>
            </a:pPr>
            <a:r>
              <a:rPr sz="1350" b="1">
                <a:solidFill>
                  <a:srgbClr val="C7D2FE"/>
                </a:solidFill>
              </a:rPr>
              <a:t>문제 09</a:t>
            </a:r>
          </a:p>
        </p:txBody>
      </p:sp>
      <p:sp>
        <p:nvSpPr>
          <p:cNvPr id="3" name="q-q3_l4-category">
            <a:extLst xmlns:a="http://schemas.openxmlformats.org/drawingml/2006/main">
              <a:ext uri="{FF2B5EF4-FFF2-40B4-BE49-F238E27FC236}">
                <a16:creationId xmlns:a16="http://schemas.microsoft.com/office/drawing/2014/main" id="{52B8D80F-925E-4831-B4BD-EDE25D5577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400050"/>
            <a:ext cx="3524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buNone/>
              <a:defRPr sz="1275" b="1">
                <a:solidFill>
                  <a:srgbClr val="5EEAD4"/>
                </a:solidFill>
              </a:defRPr>
            </a:pPr>
            <a:r>
              <a:rPr sz="1275" b="1">
                <a:solidFill>
                  <a:srgbClr val="5EEAD4"/>
                </a:solidFill>
              </a:rPr>
              <a:t>듣기 (Listening) 추가 기출</a:t>
            </a:r>
          </a:p>
        </p:txBody>
      </p:sp>
      <p:sp>
        <p:nvSpPr>
          <p:cNvPr id="4" name="q-q3_l4-text">
            <a:extLst xmlns:a="http://schemas.openxmlformats.org/drawingml/2006/main">
              <a:ext uri="{FF2B5EF4-FFF2-40B4-BE49-F238E27FC236}">
                <a16:creationId xmlns:a16="http://schemas.microsoft.com/office/drawing/2014/main" id="{AD648A63-7257-48FA-B0BC-95E0BB404C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38200"/>
            <a:ext cx="109347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buNone/>
              <a:defRPr sz="2625" b="1">
                <a:solidFill>
                  <a:srgbClr val="FFFFFF"/>
                </a:solidFill>
              </a:defRPr>
            </a:pPr>
            <a:r>
              <a:rPr sz="2625" b="1">
                <a:solidFill>
                  <a:srgbClr val="FFFFFF"/>
                </a:solidFill>
              </a:rPr>
              <a:t>다음을 듣고 두 사람이 대화하는 장소로 가장 알맞은 곳을 고르십시오.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A51B54E-D578-4BD5-8C1A-B246207E69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09800"/>
            <a:ext cx="5400675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475569"/>
            </a:solidFill>
            <a:prstDash val="solid"/>
          </a:ln>
        </p:spPr>
      </p:sp>
      <p:sp>
        <p:nvSpPr>
          <p:cNvPr id="6" name="q-q3_l4-option-1">
            <a:extLst xmlns:a="http://schemas.openxmlformats.org/drawingml/2006/main">
              <a:ext uri="{FF2B5EF4-FFF2-40B4-BE49-F238E27FC236}">
                <a16:creationId xmlns:a16="http://schemas.microsoft.com/office/drawing/2014/main" id="{EA5179BA-EAD3-4AA8-B580-F977FA19FE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266950"/>
            <a:ext cx="50577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①  병원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99A1EAD-D053-41C1-AA09-8DE862EF4C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2209800"/>
            <a:ext cx="5400675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475569"/>
            </a:solidFill>
            <a:prstDash val="solid"/>
          </a:ln>
        </p:spPr>
      </p:sp>
      <p:sp>
        <p:nvSpPr>
          <p:cNvPr id="8" name="q-q3_l4-option-2">
            <a:extLst xmlns:a="http://schemas.openxmlformats.org/drawingml/2006/main">
              <a:ext uri="{FF2B5EF4-FFF2-40B4-BE49-F238E27FC236}">
                <a16:creationId xmlns:a16="http://schemas.microsoft.com/office/drawing/2014/main" id="{AECE6D00-92B6-4125-8971-9A89390361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5075" y="2266950"/>
            <a:ext cx="50577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②  약국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703C237-4B3C-4672-81E4-C00D239F83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86100"/>
            <a:ext cx="5400675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475569"/>
            </a:solidFill>
            <a:prstDash val="solid"/>
          </a:ln>
        </p:spPr>
      </p:sp>
      <p:sp>
        <p:nvSpPr>
          <p:cNvPr id="10" name="q-q3_l4-option-3">
            <a:extLst xmlns:a="http://schemas.openxmlformats.org/drawingml/2006/main">
              <a:ext uri="{FF2B5EF4-FFF2-40B4-BE49-F238E27FC236}">
                <a16:creationId xmlns:a16="http://schemas.microsoft.com/office/drawing/2014/main" id="{5C5C3845-785D-4A87-8400-7F00586071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143250"/>
            <a:ext cx="50577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③  기차 안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3BA1E4D-5EAC-45EA-9B80-F872D705C7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3086100"/>
            <a:ext cx="5400675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475569"/>
            </a:solidFill>
            <a:prstDash val="solid"/>
          </a:ln>
        </p:spPr>
      </p:sp>
      <p:sp>
        <p:nvSpPr>
          <p:cNvPr id="12" name="q-q3_l4-option-4">
            <a:extLst xmlns:a="http://schemas.openxmlformats.org/drawingml/2006/main">
              <a:ext uri="{FF2B5EF4-FFF2-40B4-BE49-F238E27FC236}">
                <a16:creationId xmlns:a16="http://schemas.microsoft.com/office/drawing/2014/main" id="{1D24B983-758B-49E7-8B98-06E9FFEF57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5075" y="3143250"/>
            <a:ext cx="50577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④  서점</a:t>
            </a:r>
          </a:p>
        </p:txBody>
      </p:sp>
      <p:sp>
        <p:nvSpPr>
          <p:cNvPr id="13" name="footer-brand">
            <a:extLst xmlns:a="http://schemas.openxmlformats.org/drawingml/2006/main">
              <a:ext uri="{FF2B5EF4-FFF2-40B4-BE49-F238E27FC236}">
                <a16:creationId xmlns:a16="http://schemas.microsoft.com/office/drawing/2014/main" id="{35BA2E5D-8BA3-4B00-85E2-ADBFF20D2C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96050"/>
            <a:ext cx="3238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050">
                <a:solidFill>
                  <a:srgbClr val="94A3B8"/>
                </a:solidFill>
              </a:defRPr>
            </a:pPr>
            <a:r>
              <a:rPr sz="1050">
                <a:solidFill>
                  <a:srgbClr val="94A3B8"/>
                </a:solidFill>
              </a:rPr>
              <a:t>TOPIK-Edu Smart Academy</a:t>
            </a:r>
          </a:p>
        </p:txBody>
      </p:sp>
      <p:sp>
        <p:nvSpPr>
          <p:cNvPr id="14" name="footer-page">
            <a:extLst xmlns:a="http://schemas.openxmlformats.org/drawingml/2006/main">
              <a:ext uri="{FF2B5EF4-FFF2-40B4-BE49-F238E27FC236}">
                <a16:creationId xmlns:a16="http://schemas.microsoft.com/office/drawing/2014/main" id="{B6B096E8-8781-4CB4-A145-50B724E368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6496050"/>
            <a:ext cx="2171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buNone/>
              <a:defRPr sz="1050">
                <a:solidFill>
                  <a:srgbClr val="94A3B8"/>
                </a:solidFill>
              </a:defRPr>
            </a:pPr>
            <a:r>
              <a:rPr sz="1050">
                <a:solidFill>
                  <a:srgbClr val="94A3B8"/>
                </a:solidFill>
              </a:rPr>
              <a:t>3회차 · 9/13</a:t>
            </a:r>
          </a:p>
        </p:txBody>
      </p:sp>
    </p:spTree>
    <p:extLst>
      <p:ext uri="{BB962C8B-B14F-4D97-AF65-F5344CB8AC3E}">
        <p14:creationId xmlns:p14="http://schemas.microsoft.com/office/powerpoint/2010/main" val="747760781"/>
      </p:ext>
    </p:extLst>
  </p:cSld>
</p:sld>
</file>

<file path=ppt/slides/slide47.xml><?xml version="1.0" encoding="utf-8"?>
<p:sld xmlns:p="http://schemas.openxmlformats.org/presentationml/2006/main">
  <p:cSld>
    <p:bg>
      <p:bgPr>
        <a:solidFill xmlns:a="http://schemas.openxmlformats.org/drawingml/2006/main">
          <a:srgbClr val="0F17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F433C8B-6E56-4B26-83FF-6F906EDE6F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228600"/>
            <a:ext cx="11468100" cy="6191250"/>
          </a:xfrm>
          <a:prstGeom xmlns:a="http://schemas.openxmlformats.org/drawingml/2006/main" prst="roundRect">
            <a:avLst>
              <a:gd name="adj" fmla="val 1846"/>
            </a:avLst>
          </a:prstGeom>
          <a:solidFill xmlns:a="http://schemas.openxmlformats.org/drawingml/2006/main">
            <a:srgbClr val="1E293B"/>
          </a:solidFill>
          <a:ln xmlns:a="http://schemas.openxmlformats.org/drawingml/2006/main" w="9525">
            <a:solidFill>
              <a:srgbClr val="334155"/>
            </a:solidFill>
            <a:prstDash val="solid"/>
          </a:ln>
        </p:spPr>
      </p:sp>
      <p:sp>
        <p:nvSpPr>
          <p:cNvPr id="2" name="q-q3_l5-number">
            <a:extLst xmlns:a="http://schemas.openxmlformats.org/drawingml/2006/main">
              <a:ext uri="{FF2B5EF4-FFF2-40B4-BE49-F238E27FC236}">
                <a16:creationId xmlns:a16="http://schemas.microsoft.com/office/drawing/2014/main" id="{27CB484F-6F06-41BA-9AA2-B76B191F1E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00050"/>
            <a:ext cx="1714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C7D2FE"/>
                </a:solidFill>
              </a:defRPr>
            </a:pPr>
            <a:r>
              <a:rPr sz="1350" b="1">
                <a:solidFill>
                  <a:srgbClr val="C7D2FE"/>
                </a:solidFill>
              </a:rPr>
              <a:t>문제 10</a:t>
            </a:r>
          </a:p>
        </p:txBody>
      </p:sp>
      <p:sp>
        <p:nvSpPr>
          <p:cNvPr id="3" name="q-q3_l5-category">
            <a:extLst xmlns:a="http://schemas.openxmlformats.org/drawingml/2006/main">
              <a:ext uri="{FF2B5EF4-FFF2-40B4-BE49-F238E27FC236}">
                <a16:creationId xmlns:a16="http://schemas.microsoft.com/office/drawing/2014/main" id="{3B219DEB-399F-49B0-9906-E83D4E1B78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400050"/>
            <a:ext cx="3524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buNone/>
              <a:defRPr sz="1275" b="1">
                <a:solidFill>
                  <a:srgbClr val="5EEAD4"/>
                </a:solidFill>
              </a:defRPr>
            </a:pPr>
            <a:r>
              <a:rPr sz="1275" b="1">
                <a:solidFill>
                  <a:srgbClr val="5EEAD4"/>
                </a:solidFill>
              </a:rPr>
              <a:t>듣기 (Listening) 추가 기출</a:t>
            </a:r>
          </a:p>
        </p:txBody>
      </p:sp>
      <p:sp>
        <p:nvSpPr>
          <p:cNvPr id="4" name="q-q3_l5-text">
            <a:extLst xmlns:a="http://schemas.openxmlformats.org/drawingml/2006/main">
              <a:ext uri="{FF2B5EF4-FFF2-40B4-BE49-F238E27FC236}">
                <a16:creationId xmlns:a16="http://schemas.microsoft.com/office/drawing/2014/main" id="{C4A2501F-0A9A-48BE-A6F0-18FBF52287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38200"/>
            <a:ext cx="109347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buNone/>
              <a:defRPr sz="2625" b="1">
                <a:solidFill>
                  <a:srgbClr val="FFFFFF"/>
                </a:solidFill>
              </a:defRPr>
            </a:pPr>
            <a:r>
              <a:rPr sz="2625" b="1">
                <a:solidFill>
                  <a:srgbClr val="FFFFFF"/>
                </a:solidFill>
              </a:rPr>
              <a:t>다음을 듣고 대화 내용과 일치하는 것(같은 내용)을 고르십시오.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70CF9DD-3515-4E43-BE5B-FC63D7C994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09800"/>
            <a:ext cx="5400675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475569"/>
            </a:solidFill>
            <a:prstDash val="solid"/>
          </a:ln>
        </p:spPr>
      </p:sp>
      <p:sp>
        <p:nvSpPr>
          <p:cNvPr id="6" name="q-q3_l5-option-1">
            <a:extLst xmlns:a="http://schemas.openxmlformats.org/drawingml/2006/main">
              <a:ext uri="{FF2B5EF4-FFF2-40B4-BE49-F238E27FC236}">
                <a16:creationId xmlns:a16="http://schemas.microsoft.com/office/drawing/2014/main" id="{3B9BF900-2C97-422A-96AD-98D69C9896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266950"/>
            <a:ext cx="50577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①  두 사람은 내일 등산을 강행할 것입니다.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39DC484-B41F-4C09-BD24-45A3CB74AF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2209800"/>
            <a:ext cx="5400675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475569"/>
            </a:solidFill>
            <a:prstDash val="solid"/>
          </a:ln>
        </p:spPr>
      </p:sp>
      <p:sp>
        <p:nvSpPr>
          <p:cNvPr id="8" name="q-q3_l5-option-2">
            <a:extLst xmlns:a="http://schemas.openxmlformats.org/drawingml/2006/main">
              <a:ext uri="{FF2B5EF4-FFF2-40B4-BE49-F238E27FC236}">
                <a16:creationId xmlns:a16="http://schemas.microsoft.com/office/drawing/2014/main" id="{C230DA14-AD88-4E2E-B72C-06DF86D1CE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5075" y="2266950"/>
            <a:ext cx="50577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②  비가 오면 미술관에 가기로 약속을 변경합니다.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295E420-CA8A-4627-A408-EB0FC404A7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86100"/>
            <a:ext cx="5400675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475569"/>
            </a:solidFill>
            <a:prstDash val="solid"/>
          </a:ln>
        </p:spPr>
      </p:sp>
      <p:sp>
        <p:nvSpPr>
          <p:cNvPr id="10" name="q-q3_l5-option-3">
            <a:extLst xmlns:a="http://schemas.openxmlformats.org/drawingml/2006/main">
              <a:ext uri="{FF2B5EF4-FFF2-40B4-BE49-F238E27FC236}">
                <a16:creationId xmlns:a16="http://schemas.microsoft.com/office/drawing/2014/main" id="{DBB0AEE5-A047-465A-A779-4D7D6B428B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143250"/>
            <a:ext cx="50577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③  두 사람은 내일 도서관에서 만나기로 약속했습니다.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06A867C-42BC-4A68-94B5-5E21BC2D42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3086100"/>
            <a:ext cx="5400675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475569"/>
            </a:solidFill>
            <a:prstDash val="solid"/>
          </a:ln>
        </p:spPr>
      </p:sp>
      <p:sp>
        <p:nvSpPr>
          <p:cNvPr id="12" name="q-q3_l5-option-4">
            <a:extLst xmlns:a="http://schemas.openxmlformats.org/drawingml/2006/main">
              <a:ext uri="{FF2B5EF4-FFF2-40B4-BE49-F238E27FC236}">
                <a16:creationId xmlns:a16="http://schemas.microsoft.com/office/drawing/2014/main" id="{5C930F70-0433-4885-84DD-2ABE92E517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5075" y="3143250"/>
            <a:ext cx="50577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④  남자는 내일 비가 오지 않기를 간절히 바라고 있습니다.</a:t>
            </a:r>
          </a:p>
        </p:txBody>
      </p:sp>
      <p:sp>
        <p:nvSpPr>
          <p:cNvPr id="13" name="footer-brand">
            <a:extLst xmlns:a="http://schemas.openxmlformats.org/drawingml/2006/main">
              <a:ext uri="{FF2B5EF4-FFF2-40B4-BE49-F238E27FC236}">
                <a16:creationId xmlns:a16="http://schemas.microsoft.com/office/drawing/2014/main" id="{8565530E-BAD4-45D4-866F-40852FD713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96050"/>
            <a:ext cx="3238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050">
                <a:solidFill>
                  <a:srgbClr val="94A3B8"/>
                </a:solidFill>
              </a:defRPr>
            </a:pPr>
            <a:r>
              <a:rPr sz="1050">
                <a:solidFill>
                  <a:srgbClr val="94A3B8"/>
                </a:solidFill>
              </a:rPr>
              <a:t>TOPIK-Edu Smart Academy</a:t>
            </a:r>
          </a:p>
        </p:txBody>
      </p:sp>
      <p:sp>
        <p:nvSpPr>
          <p:cNvPr id="14" name="footer-page">
            <a:extLst xmlns:a="http://schemas.openxmlformats.org/drawingml/2006/main">
              <a:ext uri="{FF2B5EF4-FFF2-40B4-BE49-F238E27FC236}">
                <a16:creationId xmlns:a16="http://schemas.microsoft.com/office/drawing/2014/main" id="{B700DD78-3A3C-4958-893E-DE88BC4ED8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6496050"/>
            <a:ext cx="2171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buNone/>
              <a:defRPr sz="1050">
                <a:solidFill>
                  <a:srgbClr val="94A3B8"/>
                </a:solidFill>
              </a:defRPr>
            </a:pPr>
            <a:r>
              <a:rPr sz="1050">
                <a:solidFill>
                  <a:srgbClr val="94A3B8"/>
                </a:solidFill>
              </a:rPr>
              <a:t>3회차 · 10/13</a:t>
            </a:r>
          </a:p>
        </p:txBody>
      </p:sp>
    </p:spTree>
    <p:extLst>
      <p:ext uri="{BB962C8B-B14F-4D97-AF65-F5344CB8AC3E}">
        <p14:creationId xmlns:p14="http://schemas.microsoft.com/office/powerpoint/2010/main" val="1810943773"/>
      </p:ext>
    </p:extLst>
  </p:cSld>
</p:sld>
</file>

<file path=ppt/slides/slide48.xml><?xml version="1.0" encoding="utf-8"?>
<p:sld xmlns:p="http://schemas.openxmlformats.org/presentationml/2006/main">
  <p:cSld>
    <p:bg>
      <p:bgPr>
        <a:solidFill xmlns:a="http://schemas.openxmlformats.org/drawingml/2006/main">
          <a:srgbClr val="0F17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077A874-EDBC-48B6-86AB-193394944E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228600"/>
            <a:ext cx="11468100" cy="6191250"/>
          </a:xfrm>
          <a:prstGeom xmlns:a="http://schemas.openxmlformats.org/drawingml/2006/main" prst="roundRect">
            <a:avLst>
              <a:gd name="adj" fmla="val 1846"/>
            </a:avLst>
          </a:prstGeom>
          <a:solidFill xmlns:a="http://schemas.openxmlformats.org/drawingml/2006/main">
            <a:srgbClr val="1E293B"/>
          </a:solidFill>
          <a:ln xmlns:a="http://schemas.openxmlformats.org/drawingml/2006/main" w="9525">
            <a:solidFill>
              <a:srgbClr val="334155"/>
            </a:solidFill>
            <a:prstDash val="solid"/>
          </a:ln>
        </p:spPr>
      </p:sp>
      <p:sp>
        <p:nvSpPr>
          <p:cNvPr id="2" name="q-q3_r6-number">
            <a:extLst xmlns:a="http://schemas.openxmlformats.org/drawingml/2006/main">
              <a:ext uri="{FF2B5EF4-FFF2-40B4-BE49-F238E27FC236}">
                <a16:creationId xmlns:a16="http://schemas.microsoft.com/office/drawing/2014/main" id="{9BAC9A37-9A9B-4D40-9375-F57515400F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00050"/>
            <a:ext cx="1714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C7D2FE"/>
                </a:solidFill>
              </a:defRPr>
            </a:pPr>
            <a:r>
              <a:rPr sz="1350" b="1">
                <a:solidFill>
                  <a:srgbClr val="C7D2FE"/>
                </a:solidFill>
              </a:rPr>
              <a:t>문제 11</a:t>
            </a:r>
          </a:p>
        </p:txBody>
      </p:sp>
      <p:sp>
        <p:nvSpPr>
          <p:cNvPr id="3" name="q-q3_r6-category">
            <a:extLst xmlns:a="http://schemas.openxmlformats.org/drawingml/2006/main">
              <a:ext uri="{FF2B5EF4-FFF2-40B4-BE49-F238E27FC236}">
                <a16:creationId xmlns:a16="http://schemas.microsoft.com/office/drawing/2014/main" id="{6C530A58-690D-4C4C-BE81-EE7FFB5197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400050"/>
            <a:ext cx="3524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buNone/>
              <a:defRPr sz="1275" b="1">
                <a:solidFill>
                  <a:srgbClr val="5EEAD4"/>
                </a:solidFill>
              </a:defRPr>
            </a:pPr>
            <a:r>
              <a:rPr sz="1275" b="1">
                <a:solidFill>
                  <a:srgbClr val="5EEAD4"/>
                </a:solidFill>
              </a:rPr>
              <a:t>읽기 (Reading) 추가 실전</a:t>
            </a:r>
          </a:p>
        </p:txBody>
      </p:sp>
      <p:sp>
        <p:nvSpPr>
          <p:cNvPr id="4" name="q-q3_r6-text">
            <a:extLst xmlns:a="http://schemas.openxmlformats.org/drawingml/2006/main">
              <a:ext uri="{FF2B5EF4-FFF2-40B4-BE49-F238E27FC236}">
                <a16:creationId xmlns:a16="http://schemas.microsoft.com/office/drawing/2014/main" id="{37CD0099-F9BF-4001-901E-ED8ABDB78B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38200"/>
            <a:ext cx="109347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buNone/>
              <a:defRPr sz="2625" b="1">
                <a:solidFill>
                  <a:srgbClr val="FFFFFF"/>
                </a:solidFill>
              </a:defRPr>
            </a:pPr>
            <a:r>
              <a:rPr sz="2625" b="1">
                <a:solidFill>
                  <a:srgbClr val="FFFFFF"/>
                </a:solidFill>
              </a:rPr>
              <a:t>다음 일정표의 내용과 같은 것을 고르십시오.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ABCA6C7-9878-4003-92F4-2D126D6E83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19250"/>
            <a:ext cx="10934700" cy="1381125"/>
          </a:xfrm>
          <a:prstGeom xmlns:a="http://schemas.openxmlformats.org/drawingml/2006/main" prst="roundRect">
            <a:avLst>
              <a:gd name="adj" fmla="val 8276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475569"/>
            </a:solidFill>
            <a:prstDash val="solid"/>
          </a:ln>
        </p:spPr>
      </p:sp>
      <p:sp>
        <p:nvSpPr>
          <p:cNvPr id="6" name="q-q3_r6-passage">
            <a:extLst xmlns:a="http://schemas.openxmlformats.org/drawingml/2006/main">
              <a:ext uri="{FF2B5EF4-FFF2-40B4-BE49-F238E27FC236}">
                <a16:creationId xmlns:a16="http://schemas.microsoft.com/office/drawing/2014/main" id="{FE82500B-7F86-4331-9C54-932AEF39B0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733550"/>
            <a:ext cx="10553700" cy="1152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buNone/>
              <a:defRPr sz="1875">
                <a:solidFill>
                  <a:srgbClr val="FFFFFF"/>
                </a:solidFill>
              </a:defRPr>
            </a:pPr>
            <a:r>
              <a:rPr sz="1875">
                <a:solidFill>
                  <a:srgbClr val="FFFFFF"/>
                </a:solidFill>
              </a:rPr>
              <a:t>[토요일 계획]</a:t>
            </a:r>
          </a:p>
          <a:p xmlns:a="http://schemas.openxmlformats.org/drawingml/2006/main">
            <a:pPr>
              <a:buNone/>
              <a:defRPr sz="1875">
                <a:solidFill>
                  <a:srgbClr val="FFFFFF"/>
                </a:solidFill>
              </a:defRPr>
            </a:pPr>
            <a:r>
              <a:rPr sz="1875">
                <a:solidFill>
                  <a:srgbClr val="FFFFFF"/>
                </a:solidFill>
              </a:rPr>
              <a:t>오전 10시: 병원</a:t>
            </a:r>
          </a:p>
          <a:p xmlns:a="http://schemas.openxmlformats.org/drawingml/2006/main">
            <a:pPr>
              <a:buNone/>
              <a:defRPr sz="1875">
                <a:solidFill>
                  <a:srgbClr val="FFFFFF"/>
                </a:solidFill>
              </a:defRPr>
            </a:pPr>
            <a:r>
              <a:rPr sz="1875">
                <a:solidFill>
                  <a:srgbClr val="FFFFFF"/>
                </a:solidFill>
              </a:rPr>
              <a:t>오후 1시: 점심 약속</a:t>
            </a:r>
          </a:p>
          <a:p xmlns:a="http://schemas.openxmlformats.org/drawingml/2006/main">
            <a:pPr>
              <a:buNone/>
              <a:defRPr sz="1875">
                <a:solidFill>
                  <a:srgbClr val="FFFFFF"/>
                </a:solidFill>
              </a:defRPr>
            </a:pPr>
            <a:r>
              <a:rPr sz="1875">
                <a:solidFill>
                  <a:srgbClr val="FFFFFF"/>
                </a:solidFill>
              </a:rPr>
              <a:t>오후 4시: 도서관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7A5A5AE-F256-46AB-AF97-2EA4F2B31B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19450"/>
            <a:ext cx="5400675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475569"/>
            </a:solidFill>
            <a:prstDash val="solid"/>
          </a:ln>
        </p:spPr>
      </p:sp>
      <p:sp>
        <p:nvSpPr>
          <p:cNvPr id="8" name="q-q3_r6-option-1">
            <a:extLst xmlns:a="http://schemas.openxmlformats.org/drawingml/2006/main">
              <a:ext uri="{FF2B5EF4-FFF2-40B4-BE49-F238E27FC236}">
                <a16:creationId xmlns:a16="http://schemas.microsoft.com/office/drawing/2014/main" id="{6ECC2D25-9F4C-481F-AD89-FE6C8794C0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276600"/>
            <a:ext cx="50577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①  아침에 도서관에 갑니다.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8A1857D-523F-4C13-8E5F-1858C1A5EF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3219450"/>
            <a:ext cx="5400675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475569"/>
            </a:solidFill>
            <a:prstDash val="solid"/>
          </a:ln>
        </p:spPr>
      </p:sp>
      <p:sp>
        <p:nvSpPr>
          <p:cNvPr id="10" name="q-q3_r6-option-2">
            <a:extLst xmlns:a="http://schemas.openxmlformats.org/drawingml/2006/main">
              <a:ext uri="{FF2B5EF4-FFF2-40B4-BE49-F238E27FC236}">
                <a16:creationId xmlns:a16="http://schemas.microsoft.com/office/drawing/2014/main" id="{E9E8F168-B4FA-498D-ADD9-4854D2FD3E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5075" y="3276600"/>
            <a:ext cx="50577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②  점심을 먹은 후 병원에 갑니다.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E571B04-1797-4105-BE98-4F9087FA98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95750"/>
            <a:ext cx="5400675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475569"/>
            </a:solidFill>
            <a:prstDash val="solid"/>
          </a:ln>
        </p:spPr>
      </p:sp>
      <p:sp>
        <p:nvSpPr>
          <p:cNvPr id="12" name="q-q3_r6-option-3">
            <a:extLst xmlns:a="http://schemas.openxmlformats.org/drawingml/2006/main">
              <a:ext uri="{FF2B5EF4-FFF2-40B4-BE49-F238E27FC236}">
                <a16:creationId xmlns:a16="http://schemas.microsoft.com/office/drawing/2014/main" id="{B5B073E5-D387-4E10-9FCC-85E9EAD13A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152900"/>
            <a:ext cx="50577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③  오후 네 시에 도서관에 갑니다.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0B30F78-5D6B-4452-984F-FE85C8DFE7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4095750"/>
            <a:ext cx="5400675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475569"/>
            </a:solidFill>
            <a:prstDash val="solid"/>
          </a:ln>
        </p:spPr>
      </p:sp>
      <p:sp>
        <p:nvSpPr>
          <p:cNvPr id="14" name="q-q3_r6-option-4">
            <a:extLst xmlns:a="http://schemas.openxmlformats.org/drawingml/2006/main">
              <a:ext uri="{FF2B5EF4-FFF2-40B4-BE49-F238E27FC236}">
                <a16:creationId xmlns:a16="http://schemas.microsoft.com/office/drawing/2014/main" id="{C55A2653-BB88-4B1F-BC39-4C23B55570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5075" y="4152900"/>
            <a:ext cx="50577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④  토요일에는 약속이 없습니다.</a:t>
            </a:r>
          </a:p>
        </p:txBody>
      </p:sp>
      <p:sp>
        <p:nvSpPr>
          <p:cNvPr id="15" name="footer-brand">
            <a:extLst xmlns:a="http://schemas.openxmlformats.org/drawingml/2006/main">
              <a:ext uri="{FF2B5EF4-FFF2-40B4-BE49-F238E27FC236}">
                <a16:creationId xmlns:a16="http://schemas.microsoft.com/office/drawing/2014/main" id="{A8F60B49-C5DD-4E8E-9869-87A8F94E05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96050"/>
            <a:ext cx="3238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050">
                <a:solidFill>
                  <a:srgbClr val="94A3B8"/>
                </a:solidFill>
              </a:defRPr>
            </a:pPr>
            <a:r>
              <a:rPr sz="1050">
                <a:solidFill>
                  <a:srgbClr val="94A3B8"/>
                </a:solidFill>
              </a:rPr>
              <a:t>TOPIK-Edu Smart Academy</a:t>
            </a:r>
          </a:p>
        </p:txBody>
      </p:sp>
      <p:sp>
        <p:nvSpPr>
          <p:cNvPr id="16" name="footer-page">
            <a:extLst xmlns:a="http://schemas.openxmlformats.org/drawingml/2006/main">
              <a:ext uri="{FF2B5EF4-FFF2-40B4-BE49-F238E27FC236}">
                <a16:creationId xmlns:a16="http://schemas.microsoft.com/office/drawing/2014/main" id="{B5864C20-CCF8-4CD9-BA04-2C744054D4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6496050"/>
            <a:ext cx="2171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buNone/>
              <a:defRPr sz="1050">
                <a:solidFill>
                  <a:srgbClr val="94A3B8"/>
                </a:solidFill>
              </a:defRPr>
            </a:pPr>
            <a:r>
              <a:rPr sz="1050">
                <a:solidFill>
                  <a:srgbClr val="94A3B8"/>
                </a:solidFill>
              </a:rPr>
              <a:t>3회차 · 11/13</a:t>
            </a:r>
          </a:p>
        </p:txBody>
      </p:sp>
    </p:spTree>
    <p:extLst>
      <p:ext uri="{BB962C8B-B14F-4D97-AF65-F5344CB8AC3E}">
        <p14:creationId xmlns:p14="http://schemas.microsoft.com/office/powerpoint/2010/main" val="358416036"/>
      </p:ext>
    </p:extLst>
  </p:cSld>
</p:sld>
</file>

<file path=ppt/slides/slide49.xml><?xml version="1.0" encoding="utf-8"?>
<p:sld xmlns:p="http://schemas.openxmlformats.org/presentationml/2006/main">
  <p:cSld>
    <p:bg>
      <p:bgPr>
        <a:solidFill xmlns:a="http://schemas.openxmlformats.org/drawingml/2006/main">
          <a:srgbClr val="0F17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DB901B7-D912-45EE-A581-BC647DFBBB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228600"/>
            <a:ext cx="11468100" cy="6191250"/>
          </a:xfrm>
          <a:prstGeom xmlns:a="http://schemas.openxmlformats.org/drawingml/2006/main" prst="roundRect">
            <a:avLst>
              <a:gd name="adj" fmla="val 1846"/>
            </a:avLst>
          </a:prstGeom>
          <a:solidFill xmlns:a="http://schemas.openxmlformats.org/drawingml/2006/main">
            <a:srgbClr val="1E293B"/>
          </a:solidFill>
          <a:ln xmlns:a="http://schemas.openxmlformats.org/drawingml/2006/main" w="9525">
            <a:solidFill>
              <a:srgbClr val="334155"/>
            </a:solidFill>
            <a:prstDash val="solid"/>
          </a:ln>
        </p:spPr>
      </p:sp>
      <p:sp>
        <p:nvSpPr>
          <p:cNvPr id="2" name="q-q3_l6-number">
            <a:extLst xmlns:a="http://schemas.openxmlformats.org/drawingml/2006/main">
              <a:ext uri="{FF2B5EF4-FFF2-40B4-BE49-F238E27FC236}">
                <a16:creationId xmlns:a16="http://schemas.microsoft.com/office/drawing/2014/main" id="{BFF89FE2-BB6B-4034-A31D-E9B4FB14C0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00050"/>
            <a:ext cx="1714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C7D2FE"/>
                </a:solidFill>
              </a:defRPr>
            </a:pPr>
            <a:r>
              <a:rPr sz="1350" b="1">
                <a:solidFill>
                  <a:srgbClr val="C7D2FE"/>
                </a:solidFill>
              </a:rPr>
              <a:t>문제 12</a:t>
            </a:r>
          </a:p>
        </p:txBody>
      </p:sp>
      <p:sp>
        <p:nvSpPr>
          <p:cNvPr id="3" name="q-q3_l6-category">
            <a:extLst xmlns:a="http://schemas.openxmlformats.org/drawingml/2006/main">
              <a:ext uri="{FF2B5EF4-FFF2-40B4-BE49-F238E27FC236}">
                <a16:creationId xmlns:a16="http://schemas.microsoft.com/office/drawing/2014/main" id="{FE8F1D1D-2501-4EB5-960E-9896BA3CFF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400050"/>
            <a:ext cx="3524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buNone/>
              <a:defRPr sz="1275" b="1">
                <a:solidFill>
                  <a:srgbClr val="5EEAD4"/>
                </a:solidFill>
              </a:defRPr>
            </a:pPr>
            <a:r>
              <a:rPr sz="1275" b="1">
                <a:solidFill>
                  <a:srgbClr val="5EEAD4"/>
                </a:solidFill>
              </a:rPr>
              <a:t>듣기 (Listening) 추가 실전</a:t>
            </a:r>
          </a:p>
        </p:txBody>
      </p:sp>
      <p:sp>
        <p:nvSpPr>
          <p:cNvPr id="4" name="q-q3_l6-text">
            <a:extLst xmlns:a="http://schemas.openxmlformats.org/drawingml/2006/main">
              <a:ext uri="{FF2B5EF4-FFF2-40B4-BE49-F238E27FC236}">
                <a16:creationId xmlns:a16="http://schemas.microsoft.com/office/drawing/2014/main" id="{23539D50-5E66-4D03-A8FE-8A714B7026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38200"/>
            <a:ext cx="109347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buNone/>
              <a:defRPr sz="2625" b="1">
                <a:solidFill>
                  <a:srgbClr val="FFFFFF"/>
                </a:solidFill>
              </a:defRPr>
            </a:pPr>
            <a:r>
              <a:rPr sz="2625" b="1">
                <a:solidFill>
                  <a:srgbClr val="FFFFFF"/>
                </a:solidFill>
              </a:rPr>
              <a:t>다음을 듣고 남자의 내일 계획을 고르십시오.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5268F5A-DCBC-4806-8940-4628CFC306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09800"/>
            <a:ext cx="5400675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475569"/>
            </a:solidFill>
            <a:prstDash val="solid"/>
          </a:ln>
        </p:spPr>
      </p:sp>
      <p:sp>
        <p:nvSpPr>
          <p:cNvPr id="6" name="q-q3_l6-option-1">
            <a:extLst xmlns:a="http://schemas.openxmlformats.org/drawingml/2006/main">
              <a:ext uri="{FF2B5EF4-FFF2-40B4-BE49-F238E27FC236}">
                <a16:creationId xmlns:a16="http://schemas.microsoft.com/office/drawing/2014/main" id="{535288DB-A3D1-447E-9EE3-382C1BEB54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266950"/>
            <a:ext cx="50577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①  회사에서 야근합니다.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093920F-407D-4E37-AD28-80D1CF226E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2209800"/>
            <a:ext cx="5400675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475569"/>
            </a:solidFill>
            <a:prstDash val="solid"/>
          </a:ln>
        </p:spPr>
      </p:sp>
      <p:sp>
        <p:nvSpPr>
          <p:cNvPr id="8" name="q-q3_l6-option-2">
            <a:extLst xmlns:a="http://schemas.openxmlformats.org/drawingml/2006/main">
              <a:ext uri="{FF2B5EF4-FFF2-40B4-BE49-F238E27FC236}">
                <a16:creationId xmlns:a16="http://schemas.microsoft.com/office/drawing/2014/main" id="{17335609-FB16-44A1-8CBB-A80560F2D1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5075" y="2266950"/>
            <a:ext cx="50577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②  친구와 저녁을 먹습니다.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A237B4A-DE66-443C-A6CF-4ADB70E583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86100"/>
            <a:ext cx="5400675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475569"/>
            </a:solidFill>
            <a:prstDash val="solid"/>
          </a:ln>
        </p:spPr>
      </p:sp>
      <p:sp>
        <p:nvSpPr>
          <p:cNvPr id="10" name="q-q3_l6-option-3">
            <a:extLst xmlns:a="http://schemas.openxmlformats.org/drawingml/2006/main">
              <a:ext uri="{FF2B5EF4-FFF2-40B4-BE49-F238E27FC236}">
                <a16:creationId xmlns:a16="http://schemas.microsoft.com/office/drawing/2014/main" id="{D034E83A-7E21-4914-93AE-B089043F7F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143250"/>
            <a:ext cx="50577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③  집에서 혼자 쉽니다.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7898EEA-80B6-4D89-A720-015BC88DF9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3086100"/>
            <a:ext cx="5400675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475569"/>
            </a:solidFill>
            <a:prstDash val="solid"/>
          </a:ln>
        </p:spPr>
      </p:sp>
      <p:sp>
        <p:nvSpPr>
          <p:cNvPr id="12" name="q-q3_l6-option-4">
            <a:extLst xmlns:a="http://schemas.openxmlformats.org/drawingml/2006/main">
              <a:ext uri="{FF2B5EF4-FFF2-40B4-BE49-F238E27FC236}">
                <a16:creationId xmlns:a16="http://schemas.microsoft.com/office/drawing/2014/main" id="{A45EB183-F79A-47C7-997A-3A371B570C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5075" y="3143250"/>
            <a:ext cx="50577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④  친구에게 책을 빌립니다.</a:t>
            </a:r>
          </a:p>
        </p:txBody>
      </p:sp>
      <p:sp>
        <p:nvSpPr>
          <p:cNvPr id="13" name="footer-brand">
            <a:extLst xmlns:a="http://schemas.openxmlformats.org/drawingml/2006/main">
              <a:ext uri="{FF2B5EF4-FFF2-40B4-BE49-F238E27FC236}">
                <a16:creationId xmlns:a16="http://schemas.microsoft.com/office/drawing/2014/main" id="{98ED759C-CED8-4AA6-B98C-CF112D1C14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96050"/>
            <a:ext cx="3238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050">
                <a:solidFill>
                  <a:srgbClr val="94A3B8"/>
                </a:solidFill>
              </a:defRPr>
            </a:pPr>
            <a:r>
              <a:rPr sz="1050">
                <a:solidFill>
                  <a:srgbClr val="94A3B8"/>
                </a:solidFill>
              </a:rPr>
              <a:t>TOPIK-Edu Smart Academy</a:t>
            </a:r>
          </a:p>
        </p:txBody>
      </p:sp>
      <p:sp>
        <p:nvSpPr>
          <p:cNvPr id="14" name="footer-page">
            <a:extLst xmlns:a="http://schemas.openxmlformats.org/drawingml/2006/main">
              <a:ext uri="{FF2B5EF4-FFF2-40B4-BE49-F238E27FC236}">
                <a16:creationId xmlns:a16="http://schemas.microsoft.com/office/drawing/2014/main" id="{30E985F2-7FAA-48BB-A635-E7C0AC1951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6496050"/>
            <a:ext cx="2171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buNone/>
              <a:defRPr sz="1050">
                <a:solidFill>
                  <a:srgbClr val="94A3B8"/>
                </a:solidFill>
              </a:defRPr>
            </a:pPr>
            <a:r>
              <a:rPr sz="1050">
                <a:solidFill>
                  <a:srgbClr val="94A3B8"/>
                </a:solidFill>
              </a:rPr>
              <a:t>3회차 · 12/13</a:t>
            </a:r>
          </a:p>
        </p:txBody>
      </p:sp>
    </p:spTree>
    <p:extLst>
      <p:ext uri="{BB962C8B-B14F-4D97-AF65-F5344CB8AC3E}">
        <p14:creationId xmlns:p14="http://schemas.microsoft.com/office/powerpoint/2010/main" val="1159900534"/>
      </p:ext>
    </p:extLst>
  </p:cSld>
</p:sld>
</file>

<file path=ppt/slides/slide50.xml><?xml version="1.0" encoding="utf-8"?>
<p:sld xmlns:p="http://schemas.openxmlformats.org/presentationml/2006/main">
  <p:cSld>
    <p:bg>
      <p:bgPr>
        <a:solidFill xmlns:a="http://schemas.openxmlformats.org/drawingml/2006/main">
          <a:srgbClr val="0F17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E9F19AE-4AC0-433F-9711-45B9B1C97C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228600"/>
            <a:ext cx="11468100" cy="6191250"/>
          </a:xfrm>
          <a:prstGeom xmlns:a="http://schemas.openxmlformats.org/drawingml/2006/main" prst="roundRect">
            <a:avLst>
              <a:gd name="adj" fmla="val 1846"/>
            </a:avLst>
          </a:prstGeom>
          <a:solidFill xmlns:a="http://schemas.openxmlformats.org/drawingml/2006/main">
            <a:srgbClr val="1E293B"/>
          </a:solidFill>
          <a:ln xmlns:a="http://schemas.openxmlformats.org/drawingml/2006/main" w="9525">
            <a:solidFill>
              <a:srgbClr val="334155"/>
            </a:solidFill>
            <a:prstDash val="solid"/>
          </a:ln>
        </p:spPr>
      </p:sp>
      <p:sp>
        <p:nvSpPr>
          <p:cNvPr id="2" name="q-q3_l7-number">
            <a:extLst xmlns:a="http://schemas.openxmlformats.org/drawingml/2006/main">
              <a:ext uri="{FF2B5EF4-FFF2-40B4-BE49-F238E27FC236}">
                <a16:creationId xmlns:a16="http://schemas.microsoft.com/office/drawing/2014/main" id="{471F8C33-9183-4349-B3A6-A5BFBDE666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00050"/>
            <a:ext cx="1714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C7D2FE"/>
                </a:solidFill>
              </a:defRPr>
            </a:pPr>
            <a:r>
              <a:rPr sz="1350" b="1">
                <a:solidFill>
                  <a:srgbClr val="C7D2FE"/>
                </a:solidFill>
              </a:rPr>
              <a:t>문제 13</a:t>
            </a:r>
          </a:p>
        </p:txBody>
      </p:sp>
      <p:sp>
        <p:nvSpPr>
          <p:cNvPr id="3" name="q-q3_l7-category">
            <a:extLst xmlns:a="http://schemas.openxmlformats.org/drawingml/2006/main">
              <a:ext uri="{FF2B5EF4-FFF2-40B4-BE49-F238E27FC236}">
                <a16:creationId xmlns:a16="http://schemas.microsoft.com/office/drawing/2014/main" id="{9989BE89-A9ED-4703-AD22-F228152AF3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400050"/>
            <a:ext cx="3524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buNone/>
              <a:defRPr sz="1275" b="1">
                <a:solidFill>
                  <a:srgbClr val="5EEAD4"/>
                </a:solidFill>
              </a:defRPr>
            </a:pPr>
            <a:r>
              <a:rPr sz="1275" b="1">
                <a:solidFill>
                  <a:srgbClr val="5EEAD4"/>
                </a:solidFill>
              </a:rPr>
              <a:t>듣기 (Listening) 추가 실전</a:t>
            </a:r>
          </a:p>
        </p:txBody>
      </p:sp>
      <p:sp>
        <p:nvSpPr>
          <p:cNvPr id="4" name="q-q3_l7-text">
            <a:extLst xmlns:a="http://schemas.openxmlformats.org/drawingml/2006/main">
              <a:ext uri="{FF2B5EF4-FFF2-40B4-BE49-F238E27FC236}">
                <a16:creationId xmlns:a16="http://schemas.microsoft.com/office/drawing/2014/main" id="{CFD375E9-B298-4C25-AFC9-9E86C1A855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38200"/>
            <a:ext cx="109347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buNone/>
              <a:defRPr sz="2625" b="1">
                <a:solidFill>
                  <a:srgbClr val="FFFFFF"/>
                </a:solidFill>
              </a:defRPr>
            </a:pPr>
            <a:r>
              <a:rPr sz="2625" b="1">
                <a:solidFill>
                  <a:srgbClr val="FFFFFF"/>
                </a:solidFill>
              </a:rPr>
              <a:t>다음을 듣고 두 사람이 약속을 바꾼 이유를 고르십시오.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B0719F8-1184-4373-B54C-3E3BCD0A6E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09800"/>
            <a:ext cx="5400675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475569"/>
            </a:solidFill>
            <a:prstDash val="solid"/>
          </a:ln>
        </p:spPr>
      </p:sp>
      <p:sp>
        <p:nvSpPr>
          <p:cNvPr id="6" name="q-q3_l7-option-1">
            <a:extLst xmlns:a="http://schemas.openxmlformats.org/drawingml/2006/main">
              <a:ext uri="{FF2B5EF4-FFF2-40B4-BE49-F238E27FC236}">
                <a16:creationId xmlns:a16="http://schemas.microsoft.com/office/drawing/2014/main" id="{2F22F796-AC40-49B2-9917-9A2A88FF25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266950"/>
            <a:ext cx="50577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①  여자가 아파서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42A4632-C9E6-4FFB-B07C-B661BCFA37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2209800"/>
            <a:ext cx="5400675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475569"/>
            </a:solidFill>
            <a:prstDash val="solid"/>
          </a:ln>
        </p:spPr>
      </p:sp>
      <p:sp>
        <p:nvSpPr>
          <p:cNvPr id="8" name="q-q3_l7-option-2">
            <a:extLst xmlns:a="http://schemas.openxmlformats.org/drawingml/2006/main">
              <a:ext uri="{FF2B5EF4-FFF2-40B4-BE49-F238E27FC236}">
                <a16:creationId xmlns:a16="http://schemas.microsoft.com/office/drawing/2014/main" id="{FDAC1987-845B-427F-84F3-F2836EB7F0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5075" y="2266950"/>
            <a:ext cx="50577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②  공원이 문을 닫아서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31692CB-2696-4D96-B32D-404F966D22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86100"/>
            <a:ext cx="5400675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475569"/>
            </a:solidFill>
            <a:prstDash val="solid"/>
          </a:ln>
        </p:spPr>
      </p:sp>
      <p:sp>
        <p:nvSpPr>
          <p:cNvPr id="10" name="q-q3_l7-option-3">
            <a:extLst xmlns:a="http://schemas.openxmlformats.org/drawingml/2006/main">
              <a:ext uri="{FF2B5EF4-FFF2-40B4-BE49-F238E27FC236}">
                <a16:creationId xmlns:a16="http://schemas.microsoft.com/office/drawing/2014/main" id="{4B415149-32CD-4E95-83DB-D5062F6E06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143250"/>
            <a:ext cx="50577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③  오전에 비가 와서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EECD0C1-6F64-4A08-9830-D86767CDAF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3086100"/>
            <a:ext cx="5400675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475569"/>
            </a:solidFill>
            <a:prstDash val="solid"/>
          </a:ln>
        </p:spPr>
      </p:sp>
      <p:sp>
        <p:nvSpPr>
          <p:cNvPr id="12" name="q-q3_l7-option-4">
            <a:extLst xmlns:a="http://schemas.openxmlformats.org/drawingml/2006/main">
              <a:ext uri="{FF2B5EF4-FFF2-40B4-BE49-F238E27FC236}">
                <a16:creationId xmlns:a16="http://schemas.microsoft.com/office/drawing/2014/main" id="{64426E72-A2D4-4350-9140-F76A9585A4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5075" y="3143250"/>
            <a:ext cx="50577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④  남자가 바빠서</a:t>
            </a:r>
          </a:p>
        </p:txBody>
      </p:sp>
      <p:sp>
        <p:nvSpPr>
          <p:cNvPr id="13" name="footer-brand">
            <a:extLst xmlns:a="http://schemas.openxmlformats.org/drawingml/2006/main">
              <a:ext uri="{FF2B5EF4-FFF2-40B4-BE49-F238E27FC236}">
                <a16:creationId xmlns:a16="http://schemas.microsoft.com/office/drawing/2014/main" id="{8705E3B5-8495-49A2-A436-A0C85E75FC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96050"/>
            <a:ext cx="3238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050">
                <a:solidFill>
                  <a:srgbClr val="94A3B8"/>
                </a:solidFill>
              </a:defRPr>
            </a:pPr>
            <a:r>
              <a:rPr sz="1050">
                <a:solidFill>
                  <a:srgbClr val="94A3B8"/>
                </a:solidFill>
              </a:rPr>
              <a:t>TOPIK-Edu Smart Academy</a:t>
            </a:r>
          </a:p>
        </p:txBody>
      </p:sp>
      <p:sp>
        <p:nvSpPr>
          <p:cNvPr id="14" name="footer-page">
            <a:extLst xmlns:a="http://schemas.openxmlformats.org/drawingml/2006/main">
              <a:ext uri="{FF2B5EF4-FFF2-40B4-BE49-F238E27FC236}">
                <a16:creationId xmlns:a16="http://schemas.microsoft.com/office/drawing/2014/main" id="{27B6828D-5743-4771-8EF6-CD3705A454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6496050"/>
            <a:ext cx="2171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buNone/>
              <a:defRPr sz="1050">
                <a:solidFill>
                  <a:srgbClr val="94A3B8"/>
                </a:solidFill>
              </a:defRPr>
            </a:pPr>
            <a:r>
              <a:rPr sz="1050">
                <a:solidFill>
                  <a:srgbClr val="94A3B8"/>
                </a:solidFill>
              </a:rPr>
              <a:t>3회차 · 13/13</a:t>
            </a:r>
          </a:p>
        </p:txBody>
      </p:sp>
    </p:spTree>
    <p:extLst>
      <p:ext uri="{BB962C8B-B14F-4D97-AF65-F5344CB8AC3E}">
        <p14:creationId xmlns:p14="http://schemas.microsoft.com/office/powerpoint/2010/main" val="151549032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2026-08-13T09:30:46.2460000Z</dcterms:created>
  <dcterms:modified xsi:type="dcterms:W3CDTF">2026-08-13T09:30:46.2460000Z</dcterms:modified>
</coreProperties>
</file>